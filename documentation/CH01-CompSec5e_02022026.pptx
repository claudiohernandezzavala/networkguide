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3" r:id="rId4"/>
    <p:sldMasterId id="2147483659" r:id="rId5"/>
  </p:sldMasterIdLst>
  <p:notesMasterIdLst>
    <p:notesMasterId r:id="rId54"/>
  </p:notesMasterIdLst>
  <p:handoutMasterIdLst>
    <p:handoutMasterId r:id="rId55"/>
  </p:handoutMasterIdLst>
  <p:sldIdLst>
    <p:sldId id="330" r:id="rId6"/>
    <p:sldId id="1035" r:id="rId7"/>
    <p:sldId id="1033" r:id="rId8"/>
    <p:sldId id="336" r:id="rId9"/>
    <p:sldId id="337" r:id="rId10"/>
    <p:sldId id="338" r:id="rId11"/>
    <p:sldId id="339" r:id="rId12"/>
    <p:sldId id="340" r:id="rId13"/>
    <p:sldId id="341" r:id="rId14"/>
    <p:sldId id="1036" r:id="rId15"/>
    <p:sldId id="342" r:id="rId16"/>
    <p:sldId id="343" r:id="rId17"/>
    <p:sldId id="344" r:id="rId18"/>
    <p:sldId id="345" r:id="rId19"/>
    <p:sldId id="346" r:id="rId20"/>
    <p:sldId id="347" r:id="rId21"/>
    <p:sldId id="348" r:id="rId22"/>
    <p:sldId id="1007" r:id="rId23"/>
    <p:sldId id="933" r:id="rId24"/>
    <p:sldId id="1013" r:id="rId25"/>
    <p:sldId id="349" r:id="rId26"/>
    <p:sldId id="350" r:id="rId27"/>
    <p:sldId id="351" r:id="rId28"/>
    <p:sldId id="352" r:id="rId29"/>
    <p:sldId id="353" r:id="rId30"/>
    <p:sldId id="354" r:id="rId31"/>
    <p:sldId id="355" r:id="rId32"/>
    <p:sldId id="356" r:id="rId33"/>
    <p:sldId id="357" r:id="rId34"/>
    <p:sldId id="358" r:id="rId35"/>
    <p:sldId id="359" r:id="rId36"/>
    <p:sldId id="361" r:id="rId37"/>
    <p:sldId id="1020" r:id="rId38"/>
    <p:sldId id="362" r:id="rId39"/>
    <p:sldId id="363" r:id="rId40"/>
    <p:sldId id="364" r:id="rId41"/>
    <p:sldId id="365" r:id="rId42"/>
    <p:sldId id="366" r:id="rId43"/>
    <p:sldId id="367" r:id="rId44"/>
    <p:sldId id="368" r:id="rId45"/>
    <p:sldId id="1028" r:id="rId46"/>
    <p:sldId id="1029" r:id="rId47"/>
    <p:sldId id="1030" r:id="rId48"/>
    <p:sldId id="1031" r:id="rId49"/>
    <p:sldId id="369" r:id="rId50"/>
    <p:sldId id="370" r:id="rId51"/>
    <p:sldId id="371" r:id="rId52"/>
    <p:sldId id="298" r:id="rId5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2" pos="2880" userDrawn="1">
          <p15:clr>
            <a:srgbClr val="A4A3A4"/>
          </p15:clr>
        </p15:guide>
        <p15:guide id="3" orient="horz" pos="4065" userDrawn="1">
          <p15:clr>
            <a:srgbClr val="A4A3A4"/>
          </p15:clr>
        </p15:guide>
        <p15:guide id="5" orient="horz" pos="391" userDrawn="1">
          <p15:clr>
            <a:srgbClr val="A4A3A4"/>
          </p15:clr>
        </p15:guide>
        <p15:guide id="6" orient="horz" pos="822" userDrawn="1">
          <p15:clr>
            <a:srgbClr val="A4A3A4"/>
          </p15:clr>
        </p15:guide>
        <p15:guide id="7" pos="5481" userDrawn="1">
          <p15:clr>
            <a:srgbClr val="A4A3A4"/>
          </p15:clr>
        </p15:guide>
        <p15:guide id="8" orient="horz" pos="2160" userDrawn="1">
          <p15:clr>
            <a:srgbClr val="A4A3A4"/>
          </p15:clr>
        </p15:guide>
        <p15:guide id="9" pos="27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ELCOT" initials="E" lastIdx="17" clrIdx="7">
    <p:extLst>
      <p:ext uri="{19B8F6BF-5375-455C-9EA6-DF929625EA0E}">
        <p15:presenceInfo xmlns:p15="http://schemas.microsoft.com/office/powerpoint/2012/main" userId="19152d5317ce410e" providerId="Windows Live"/>
      </p:ext>
    </p:extLst>
  </p:cmAuthor>
  <p:cmAuthor id="1" name="Ruchi Sachdev" initials="" lastIdx="8" clrIdx="1"/>
  <p:cmAuthor id="8" name="Shreyasi Anish Chakraborty, Integra-PDY, IN" initials="SACII" lastIdx="15" clrIdx="8">
    <p:extLst>
      <p:ext uri="{19B8F6BF-5375-455C-9EA6-DF929625EA0E}">
        <p15:presenceInfo xmlns:p15="http://schemas.microsoft.com/office/powerpoint/2012/main" userId="S-1-5-21-1408920735-363312195-2789242753-45969" providerId="AD"/>
      </p:ext>
    </p:extLst>
  </p:cmAuthor>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001" autoAdjust="0"/>
    <p:restoredTop sz="93707" autoAdjust="0"/>
  </p:normalViewPr>
  <p:slideViewPr>
    <p:cSldViewPr snapToGrid="0" snapToObjects="1">
      <p:cViewPr>
        <p:scale>
          <a:sx n="62" d="100"/>
          <a:sy n="62" d="100"/>
        </p:scale>
        <p:origin x="1636" y="40"/>
      </p:cViewPr>
      <p:guideLst>
        <p:guide pos="2880"/>
        <p:guide orient="horz" pos="4065"/>
        <p:guide orient="horz" pos="391"/>
        <p:guide orient="horz" pos="822"/>
        <p:guide pos="5481"/>
        <p:guide orient="horz" pos="2160"/>
        <p:guide pos="272"/>
      </p:guideLst>
    </p:cSldViewPr>
  </p:slideViewPr>
  <p:outlineViewPr>
    <p:cViewPr>
      <p:scale>
        <a:sx n="33" d="100"/>
        <a:sy n="33" d="100"/>
      </p:scale>
      <p:origin x="0" y="-32628"/>
    </p:cViewPr>
  </p:outlineViewPr>
  <p:notesTextViewPr>
    <p:cViewPr>
      <p:scale>
        <a:sx n="150" d="100"/>
        <a:sy n="15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handoutMaster" Target="handoutMasters/handoutMaster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viewProps" Target="viewProps.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commentAuthors" Target="commentAuthor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presProps" Target="presProp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2/2/2026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nist.gov/cyberframework/online-learning/five-functions"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p>
          <a:p>
            <a:pPr eaLnBrk="1" hangingPunct="1">
              <a:defRPr/>
            </a:pPr>
            <a:endParaRPr lang="en-US" sz="1200" b="0" i="0" u="none" strike="noStrike" kern="1200" cap="none" dirty="0">
              <a:solidFill>
                <a:schemeClr val="dk1"/>
              </a:solidFill>
              <a:latin typeface="Arial"/>
              <a:ea typeface="ＭＳ Ｐゴシック" pitchFamily="-110" charset="-128"/>
              <a:cs typeface="Arial"/>
              <a:sym typeface="Arial"/>
            </a:endParaRPr>
          </a:p>
          <a:p>
            <a:pPr eaLnBrk="1" hangingPunct="1">
              <a:defRPr/>
            </a:pPr>
            <a:r>
              <a:rPr lang="en-US" sz="1200" kern="1200" dirty="0">
                <a:solidFill>
                  <a:schemeClr val="tx1"/>
                </a:solidFill>
                <a:latin typeface="Arial" pitchFamily="-110" charset="0"/>
                <a:ea typeface="ＭＳ Ｐゴシック" pitchFamily="-110" charset="-128"/>
                <a:cs typeface="ＭＳ Ｐゴシック" pitchFamily="-110" charset="-128"/>
              </a:rPr>
              <a:t>In most computer security contexts, user authentication is the fundamental building block and the primary line of defense. User authentication is the basis for most</a:t>
            </a:r>
          </a:p>
          <a:p>
            <a:pPr eaLnBrk="1" hangingPunct="1">
              <a:defRPr/>
            </a:pPr>
            <a:r>
              <a:rPr lang="en-US" sz="1200" kern="1200" dirty="0">
                <a:solidFill>
                  <a:schemeClr val="tx1"/>
                </a:solidFill>
                <a:latin typeface="Arial" pitchFamily="-110" charset="0"/>
                <a:ea typeface="ＭＳ Ｐゴシック" pitchFamily="-110" charset="-128"/>
                <a:cs typeface="ＭＳ Ｐゴシック" pitchFamily="-110" charset="-128"/>
              </a:rPr>
              <a:t>types of access control and for user accountability. User authentication encompasses</a:t>
            </a:r>
            <a:r>
              <a:rPr lang="en-US" sz="1200" kern="1200" baseline="0" dirty="0">
                <a:solidFill>
                  <a:schemeClr val="tx1"/>
                </a:solidFill>
                <a:latin typeface="Arial" pitchFamily="-110" charset="0"/>
                <a:ea typeface="ＭＳ Ｐゴシック" pitchFamily="-110" charset="-128"/>
                <a:cs typeface="ＭＳ Ｐゴシック" pitchFamily="-110" charset="-128"/>
              </a:rPr>
              <a:t> </a:t>
            </a:r>
            <a:r>
              <a:rPr lang="en-US" sz="1200" kern="1200" dirty="0">
                <a:solidFill>
                  <a:schemeClr val="tx1"/>
                </a:solidFill>
                <a:latin typeface="Arial" pitchFamily="-110" charset="0"/>
                <a:ea typeface="ＭＳ Ｐゴシック" pitchFamily="-110" charset="-128"/>
                <a:cs typeface="ＭＳ Ｐゴシック" pitchFamily="-110" charset="-128"/>
              </a:rPr>
              <a:t>two functions. First, the user identifies themselves to the system by presenting a</a:t>
            </a:r>
          </a:p>
          <a:p>
            <a:pPr eaLnBrk="1" hangingPunct="1">
              <a:defRPr/>
            </a:pPr>
            <a:r>
              <a:rPr lang="en-US" sz="1200" kern="1200" dirty="0">
                <a:solidFill>
                  <a:schemeClr val="tx1"/>
                </a:solidFill>
                <a:latin typeface="Arial" pitchFamily="-110" charset="0"/>
                <a:ea typeface="ＭＳ Ｐゴシック" pitchFamily="-110" charset="-128"/>
                <a:cs typeface="ＭＳ Ｐゴシック" pitchFamily="-110" charset="-128"/>
              </a:rPr>
              <a:t>credential, such as a user ID. Second, the system verifies the user by the exchange</a:t>
            </a:r>
            <a:r>
              <a:rPr lang="en-US" sz="1200" kern="1200" baseline="0" dirty="0">
                <a:solidFill>
                  <a:schemeClr val="tx1"/>
                </a:solidFill>
                <a:latin typeface="Arial" pitchFamily="-110" charset="0"/>
                <a:ea typeface="ＭＳ Ｐゴシック" pitchFamily="-110" charset="-128"/>
                <a:cs typeface="ＭＳ Ｐゴシック" pitchFamily="-110" charset="-128"/>
              </a:rPr>
              <a:t> </a:t>
            </a:r>
            <a:r>
              <a:rPr lang="en-US" sz="1200" kern="1200" dirty="0">
                <a:solidFill>
                  <a:schemeClr val="tx1"/>
                </a:solidFill>
                <a:latin typeface="Arial" pitchFamily="-110" charset="0"/>
                <a:ea typeface="ＭＳ Ｐゴシック" pitchFamily="-110" charset="-128"/>
                <a:cs typeface="ＭＳ Ｐゴシック" pitchFamily="-110" charset="-128"/>
              </a:rPr>
              <a:t>of authentication information. Users may have multiple identities, used for different</a:t>
            </a:r>
          </a:p>
          <a:p>
            <a:pPr eaLnBrk="1" hangingPunct="1">
              <a:defRPr/>
            </a:pPr>
            <a:r>
              <a:rPr lang="en-US" sz="1200" kern="1200" dirty="0">
                <a:solidFill>
                  <a:schemeClr val="tx1"/>
                </a:solidFill>
                <a:latin typeface="Arial" pitchFamily="-110" charset="0"/>
                <a:ea typeface="ＭＳ Ｐゴシック" pitchFamily="-110" charset="-128"/>
                <a:cs typeface="ＭＳ Ｐゴシック" pitchFamily="-110" charset="-128"/>
              </a:rPr>
              <a:t>services or systems, with distinct authentication processes.</a:t>
            </a:r>
            <a:endParaRPr lang="en-US" sz="1200" kern="1200" dirty="0">
              <a:solidFill>
                <a:schemeClr val="tx1"/>
              </a:solidFill>
              <a:effectLst/>
              <a:latin typeface="Arial" pitchFamily="-110" charset="0"/>
              <a:ea typeface="ＭＳ Ｐゴシック" pitchFamily="-110" charset="-128"/>
              <a:cs typeface="ＭＳ Ｐゴシック" pitchFamily="-110" charset="-128"/>
            </a:endParaRPr>
          </a:p>
          <a:p>
            <a:endParaRPr lang="en-US" sz="1200" kern="1200" dirty="0">
              <a:solidFill>
                <a:schemeClr val="tx1"/>
              </a:solidFill>
              <a:effectLst/>
              <a:latin typeface="Arial" pitchFamily="-110" charset="0"/>
              <a:ea typeface="ＭＳ Ｐゴシック" pitchFamily="-110" charset="-128"/>
              <a:cs typeface="ＭＳ Ｐゴシック" pitchFamily="-110"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In essence, identification is the means by which a user provides a claimed identity to the system; that user authentication is the means of establishing the validity of</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 claim. Note that user authentication is distinct from message authentication. As</a:t>
            </a:r>
            <a:r>
              <a:rPr lang="en-US" sz="1200" kern="1200" baseline="0" dirty="0">
                <a:solidFill>
                  <a:schemeClr val="tx1"/>
                </a:solidFill>
                <a:effectLst/>
                <a:latin typeface="Arial" pitchFamily="-110" charset="0"/>
                <a:ea typeface="ＭＳ Ｐゴシック" pitchFamily="-110" charset="-128"/>
                <a:cs typeface="ＭＳ Ｐゴシック" pitchFamily="-110" charset="-128"/>
              </a:rPr>
              <a:t> </a:t>
            </a:r>
            <a:r>
              <a:rPr lang="en-US" sz="1200" kern="1200" dirty="0">
                <a:solidFill>
                  <a:schemeClr val="tx1"/>
                </a:solidFill>
                <a:effectLst/>
                <a:latin typeface="Arial" pitchFamily="-110" charset="0"/>
                <a:ea typeface="ＭＳ Ｐゴシック" pitchFamily="-110" charset="-128"/>
                <a:cs typeface="ＭＳ Ｐゴシック" pitchFamily="-110" charset="-128"/>
              </a:rPr>
              <a:t>defined in Chapter 2, message authentication is a procedure that allows</a:t>
            </a:r>
            <a:r>
              <a:rPr lang="en-US" sz="1200" kern="1200" baseline="0" dirty="0">
                <a:solidFill>
                  <a:schemeClr val="tx1"/>
                </a:solidFill>
                <a:effectLst/>
                <a:latin typeface="Arial" pitchFamily="-110" charset="0"/>
                <a:ea typeface="ＭＳ Ｐゴシック" pitchFamily="-110" charset="-128"/>
                <a:cs typeface="ＭＳ Ｐゴシック" pitchFamily="-110" charset="-128"/>
              </a:rPr>
              <a:t> </a:t>
            </a:r>
            <a:r>
              <a:rPr lang="en-US" sz="1200" kern="1200" dirty="0">
                <a:solidFill>
                  <a:schemeClr val="tx1"/>
                </a:solidFill>
                <a:effectLst/>
                <a:latin typeface="Arial" pitchFamily="-110" charset="0"/>
                <a:ea typeface="ＭＳ Ｐゴシック" pitchFamily="-110" charset="-128"/>
                <a:cs typeface="ＭＳ Ｐゴシック" pitchFamily="-110" charset="-128"/>
              </a:rPr>
              <a:t>communicating parties to verify that the contents of a received message have not been altered and</a:t>
            </a:r>
            <a:r>
              <a:rPr lang="en-US" sz="1200" kern="1200" baseline="0" dirty="0">
                <a:solidFill>
                  <a:schemeClr val="tx1"/>
                </a:solidFill>
                <a:effectLst/>
                <a:latin typeface="Arial" pitchFamily="-110" charset="0"/>
                <a:ea typeface="ＭＳ Ｐゴシック" pitchFamily="-110" charset="-128"/>
                <a:cs typeface="ＭＳ Ｐゴシック" pitchFamily="-110" charset="-128"/>
              </a:rPr>
              <a:t> </a:t>
            </a:r>
            <a:r>
              <a:rPr lang="en-US" sz="1200" kern="1200" dirty="0">
                <a:solidFill>
                  <a:schemeClr val="tx1"/>
                </a:solidFill>
                <a:effectLst/>
                <a:latin typeface="Arial" pitchFamily="-110" charset="0"/>
                <a:ea typeface="ＭＳ Ｐゴシック" pitchFamily="-110" charset="-128"/>
                <a:cs typeface="ＭＳ Ｐゴシック" pitchFamily="-110" charset="-128"/>
              </a:rPr>
              <a:t>that the source is authentic. This chapter is concerned solely with user authentication.</a:t>
            </a:r>
          </a:p>
          <a:p>
            <a:endParaRPr lang="en-US" sz="1200" kern="1200" dirty="0">
              <a:solidFill>
                <a:schemeClr val="tx1"/>
              </a:solidFill>
              <a:effectLst/>
              <a:latin typeface="Arial" pitchFamily="-110" charset="0"/>
              <a:ea typeface="ＭＳ Ｐゴシック" pitchFamily="-110" charset="-128"/>
              <a:cs typeface="ＭＳ Ｐゴシック" pitchFamily="-110"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This chapter first provides an overview of different means of user authentication and then examines each in some detail.</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07" charset="0"/>
                <a:ea typeface="+mn-ea"/>
                <a:cs typeface="+mn-cs"/>
              </a:rPr>
              <a:t>The N I S T Internal/Interagency Report N I S T I R 7298 (</a:t>
            </a:r>
            <a:r>
              <a:rPr lang="en-US" sz="1200" i="1" kern="1200" dirty="0">
                <a:solidFill>
                  <a:schemeClr val="tx1"/>
                </a:solidFill>
                <a:effectLst/>
                <a:latin typeface="Arial" pitchFamily="-107" charset="0"/>
                <a:ea typeface="+mn-ea"/>
                <a:cs typeface="+mn-cs"/>
              </a:rPr>
              <a:t>Glossary of Key Information Security Terms,</a:t>
            </a:r>
            <a:r>
              <a:rPr lang="en-US" sz="1200" kern="1200" dirty="0">
                <a:solidFill>
                  <a:schemeClr val="tx1"/>
                </a:solidFill>
                <a:effectLst/>
                <a:latin typeface="Arial" pitchFamily="-107" charset="0"/>
                <a:ea typeface="+mn-ea"/>
                <a:cs typeface="+mn-cs"/>
              </a:rPr>
              <a:t> July 2019) defines the term </a:t>
            </a:r>
            <a:r>
              <a:rPr lang="en-US" sz="1200" i="1" kern="1200" dirty="0">
                <a:solidFill>
                  <a:schemeClr val="tx1"/>
                </a:solidFill>
                <a:effectLst/>
                <a:latin typeface="Arial" pitchFamily="-107" charset="0"/>
                <a:ea typeface="+mn-ea"/>
                <a:cs typeface="+mn-cs"/>
              </a:rPr>
              <a:t>computer security</a:t>
            </a:r>
            <a:r>
              <a:rPr lang="en-US" sz="1200" kern="1200" dirty="0">
                <a:solidFill>
                  <a:schemeClr val="tx1"/>
                </a:solidFill>
                <a:effectLst/>
                <a:latin typeface="Arial" pitchFamily="-107" charset="0"/>
                <a:ea typeface="+mn-ea"/>
                <a:cs typeface="+mn-cs"/>
              </a:rPr>
              <a:t> as follows:</a:t>
            </a:r>
          </a:p>
          <a:p>
            <a:endParaRPr lang="en-US" sz="1200" b="0" kern="1200" baseline="0" dirty="0">
              <a:solidFill>
                <a:schemeClr val="tx1"/>
              </a:solidFill>
              <a:latin typeface="Arial" pitchFamily="-107" charset="0"/>
              <a:ea typeface="+mn-ea"/>
              <a:cs typeface="+mn-cs"/>
            </a:endParaRP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Computer Security: </a:t>
            </a:r>
            <a:r>
              <a:rPr lang="en-US" sz="1200" kern="1200" dirty="0">
                <a:solidFill>
                  <a:schemeClr val="tx1"/>
                </a:solidFill>
                <a:effectLst/>
                <a:latin typeface="Arial" pitchFamily="-107" charset="0"/>
                <a:ea typeface="+mn-ea"/>
                <a:cs typeface="+mn-cs"/>
              </a:rPr>
              <a:t>Measures and controls that ensure confidentiality, integrity,</a:t>
            </a:r>
            <a:r>
              <a:rPr lang="en-US" sz="1200" kern="1200" baseline="0" dirty="0">
                <a:solidFill>
                  <a:schemeClr val="tx1"/>
                </a:solidFill>
                <a:effectLst/>
                <a:latin typeface="Arial" pitchFamily="-107" charset="0"/>
                <a:ea typeface="+mn-ea"/>
                <a:cs typeface="+mn-cs"/>
              </a:rPr>
              <a:t> </a:t>
            </a:r>
            <a:r>
              <a:rPr lang="en-US" sz="1200" kern="1200" dirty="0">
                <a:solidFill>
                  <a:schemeClr val="tx1"/>
                </a:solidFill>
                <a:effectLst/>
                <a:latin typeface="Arial" pitchFamily="-107" charset="0"/>
                <a:ea typeface="+mn-ea"/>
                <a:cs typeface="+mn-cs"/>
              </a:rPr>
              <a:t>and availability of information processed and stored by a computer, including</a:t>
            </a:r>
            <a:r>
              <a:rPr lang="en-US" sz="1200" kern="1200" baseline="0" dirty="0">
                <a:solidFill>
                  <a:schemeClr val="tx1"/>
                </a:solidFill>
                <a:effectLst/>
                <a:latin typeface="Arial" pitchFamily="-107" charset="0"/>
                <a:ea typeface="+mn-ea"/>
                <a:cs typeface="+mn-cs"/>
              </a:rPr>
              <a:t> </a:t>
            </a:r>
            <a:r>
              <a:rPr lang="en-US" sz="1200" kern="1200" dirty="0">
                <a:solidFill>
                  <a:schemeClr val="tx1"/>
                </a:solidFill>
                <a:effectLst/>
                <a:latin typeface="Arial" pitchFamily="-107" charset="0"/>
                <a:ea typeface="+mn-ea"/>
                <a:cs typeface="+mn-cs"/>
              </a:rPr>
              <a:t>hardware, software, firmware, information data, and telecommunications.</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This definition introduces three key objectives that are at the heart of computer security:</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Confidentiality: This term covers two related concepts:</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Data confidentiality: Assures that private or confidential information is not made available or disclosed to unauthorized individuals.</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Privacy: Assures that individuals control or influence what information related to them may be collected and stored and by whom and to whom that information may be disclosed.</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Integrity: This term covers two related concepts:</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Data integrity: Assures that information and programs are changed only in a specified and authorized manner.</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System integrity: Assures that a system performs its intended function in an unimpaired manner, free from deliberate or inadvertent unauthorized manipulation of the system.</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Availability: Assures that systems work promptly and service is not denied to authorized users.</a:t>
            </a:r>
            <a:endParaRPr lang="en-US" sz="1200" kern="1200" dirty="0">
              <a:solidFill>
                <a:schemeClr val="tx1"/>
              </a:solidFill>
              <a:effectLst/>
              <a:latin typeface="Arial" pitchFamily="-110" charset="0"/>
              <a:ea typeface="ＭＳ Ｐゴシック" pitchFamily="-110" charset="-128"/>
              <a:cs typeface="ＭＳ Ｐゴシック" pitchFamily="-110" charset="-128"/>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609795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07" charset="0"/>
                <a:ea typeface="+mn-ea"/>
                <a:cs typeface="+mn-cs"/>
              </a:rPr>
              <a:t>These three concepts form what is often referred to as the C I A triad. The three concepts embody the fundamental security objectives for both data and information and computing services. For example, the N I S T standard F I P S 199 (Standards for Security Categorization of Federal Information and Information Systems, February 2004) lists confidentiality, integrity, and availability as the three security objectives for information and information systems. </a:t>
            </a:r>
          </a:p>
          <a:p>
            <a:endParaRPr lang="en-US" sz="1200" kern="1200" dirty="0">
              <a:solidFill>
                <a:schemeClr val="tx1"/>
              </a:solidFill>
              <a:effectLst/>
              <a:latin typeface="Arial" pitchFamily="-107" charset="0"/>
              <a:ea typeface="+mn-ea"/>
              <a:cs typeface="+mn-cs"/>
            </a:endParaRPr>
          </a:p>
          <a:p>
            <a:r>
              <a:rPr lang="en-US" sz="1200" kern="1200" dirty="0">
                <a:solidFill>
                  <a:schemeClr val="tx1"/>
                </a:solidFill>
                <a:effectLst/>
                <a:latin typeface="Arial" pitchFamily="-107" charset="0"/>
                <a:ea typeface="+mn-ea"/>
                <a:cs typeface="+mn-cs"/>
              </a:rPr>
              <a:t>Although the use of the C I A triad to define security objectives is well established, some in the security field feel that additional concepts are needed to present a complete picture (see Figure 1.1).</a:t>
            </a:r>
            <a:r>
              <a:rPr lang="en-US" sz="1200" kern="1200" baseline="0" dirty="0">
                <a:solidFill>
                  <a:schemeClr val="tx1"/>
                </a:solidFill>
                <a:effectLst/>
                <a:latin typeface="Arial" pitchFamily="-107" charset="0"/>
                <a:ea typeface="+mn-ea"/>
                <a:cs typeface="+mn-cs"/>
              </a:rPr>
              <a:t> </a:t>
            </a:r>
            <a:r>
              <a:rPr lang="en-US" sz="1200" kern="1200" dirty="0">
                <a:solidFill>
                  <a:schemeClr val="tx1"/>
                </a:solidFill>
                <a:effectLst/>
                <a:latin typeface="Arial" pitchFamily="-107" charset="0"/>
                <a:ea typeface="+mn-ea"/>
                <a:cs typeface="+mn-cs"/>
              </a:rPr>
              <a:t>Two of the most commonly mentioned are as follows:</a:t>
            </a:r>
          </a:p>
          <a:p>
            <a:endParaRPr lang="en-US" sz="1200" kern="1200" dirty="0">
              <a:solidFill>
                <a:schemeClr val="tx1"/>
              </a:solidFill>
              <a:effectLst/>
              <a:latin typeface="Arial" pitchFamily="-107" charset="0"/>
              <a:ea typeface="+mn-ea"/>
              <a:cs typeface="+mn-cs"/>
            </a:endParaRPr>
          </a:p>
          <a:p>
            <a:r>
              <a:rPr lang="en-US" sz="1200" kern="1200" dirty="0">
                <a:solidFill>
                  <a:schemeClr val="tx1"/>
                </a:solidFill>
                <a:effectLst/>
                <a:latin typeface="Arial" pitchFamily="-107" charset="0"/>
                <a:ea typeface="+mn-ea"/>
                <a:cs typeface="+mn-cs"/>
              </a:rPr>
              <a:t>• Authenticity: The property of being genuine and being able to be verified and trusted; confidence in the validity of a transmission, a message, or a message originator. This means verifying that users are who they say they are and that each input arriving at the system came from a trusted source.</a:t>
            </a:r>
          </a:p>
          <a:p>
            <a:endParaRPr lang="en-US" sz="1200" kern="1200" dirty="0">
              <a:solidFill>
                <a:schemeClr val="tx1"/>
              </a:solidFill>
              <a:effectLst/>
              <a:latin typeface="Arial" pitchFamily="-107" charset="0"/>
              <a:ea typeface="+mn-ea"/>
              <a:cs typeface="+mn-cs"/>
            </a:endParaRPr>
          </a:p>
          <a:p>
            <a:r>
              <a:rPr lang="en-US" sz="1200" kern="1200" dirty="0">
                <a:solidFill>
                  <a:schemeClr val="tx1"/>
                </a:solidFill>
                <a:effectLst/>
                <a:latin typeface="Arial" pitchFamily="-107" charset="0"/>
                <a:ea typeface="+mn-ea"/>
                <a:cs typeface="+mn-cs"/>
              </a:rPr>
              <a:t>• Accountability: The security goal that generates the requirement for actions of an entity to be traced uniquely to that entity. This supports nonrepudiation, deterrence, fault isolation, intrusion detection and prevention, and after-action recovery and legal action. Because truly secure systems are not yet an achievable goal, we must be able to trace a security breach to a responsible party. Systems must keep records of their activities to permit later forensic analysis to trace security breaches or to aid in transaction disputes.</a:t>
            </a:r>
          </a:p>
          <a:p>
            <a:endParaRPr lang="en-US" sz="1200" kern="1200" dirty="0">
              <a:solidFill>
                <a:schemeClr val="tx1"/>
              </a:solidFill>
              <a:effectLst/>
              <a:latin typeface="Arial" pitchFamily="-107" charset="0"/>
              <a:ea typeface="+mn-ea"/>
              <a:cs typeface="+mn-cs"/>
            </a:endParaRPr>
          </a:p>
          <a:p>
            <a:r>
              <a:rPr lang="en-US" sz="1200" kern="1200" dirty="0">
                <a:solidFill>
                  <a:schemeClr val="tx1"/>
                </a:solidFill>
                <a:effectLst/>
                <a:latin typeface="Arial" pitchFamily="-107" charset="0"/>
                <a:ea typeface="+mn-ea"/>
                <a:cs typeface="+mn-cs"/>
              </a:rPr>
              <a:t>Note that F I P S 199 includes authenticity under integrity.</a:t>
            </a:r>
          </a:p>
          <a:p>
            <a:endParaRPr lang="en-US" sz="1200" kern="1200" dirty="0">
              <a:solidFill>
                <a:schemeClr val="tx1"/>
              </a:solidFill>
              <a:effectLst/>
              <a:latin typeface="Arial" pitchFamily="-107" charset="0"/>
              <a:ea typeface="+mn-ea"/>
              <a:cs typeface="+mn-cs"/>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Long Description:</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 five listed objectives are given as follows: Confidentiality, integrity, authenticity, availability, and accountability.</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83083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baseline="0" dirty="0">
                <a:solidFill>
                  <a:schemeClr val="tx1"/>
                </a:solidFill>
                <a:latin typeface="Arial" pitchFamily="-107" charset="0"/>
                <a:ea typeface="+mn-ea"/>
                <a:cs typeface="+mn-cs"/>
              </a:rPr>
              <a:t>F I P S 199 provides a useful characterization of these three objectives in terms of requirements and the definition of a loss of security in each category:</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Confidentiality: Preserving authorized restrictions on information access and disclosure, including means for protecting personal privacy and proprietary information. A loss of confidentiality is the unauthorized disclosure of information.</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Integrity: Guarding against improper information modification or destruction, including ensuring information non-repudiation and authenticity. A loss of integrity is the unauthorized modification or destruction of information.</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Availability: Ensuring timely and reliable access to and use of information. A loss of availability is the disruption of access to or use of information or an information system.</a:t>
            </a:r>
            <a:endParaRPr lang="en-US" sz="1200" kern="1200" dirty="0">
              <a:solidFill>
                <a:schemeClr val="tx1"/>
              </a:solidFill>
              <a:effectLst/>
              <a:latin typeface="Arial" pitchFamily="-110" charset="0"/>
              <a:ea typeface="ＭＳ Ｐゴシック" pitchFamily="-110" charset="-128"/>
              <a:cs typeface="ＭＳ Ｐゴシック" pitchFamily="-110" charset="-128"/>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997236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pitchFamily="-107" charset="0"/>
                <a:ea typeface="+mn-ea"/>
                <a:cs typeface="+mn-cs"/>
              </a:rPr>
              <a:t>We use three levels of impact on organizations or individuals should there be a breach of security (i.e., a loss of confidentiality, integrity, or availability). These levels are defined in F I P S 199:</a:t>
            </a:r>
          </a:p>
          <a:p>
            <a:endParaRPr lang="en-US" sz="1200" b="0" i="0" u="none" strike="noStrike" kern="1200" baseline="0" dirty="0">
              <a:solidFill>
                <a:schemeClr val="tx1"/>
              </a:solidFill>
              <a:latin typeface="Arial" pitchFamily="-107" charset="0"/>
              <a:ea typeface="+mn-ea"/>
              <a:cs typeface="+mn-cs"/>
            </a:endParaRPr>
          </a:p>
          <a:p>
            <a:r>
              <a:rPr lang="en-US" sz="1200" b="0" i="0" u="none" strike="noStrike" kern="1200" baseline="0" dirty="0">
                <a:solidFill>
                  <a:schemeClr val="tx1"/>
                </a:solidFill>
                <a:latin typeface="Arial" pitchFamily="-107" charset="0"/>
                <a:ea typeface="+mn-ea"/>
                <a:cs typeface="+mn-cs"/>
              </a:rPr>
              <a:t>• Low: The loss could be expected to have a limited adverse effect on organizational operations, organizational assets, or individuals. A limited adverse effect means that, for example, the loss of confidentiality, integrity, or availability might (</a:t>
            </a:r>
            <a:r>
              <a:rPr lang="en-US" sz="1200" b="0" i="0" u="none" strike="noStrike" kern="1200" baseline="0" dirty="0" err="1">
                <a:solidFill>
                  <a:schemeClr val="tx1"/>
                </a:solidFill>
                <a:latin typeface="Arial" pitchFamily="-107" charset="0"/>
                <a:ea typeface="+mn-ea"/>
                <a:cs typeface="+mn-cs"/>
              </a:rPr>
              <a:t>i</a:t>
            </a:r>
            <a:r>
              <a:rPr lang="en-US" sz="1200" b="0" i="0" u="none" strike="noStrike" kern="1200" baseline="0" dirty="0">
                <a:solidFill>
                  <a:schemeClr val="tx1"/>
                </a:solidFill>
                <a:latin typeface="Arial" pitchFamily="-107" charset="0"/>
                <a:ea typeface="+mn-ea"/>
                <a:cs typeface="+mn-cs"/>
              </a:rPr>
              <a:t>) cause a degradation in mission capability to an extent and duration that the organization is able to perform its primary functions, but the effectiveness of the functions is noticeably reduced; (ii) result in minor damage to organizational assets; (iii) result in minor financial loss; or (iv) result in minor harm to individuals.</a:t>
            </a:r>
          </a:p>
          <a:p>
            <a:endParaRPr lang="en-US" sz="1200" b="0" i="0" u="none" strike="noStrike" kern="1200" baseline="0" dirty="0">
              <a:solidFill>
                <a:schemeClr val="tx1"/>
              </a:solidFill>
              <a:latin typeface="Arial" pitchFamily="-107" charset="0"/>
              <a:ea typeface="+mn-ea"/>
              <a:cs typeface="+mn-cs"/>
            </a:endParaRPr>
          </a:p>
          <a:p>
            <a:r>
              <a:rPr lang="en-US" sz="1200" b="0" i="0" u="none" strike="noStrike" kern="1200" baseline="0" dirty="0">
                <a:solidFill>
                  <a:schemeClr val="tx1"/>
                </a:solidFill>
                <a:latin typeface="Arial" pitchFamily="-107" charset="0"/>
                <a:ea typeface="+mn-ea"/>
                <a:cs typeface="+mn-cs"/>
              </a:rPr>
              <a:t>• Moderate: The loss could be expected to have a serious adverse effect on organizational operations, organizational assets, or individuals. A serious adverse effect means that, for example, the loss might (</a:t>
            </a:r>
            <a:r>
              <a:rPr lang="en-US" sz="1200" b="0" i="0" u="none" strike="noStrike" kern="1200" baseline="0" dirty="0" err="1">
                <a:solidFill>
                  <a:schemeClr val="tx1"/>
                </a:solidFill>
                <a:latin typeface="Arial" pitchFamily="-107" charset="0"/>
                <a:ea typeface="+mn-ea"/>
                <a:cs typeface="+mn-cs"/>
              </a:rPr>
              <a:t>i</a:t>
            </a:r>
            <a:r>
              <a:rPr lang="en-US" sz="1200" b="0" i="0" u="none" strike="noStrike" kern="1200" baseline="0" dirty="0">
                <a:solidFill>
                  <a:schemeClr val="tx1"/>
                </a:solidFill>
                <a:latin typeface="Arial" pitchFamily="-107" charset="0"/>
                <a:ea typeface="+mn-ea"/>
                <a:cs typeface="+mn-cs"/>
              </a:rPr>
              <a:t>) cause a significant degradation in mission capability to an extent and duration that the organization is able to perform its primary functions, but the effectiveness of the functions is significantly reduced; (ii) result in significant damage to organizational assets; (iii) result in significant financial loss; or (iv) result in significant harm to individuals that does not involve loss of life or serious, life-threatening injuries.</a:t>
            </a:r>
          </a:p>
          <a:p>
            <a:endParaRPr lang="en-US" sz="1200" b="0" i="0" u="none" strike="noStrike" kern="1200" baseline="0" dirty="0">
              <a:solidFill>
                <a:schemeClr val="tx1"/>
              </a:solidFill>
              <a:latin typeface="Arial" pitchFamily="-107" charset="0"/>
              <a:ea typeface="+mn-ea"/>
              <a:cs typeface="+mn-cs"/>
            </a:endParaRPr>
          </a:p>
          <a:p>
            <a:r>
              <a:rPr lang="en-US" sz="1200" b="0" i="0" u="none" strike="noStrike" kern="1200" baseline="0" dirty="0">
                <a:solidFill>
                  <a:schemeClr val="tx1"/>
                </a:solidFill>
                <a:latin typeface="Arial" pitchFamily="-107" charset="0"/>
                <a:ea typeface="+mn-ea"/>
                <a:cs typeface="+mn-cs"/>
              </a:rPr>
              <a:t>• High: The loss could be expected to have a severe or catastrophic adverse effect on organizational operations, organizational assets, or individuals. A severe or catastrophic adverse effect means that, for example, the loss might (</a:t>
            </a:r>
            <a:r>
              <a:rPr lang="en-US" sz="1200" b="0" i="0" u="none" strike="noStrike" kern="1200" baseline="0" dirty="0" err="1">
                <a:solidFill>
                  <a:schemeClr val="tx1"/>
                </a:solidFill>
                <a:latin typeface="Arial" pitchFamily="-107" charset="0"/>
                <a:ea typeface="+mn-ea"/>
                <a:cs typeface="+mn-cs"/>
              </a:rPr>
              <a:t>i</a:t>
            </a:r>
            <a:r>
              <a:rPr lang="en-US" sz="1200" b="0" i="0" u="none" strike="noStrike" kern="1200" baseline="0" dirty="0">
                <a:solidFill>
                  <a:schemeClr val="tx1"/>
                </a:solidFill>
                <a:latin typeface="Arial" pitchFamily="-107" charset="0"/>
                <a:ea typeface="+mn-ea"/>
                <a:cs typeface="+mn-cs"/>
              </a:rPr>
              <a:t>) cause a severe degradation in or loss of mission capability to an extent and duration that the organization is not able to perform one or more of its primary functions; (ii) result in major damage to organizational assets; (iii) result in major financial loss; or (iv) result in severe or catastrophic harm to individuals involving loss of life or serious life-threatening injuries.</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108133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panose="020B0604020202020204" pitchFamily="34" charset="0"/>
                <a:cs typeface="Arial" panose="020B0604020202020204" pitchFamily="34" charset="0"/>
              </a:rPr>
              <a:t>Computer security is both fascinating and complex. Some of the reasons are as follows:</a:t>
            </a:r>
          </a:p>
          <a:p>
            <a:endParaRPr lang="en-US" dirty="0">
              <a:latin typeface="Arial" panose="020B0604020202020204" pitchFamily="34" charset="0"/>
              <a:cs typeface="Arial" panose="020B0604020202020204" pitchFamily="34" charset="0"/>
            </a:endParaRPr>
          </a:p>
          <a:p>
            <a:r>
              <a:rPr lang="en-US" sz="1200" kern="1200" dirty="0">
                <a:solidFill>
                  <a:schemeClr val="tx1"/>
                </a:solidFill>
                <a:effectLst/>
                <a:latin typeface="Arial" panose="020B0604020202020204" pitchFamily="34" charset="0"/>
                <a:ea typeface="+mn-ea"/>
                <a:cs typeface="Arial" panose="020B0604020202020204" pitchFamily="34" charset="0"/>
              </a:rPr>
              <a:t> 1. Computer security is not as simple as it might first appear to the novice. The requirements seem to be straightforward; indeed, most of the major requirements for security services can be given self-explanatory one-word labels: confidentiality,</a:t>
            </a:r>
            <a:r>
              <a:rPr lang="en-US" sz="1200" kern="1200" baseline="0" dirty="0">
                <a:solidFill>
                  <a:schemeClr val="tx1"/>
                </a:solidFill>
                <a:effectLst/>
                <a:latin typeface="Arial" panose="020B0604020202020204" pitchFamily="34" charset="0"/>
                <a:ea typeface="+mn-ea"/>
                <a:cs typeface="Arial" panose="020B0604020202020204" pitchFamily="34" charset="0"/>
              </a:rPr>
              <a:t> </a:t>
            </a:r>
            <a:r>
              <a:rPr lang="en-US" sz="1200" kern="1200" dirty="0">
                <a:solidFill>
                  <a:schemeClr val="tx1"/>
                </a:solidFill>
                <a:effectLst/>
                <a:latin typeface="Arial" panose="020B0604020202020204" pitchFamily="34" charset="0"/>
                <a:ea typeface="+mn-ea"/>
                <a:cs typeface="Arial" panose="020B0604020202020204" pitchFamily="34" charset="0"/>
              </a:rPr>
              <a:t>authentication, nonrepudiation, and integrity. But the mechanisms used to meet those requirements can be quite complex, and understanding them may involve rather subtle reasoning.</a:t>
            </a:r>
          </a:p>
          <a:p>
            <a:endParaRPr lang="en-US" sz="1200" kern="1200" dirty="0">
              <a:solidFill>
                <a:schemeClr val="tx1"/>
              </a:solidFill>
              <a:effectLst/>
              <a:latin typeface="Arial" panose="020B0604020202020204" pitchFamily="34" charset="0"/>
              <a:ea typeface="+mn-ea"/>
              <a:cs typeface="Arial" panose="020B0604020202020204" pitchFamily="34" charset="0"/>
            </a:endParaRPr>
          </a:p>
          <a:p>
            <a:r>
              <a:rPr lang="en-US" sz="1200" kern="1200" dirty="0">
                <a:solidFill>
                  <a:schemeClr val="tx1"/>
                </a:solidFill>
                <a:effectLst/>
                <a:latin typeface="Arial" panose="020B0604020202020204" pitchFamily="34" charset="0"/>
                <a:ea typeface="+mn-ea"/>
                <a:cs typeface="Arial" panose="020B0604020202020204" pitchFamily="34" charset="0"/>
              </a:rPr>
              <a:t> 2. In developing a particular security mechanism or algorithm, one must always consider potential attacks on those security features. In many cases, successful attacks are designed by looking at the problem in a completely different way</a:t>
            </a:r>
            <a:r>
              <a:rPr lang="en-US" sz="1200" kern="1200" baseline="0" dirty="0">
                <a:solidFill>
                  <a:schemeClr val="tx1"/>
                </a:solidFill>
                <a:effectLst/>
                <a:latin typeface="Arial" panose="020B0604020202020204" pitchFamily="34" charset="0"/>
                <a:ea typeface="+mn-ea"/>
                <a:cs typeface="Arial" panose="020B0604020202020204" pitchFamily="34" charset="0"/>
              </a:rPr>
              <a:t> and</a:t>
            </a:r>
            <a:r>
              <a:rPr lang="en-US" sz="1200" kern="1200" dirty="0">
                <a:solidFill>
                  <a:schemeClr val="tx1"/>
                </a:solidFill>
                <a:effectLst/>
                <a:latin typeface="Arial" panose="020B0604020202020204" pitchFamily="34" charset="0"/>
                <a:ea typeface="+mn-ea"/>
                <a:cs typeface="Arial" panose="020B0604020202020204" pitchFamily="34" charset="0"/>
              </a:rPr>
              <a:t> therefore</a:t>
            </a:r>
            <a:r>
              <a:rPr lang="en-US" sz="1200" kern="1200" baseline="0" dirty="0">
                <a:solidFill>
                  <a:schemeClr val="tx1"/>
                </a:solidFill>
                <a:effectLst/>
                <a:latin typeface="Arial" panose="020B0604020202020204" pitchFamily="34" charset="0"/>
                <a:ea typeface="+mn-ea"/>
                <a:cs typeface="Arial" panose="020B0604020202020204" pitchFamily="34" charset="0"/>
              </a:rPr>
              <a:t> </a:t>
            </a:r>
            <a:r>
              <a:rPr lang="en-US" sz="1200" kern="1200" dirty="0">
                <a:solidFill>
                  <a:schemeClr val="tx1"/>
                </a:solidFill>
                <a:effectLst/>
                <a:latin typeface="Arial" panose="020B0604020202020204" pitchFamily="34" charset="0"/>
                <a:ea typeface="+mn-ea"/>
                <a:cs typeface="Arial" panose="020B0604020202020204" pitchFamily="34" charset="0"/>
              </a:rPr>
              <a:t>exploiting an unexpected weakness in the mechanism.</a:t>
            </a:r>
          </a:p>
          <a:p>
            <a:endParaRPr lang="en-US" sz="1200" kern="1200" dirty="0">
              <a:solidFill>
                <a:schemeClr val="tx1"/>
              </a:solidFill>
              <a:effectLst/>
              <a:latin typeface="Arial" panose="020B0604020202020204" pitchFamily="34" charset="0"/>
              <a:ea typeface="+mn-ea"/>
              <a:cs typeface="Arial" panose="020B0604020202020204" pitchFamily="34" charset="0"/>
            </a:endParaRPr>
          </a:p>
          <a:p>
            <a:r>
              <a:rPr lang="en-US" sz="1200" kern="1200" dirty="0">
                <a:solidFill>
                  <a:schemeClr val="tx1"/>
                </a:solidFill>
                <a:effectLst/>
                <a:latin typeface="Arial" panose="020B0604020202020204" pitchFamily="34" charset="0"/>
                <a:ea typeface="+mn-ea"/>
                <a:cs typeface="Arial" panose="020B0604020202020204" pitchFamily="34" charset="0"/>
              </a:rPr>
              <a:t> 3. Because of Point 2, the procedures used to provide particular services are often counterintuitive. Typically, a security mechanism is complex, and it is not obvious from the</a:t>
            </a:r>
            <a:r>
              <a:rPr lang="en-US" sz="1200" kern="1200" baseline="0" dirty="0">
                <a:solidFill>
                  <a:schemeClr val="tx1"/>
                </a:solidFill>
                <a:effectLst/>
                <a:latin typeface="Arial" panose="020B0604020202020204" pitchFamily="34" charset="0"/>
                <a:ea typeface="+mn-ea"/>
                <a:cs typeface="Arial" panose="020B0604020202020204" pitchFamily="34" charset="0"/>
              </a:rPr>
              <a:t> </a:t>
            </a:r>
            <a:r>
              <a:rPr lang="en-US" sz="1200" kern="1200" dirty="0">
                <a:solidFill>
                  <a:schemeClr val="tx1"/>
                </a:solidFill>
                <a:effectLst/>
                <a:latin typeface="Arial" panose="020B0604020202020204" pitchFamily="34" charset="0"/>
                <a:ea typeface="+mn-ea"/>
                <a:cs typeface="Arial" panose="020B0604020202020204" pitchFamily="34" charset="0"/>
              </a:rPr>
              <a:t>statement of a particular requirement that such elaborate measures are</a:t>
            </a:r>
            <a:r>
              <a:rPr lang="en-US" sz="1200" kern="1200" baseline="0" dirty="0">
                <a:solidFill>
                  <a:schemeClr val="tx1"/>
                </a:solidFill>
                <a:effectLst/>
                <a:latin typeface="Arial" panose="020B0604020202020204" pitchFamily="34" charset="0"/>
                <a:ea typeface="+mn-ea"/>
                <a:cs typeface="Arial" panose="020B0604020202020204" pitchFamily="34" charset="0"/>
              </a:rPr>
              <a:t> </a:t>
            </a:r>
            <a:r>
              <a:rPr lang="en-US" sz="1200" kern="1200" dirty="0">
                <a:solidFill>
                  <a:schemeClr val="tx1"/>
                </a:solidFill>
                <a:effectLst/>
                <a:latin typeface="Arial" panose="020B0604020202020204" pitchFamily="34" charset="0"/>
                <a:ea typeface="+mn-ea"/>
                <a:cs typeface="Arial" panose="020B0604020202020204" pitchFamily="34" charset="0"/>
              </a:rPr>
              <a:t>needed. Only when the various aspects of the threat are considered do elaborate security mechanisms make sense.</a:t>
            </a:r>
          </a:p>
          <a:p>
            <a:endParaRPr lang="en-US" sz="1200" kern="1200" dirty="0">
              <a:solidFill>
                <a:schemeClr val="tx1"/>
              </a:solidFill>
              <a:effectLst/>
              <a:latin typeface="Arial" panose="020B0604020202020204" pitchFamily="34" charset="0"/>
              <a:ea typeface="+mn-ea"/>
              <a:cs typeface="Arial" panose="020B0604020202020204" pitchFamily="34" charset="0"/>
            </a:endParaRPr>
          </a:p>
          <a:p>
            <a:r>
              <a:rPr lang="en-US" sz="1200" kern="1200" dirty="0">
                <a:solidFill>
                  <a:schemeClr val="tx1"/>
                </a:solidFill>
                <a:effectLst/>
                <a:latin typeface="Arial" panose="020B0604020202020204" pitchFamily="34" charset="0"/>
                <a:ea typeface="+mn-ea"/>
                <a:cs typeface="Arial" panose="020B0604020202020204" pitchFamily="34" charset="0"/>
              </a:rPr>
              <a:t> 4. Once various security mechanisms have been designed, it is necessary to decide</a:t>
            </a:r>
            <a:r>
              <a:rPr lang="en-US" sz="1200" kern="1200" baseline="0" dirty="0">
                <a:solidFill>
                  <a:schemeClr val="tx1"/>
                </a:solidFill>
                <a:effectLst/>
                <a:latin typeface="Arial" panose="020B0604020202020204" pitchFamily="34" charset="0"/>
                <a:ea typeface="+mn-ea"/>
                <a:cs typeface="Arial" panose="020B0604020202020204" pitchFamily="34" charset="0"/>
              </a:rPr>
              <a:t> </a:t>
            </a:r>
            <a:r>
              <a:rPr lang="en-US" sz="1200" kern="1200" dirty="0">
                <a:solidFill>
                  <a:schemeClr val="tx1"/>
                </a:solidFill>
                <a:effectLst/>
                <a:latin typeface="Arial" panose="020B0604020202020204" pitchFamily="34" charset="0"/>
                <a:ea typeface="+mn-ea"/>
                <a:cs typeface="Arial" panose="020B0604020202020204" pitchFamily="34" charset="0"/>
              </a:rPr>
              <a:t>where to use them. This is true both in terms of physical placement (e.g., at what</a:t>
            </a:r>
            <a:r>
              <a:rPr lang="en-US" sz="1200" kern="1200" baseline="0" dirty="0">
                <a:solidFill>
                  <a:schemeClr val="tx1"/>
                </a:solidFill>
                <a:effectLst/>
                <a:latin typeface="Arial" panose="020B0604020202020204" pitchFamily="34" charset="0"/>
                <a:ea typeface="+mn-ea"/>
                <a:cs typeface="Arial" panose="020B0604020202020204" pitchFamily="34" charset="0"/>
              </a:rPr>
              <a:t> </a:t>
            </a:r>
            <a:r>
              <a:rPr lang="en-US" sz="1200" kern="1200" dirty="0">
                <a:solidFill>
                  <a:schemeClr val="tx1"/>
                </a:solidFill>
                <a:effectLst/>
                <a:latin typeface="Arial" panose="020B0604020202020204" pitchFamily="34" charset="0"/>
                <a:ea typeface="+mn-ea"/>
                <a:cs typeface="Arial" panose="020B0604020202020204" pitchFamily="34" charset="0"/>
              </a:rPr>
              <a:t>points in a network are certain security mechanisms needed) and in a logical sense</a:t>
            </a:r>
            <a:r>
              <a:rPr lang="en-US" sz="1200" kern="1200" baseline="0" dirty="0">
                <a:solidFill>
                  <a:schemeClr val="tx1"/>
                </a:solidFill>
                <a:effectLst/>
                <a:latin typeface="Arial" panose="020B0604020202020204" pitchFamily="34" charset="0"/>
                <a:ea typeface="+mn-ea"/>
                <a:cs typeface="Arial" panose="020B0604020202020204" pitchFamily="34" charset="0"/>
              </a:rPr>
              <a:t> </a:t>
            </a:r>
            <a:r>
              <a:rPr lang="en-US" sz="1200" kern="1200" dirty="0">
                <a:solidFill>
                  <a:schemeClr val="tx1"/>
                </a:solidFill>
                <a:effectLst/>
                <a:latin typeface="Arial" panose="020B0604020202020204" pitchFamily="34" charset="0"/>
                <a:ea typeface="+mn-ea"/>
                <a:cs typeface="Arial" panose="020B0604020202020204" pitchFamily="34" charset="0"/>
              </a:rPr>
              <a:t>(e.g., at what layer or layers of an architecture such as T C P/I P [Transmission Control Protocol/Internet Protocol] should mechanisms be placed).</a:t>
            </a:r>
          </a:p>
          <a:p>
            <a:endParaRPr lang="en-US" sz="1200" kern="1200" dirty="0">
              <a:solidFill>
                <a:schemeClr val="tx1"/>
              </a:solidFill>
              <a:effectLst/>
              <a:latin typeface="Arial" panose="020B0604020202020204" pitchFamily="34" charset="0"/>
              <a:ea typeface="+mn-ea"/>
              <a:cs typeface="Arial" panose="020B0604020202020204" pitchFamily="34" charset="0"/>
            </a:endParaRPr>
          </a:p>
          <a:p>
            <a:r>
              <a:rPr lang="en-US" sz="1200" kern="1200" dirty="0">
                <a:solidFill>
                  <a:schemeClr val="tx1"/>
                </a:solidFill>
                <a:effectLst/>
                <a:latin typeface="Arial" panose="020B0604020202020204" pitchFamily="34" charset="0"/>
                <a:ea typeface="+mn-ea"/>
                <a:cs typeface="Arial" panose="020B0604020202020204" pitchFamily="34" charset="0"/>
              </a:rPr>
              <a:t> 5. Security mechanisms typically involve more than a particular algorithm or protocol.</a:t>
            </a:r>
            <a:r>
              <a:rPr lang="en-US" sz="1200" kern="1200" baseline="0" dirty="0">
                <a:solidFill>
                  <a:schemeClr val="tx1"/>
                </a:solidFill>
                <a:effectLst/>
                <a:latin typeface="Arial" panose="020B0604020202020204" pitchFamily="34" charset="0"/>
                <a:ea typeface="+mn-ea"/>
                <a:cs typeface="Arial" panose="020B0604020202020204" pitchFamily="34" charset="0"/>
              </a:rPr>
              <a:t> </a:t>
            </a:r>
            <a:r>
              <a:rPr lang="en-US" sz="1200" kern="1200" dirty="0">
                <a:solidFill>
                  <a:schemeClr val="tx1"/>
                </a:solidFill>
                <a:effectLst/>
                <a:latin typeface="Arial" panose="020B0604020202020204" pitchFamily="34" charset="0"/>
                <a:ea typeface="+mn-ea"/>
                <a:cs typeface="Arial" panose="020B0604020202020204" pitchFamily="34" charset="0"/>
              </a:rPr>
              <a:t>They also require that participants possess some secret information (e.g., an encryption key), which raises questions about the creation, distribution, and protection of</a:t>
            </a:r>
            <a:r>
              <a:rPr lang="en-US" sz="1200" kern="1200" baseline="0" dirty="0">
                <a:solidFill>
                  <a:schemeClr val="tx1"/>
                </a:solidFill>
                <a:effectLst/>
                <a:latin typeface="Arial" panose="020B0604020202020204" pitchFamily="34" charset="0"/>
                <a:ea typeface="+mn-ea"/>
                <a:cs typeface="Arial" panose="020B0604020202020204" pitchFamily="34" charset="0"/>
              </a:rPr>
              <a:t> </a:t>
            </a:r>
            <a:r>
              <a:rPr lang="en-US" sz="1200" kern="1200" dirty="0">
                <a:solidFill>
                  <a:schemeClr val="tx1"/>
                </a:solidFill>
                <a:effectLst/>
                <a:latin typeface="Arial" panose="020B0604020202020204" pitchFamily="34" charset="0"/>
                <a:ea typeface="+mn-ea"/>
                <a:cs typeface="Arial" panose="020B0604020202020204" pitchFamily="34" charset="0"/>
              </a:rPr>
              <a:t>that secret information. There may also be a reliance on communications protocols whose behavior may complicate the task of developing the security mechanism.</a:t>
            </a:r>
            <a:r>
              <a:rPr lang="en-US" sz="1200" kern="1200" baseline="0" dirty="0">
                <a:solidFill>
                  <a:schemeClr val="tx1"/>
                </a:solidFill>
                <a:effectLst/>
                <a:latin typeface="Arial" panose="020B0604020202020204" pitchFamily="34" charset="0"/>
                <a:ea typeface="+mn-ea"/>
                <a:cs typeface="Arial" panose="020B0604020202020204" pitchFamily="34" charset="0"/>
              </a:rPr>
              <a:t> </a:t>
            </a:r>
            <a:r>
              <a:rPr lang="en-US" sz="1200" kern="1200" dirty="0">
                <a:solidFill>
                  <a:schemeClr val="tx1"/>
                </a:solidFill>
                <a:effectLst/>
                <a:latin typeface="Arial" panose="020B0604020202020204" pitchFamily="34" charset="0"/>
                <a:ea typeface="+mn-ea"/>
                <a:cs typeface="Arial" panose="020B0604020202020204" pitchFamily="34" charset="0"/>
              </a:rPr>
              <a:t>For example, if the proper functioning of the security mechanism requires setting</a:t>
            </a:r>
            <a:r>
              <a:rPr lang="en-US" sz="1200" kern="1200" baseline="0" dirty="0">
                <a:solidFill>
                  <a:schemeClr val="tx1"/>
                </a:solidFill>
                <a:effectLst/>
                <a:latin typeface="Arial" panose="020B0604020202020204" pitchFamily="34" charset="0"/>
                <a:ea typeface="+mn-ea"/>
                <a:cs typeface="Arial" panose="020B0604020202020204" pitchFamily="34" charset="0"/>
              </a:rPr>
              <a:t> </a:t>
            </a:r>
            <a:r>
              <a:rPr lang="en-US" sz="1200" kern="1200" dirty="0">
                <a:solidFill>
                  <a:schemeClr val="tx1"/>
                </a:solidFill>
                <a:effectLst/>
                <a:latin typeface="Arial" panose="020B0604020202020204" pitchFamily="34" charset="0"/>
                <a:ea typeface="+mn-ea"/>
                <a:cs typeface="Arial" panose="020B0604020202020204" pitchFamily="34" charset="0"/>
              </a:rPr>
              <a:t>time limits on the transit time of a message from sender to receiver, then any protocol or network that introduces variable, unpredictable delays may render such</a:t>
            </a:r>
            <a:r>
              <a:rPr lang="en-US" sz="1200" kern="1200" baseline="0" dirty="0">
                <a:solidFill>
                  <a:schemeClr val="tx1"/>
                </a:solidFill>
                <a:effectLst/>
                <a:latin typeface="Arial" panose="020B0604020202020204" pitchFamily="34" charset="0"/>
                <a:ea typeface="+mn-ea"/>
                <a:cs typeface="Arial" panose="020B0604020202020204" pitchFamily="34" charset="0"/>
              </a:rPr>
              <a:t> </a:t>
            </a:r>
            <a:r>
              <a:rPr lang="en-US" sz="1200" kern="1200" dirty="0">
                <a:solidFill>
                  <a:schemeClr val="tx1"/>
                </a:solidFill>
                <a:effectLst/>
                <a:latin typeface="Arial" panose="020B0604020202020204" pitchFamily="34" charset="0"/>
                <a:ea typeface="+mn-ea"/>
                <a:cs typeface="Arial" panose="020B0604020202020204" pitchFamily="34" charset="0"/>
              </a:rPr>
              <a:t>time limits meaningless.</a:t>
            </a:r>
          </a:p>
          <a:p>
            <a:endParaRPr lang="en-US" sz="1200" kern="1200" dirty="0">
              <a:solidFill>
                <a:schemeClr val="tx1"/>
              </a:solidFill>
              <a:effectLst/>
              <a:latin typeface="Arial" panose="020B0604020202020204" pitchFamily="34" charset="0"/>
              <a:ea typeface="+mn-ea"/>
              <a:cs typeface="Arial" panose="020B0604020202020204" pitchFamily="34" charset="0"/>
            </a:endParaRPr>
          </a:p>
          <a:p>
            <a:r>
              <a:rPr lang="en-US" sz="1200" kern="1200" dirty="0">
                <a:solidFill>
                  <a:schemeClr val="tx1"/>
                </a:solidFill>
                <a:effectLst/>
                <a:latin typeface="Arial" panose="020B0604020202020204" pitchFamily="34" charset="0"/>
                <a:ea typeface="+mn-ea"/>
                <a:cs typeface="Arial" panose="020B0604020202020204" pitchFamily="34" charset="0"/>
              </a:rPr>
              <a:t>6. Computer security is essentially a battle of wits between a perpetrator who tries</a:t>
            </a:r>
            <a:r>
              <a:rPr lang="en-US" sz="1200" kern="1200" baseline="0" dirty="0">
                <a:solidFill>
                  <a:schemeClr val="tx1"/>
                </a:solidFill>
                <a:effectLst/>
                <a:latin typeface="Arial" panose="020B0604020202020204" pitchFamily="34" charset="0"/>
                <a:ea typeface="+mn-ea"/>
                <a:cs typeface="Arial" panose="020B0604020202020204" pitchFamily="34" charset="0"/>
              </a:rPr>
              <a:t> </a:t>
            </a:r>
            <a:r>
              <a:rPr lang="en-US" sz="1200" kern="1200" dirty="0">
                <a:solidFill>
                  <a:schemeClr val="tx1"/>
                </a:solidFill>
                <a:effectLst/>
                <a:latin typeface="Arial" panose="020B0604020202020204" pitchFamily="34" charset="0"/>
                <a:ea typeface="+mn-ea"/>
                <a:cs typeface="Arial" panose="020B0604020202020204" pitchFamily="34" charset="0"/>
              </a:rPr>
              <a:t>to find holes and the designer or administrator who tries to close them. The great</a:t>
            </a:r>
            <a:r>
              <a:rPr lang="en-US" sz="1200" kern="1200" baseline="0" dirty="0">
                <a:solidFill>
                  <a:schemeClr val="tx1"/>
                </a:solidFill>
                <a:effectLst/>
                <a:latin typeface="Arial" panose="020B0604020202020204" pitchFamily="34" charset="0"/>
                <a:ea typeface="+mn-ea"/>
                <a:cs typeface="Arial" panose="020B0604020202020204" pitchFamily="34" charset="0"/>
              </a:rPr>
              <a:t> </a:t>
            </a:r>
            <a:r>
              <a:rPr lang="en-US" sz="1200" kern="1200" dirty="0">
                <a:solidFill>
                  <a:schemeClr val="tx1"/>
                </a:solidFill>
                <a:effectLst/>
                <a:latin typeface="Arial" panose="020B0604020202020204" pitchFamily="34" charset="0"/>
                <a:ea typeface="+mn-ea"/>
                <a:cs typeface="Arial" panose="020B0604020202020204" pitchFamily="34" charset="0"/>
              </a:rPr>
              <a:t>advantage that the attacker has is that they need only find a single weakness,</a:t>
            </a:r>
            <a:r>
              <a:rPr lang="en-US" sz="1200" kern="1200" baseline="0" dirty="0">
                <a:solidFill>
                  <a:schemeClr val="tx1"/>
                </a:solidFill>
                <a:effectLst/>
                <a:latin typeface="Arial" panose="020B0604020202020204" pitchFamily="34" charset="0"/>
                <a:ea typeface="+mn-ea"/>
                <a:cs typeface="Arial" panose="020B0604020202020204" pitchFamily="34" charset="0"/>
              </a:rPr>
              <a:t> </a:t>
            </a:r>
            <a:r>
              <a:rPr lang="en-US" sz="1200" kern="1200" dirty="0">
                <a:solidFill>
                  <a:schemeClr val="tx1"/>
                </a:solidFill>
                <a:effectLst/>
                <a:latin typeface="Arial" panose="020B0604020202020204" pitchFamily="34" charset="0"/>
                <a:ea typeface="+mn-ea"/>
                <a:cs typeface="Arial" panose="020B0604020202020204" pitchFamily="34" charset="0"/>
              </a:rPr>
              <a:t>while the designer must find and eliminate all weaknesses to achieve perfect</a:t>
            </a:r>
            <a:r>
              <a:rPr lang="en-US" sz="1200" kern="1200" baseline="0" dirty="0">
                <a:solidFill>
                  <a:schemeClr val="tx1"/>
                </a:solidFill>
                <a:effectLst/>
                <a:latin typeface="Arial" panose="020B0604020202020204" pitchFamily="34" charset="0"/>
                <a:ea typeface="+mn-ea"/>
                <a:cs typeface="Arial" panose="020B0604020202020204" pitchFamily="34" charset="0"/>
              </a:rPr>
              <a:t> </a:t>
            </a:r>
            <a:r>
              <a:rPr lang="en-US" sz="1200" kern="1200" dirty="0">
                <a:solidFill>
                  <a:schemeClr val="tx1"/>
                </a:solidFill>
                <a:effectLst/>
                <a:latin typeface="Arial" panose="020B0604020202020204" pitchFamily="34" charset="0"/>
                <a:ea typeface="+mn-ea"/>
                <a:cs typeface="Arial" panose="020B0604020202020204" pitchFamily="34" charset="0"/>
              </a:rPr>
              <a:t>security.</a:t>
            </a:r>
          </a:p>
          <a:p>
            <a:endParaRPr lang="en-US" sz="1200" kern="1200" dirty="0">
              <a:solidFill>
                <a:schemeClr val="tx1"/>
              </a:solidFill>
              <a:effectLst/>
              <a:latin typeface="Arial" panose="020B0604020202020204" pitchFamily="34" charset="0"/>
              <a:ea typeface="+mn-ea"/>
              <a:cs typeface="Arial" panose="020B0604020202020204" pitchFamily="34" charset="0"/>
            </a:endParaRPr>
          </a:p>
          <a:p>
            <a:r>
              <a:rPr lang="en-US" sz="1200" kern="1200" dirty="0">
                <a:solidFill>
                  <a:schemeClr val="tx1"/>
                </a:solidFill>
                <a:effectLst/>
                <a:latin typeface="Arial" panose="020B0604020202020204" pitchFamily="34" charset="0"/>
                <a:ea typeface="+mn-ea"/>
                <a:cs typeface="Arial" panose="020B0604020202020204" pitchFamily="34" charset="0"/>
              </a:rPr>
              <a:t>7. There is a natural tendency on the part of users and system managers to perceive little benefit from security investment until a security failure occurs.</a:t>
            </a:r>
          </a:p>
          <a:p>
            <a:endParaRPr lang="en-US" sz="1200" kern="1200" dirty="0">
              <a:solidFill>
                <a:schemeClr val="tx1"/>
              </a:solidFill>
              <a:effectLst/>
              <a:latin typeface="Arial" panose="020B0604020202020204" pitchFamily="34" charset="0"/>
              <a:ea typeface="+mn-ea"/>
              <a:cs typeface="Arial" panose="020B0604020202020204" pitchFamily="34" charset="0"/>
            </a:endParaRPr>
          </a:p>
          <a:p>
            <a:r>
              <a:rPr lang="en-US" sz="1200" kern="1200" dirty="0">
                <a:solidFill>
                  <a:schemeClr val="tx1"/>
                </a:solidFill>
                <a:effectLst/>
                <a:latin typeface="Arial" panose="020B0604020202020204" pitchFamily="34" charset="0"/>
                <a:ea typeface="+mn-ea"/>
                <a:cs typeface="Arial" panose="020B0604020202020204" pitchFamily="34" charset="0"/>
              </a:rPr>
              <a:t>8. Security requires regular, even constant, monitoring, and this is difficult in today’s</a:t>
            </a:r>
            <a:r>
              <a:rPr lang="en-US" sz="1200" kern="1200" baseline="0" dirty="0">
                <a:solidFill>
                  <a:schemeClr val="tx1"/>
                </a:solidFill>
                <a:effectLst/>
                <a:latin typeface="Arial" panose="020B0604020202020204" pitchFamily="34" charset="0"/>
                <a:ea typeface="+mn-ea"/>
                <a:cs typeface="Arial" panose="020B0604020202020204" pitchFamily="34" charset="0"/>
              </a:rPr>
              <a:t> </a:t>
            </a:r>
            <a:r>
              <a:rPr lang="en-US" sz="1200" kern="1200" dirty="0">
                <a:solidFill>
                  <a:schemeClr val="tx1"/>
                </a:solidFill>
                <a:effectLst/>
                <a:latin typeface="Arial" panose="020B0604020202020204" pitchFamily="34" charset="0"/>
                <a:ea typeface="+mn-ea"/>
                <a:cs typeface="Arial" panose="020B0604020202020204" pitchFamily="34" charset="0"/>
              </a:rPr>
              <a:t>short-term, overloaded environment.</a:t>
            </a:r>
          </a:p>
          <a:p>
            <a:endParaRPr lang="en-US" sz="1200" kern="1200" dirty="0">
              <a:solidFill>
                <a:schemeClr val="tx1"/>
              </a:solidFill>
              <a:effectLst/>
              <a:latin typeface="Arial" panose="020B0604020202020204" pitchFamily="34" charset="0"/>
              <a:ea typeface="+mn-ea"/>
              <a:cs typeface="Arial" panose="020B0604020202020204" pitchFamily="34" charset="0"/>
            </a:endParaRPr>
          </a:p>
          <a:p>
            <a:r>
              <a:rPr lang="en-US" sz="1200" kern="1200" dirty="0">
                <a:solidFill>
                  <a:schemeClr val="tx1"/>
                </a:solidFill>
                <a:effectLst/>
                <a:latin typeface="Arial" panose="020B0604020202020204" pitchFamily="34" charset="0"/>
                <a:ea typeface="+mn-ea"/>
                <a:cs typeface="Arial" panose="020B0604020202020204" pitchFamily="34" charset="0"/>
              </a:rPr>
              <a:t>9. Security is still too often an afterthought and is incorporated into a system after</a:t>
            </a:r>
            <a:r>
              <a:rPr lang="en-US" sz="1200" kern="1200" baseline="0" dirty="0">
                <a:solidFill>
                  <a:schemeClr val="tx1"/>
                </a:solidFill>
                <a:effectLst/>
                <a:latin typeface="Arial" panose="020B0604020202020204" pitchFamily="34" charset="0"/>
                <a:ea typeface="+mn-ea"/>
                <a:cs typeface="Arial" panose="020B0604020202020204" pitchFamily="34" charset="0"/>
              </a:rPr>
              <a:t> </a:t>
            </a:r>
            <a:r>
              <a:rPr lang="en-US" sz="1200" kern="1200" dirty="0">
                <a:solidFill>
                  <a:schemeClr val="tx1"/>
                </a:solidFill>
                <a:effectLst/>
                <a:latin typeface="Arial" panose="020B0604020202020204" pitchFamily="34" charset="0"/>
                <a:ea typeface="+mn-ea"/>
                <a:cs typeface="Arial" panose="020B0604020202020204" pitchFamily="34" charset="0"/>
              </a:rPr>
              <a:t>the design is complete, rather than being an integral part of the design process.</a:t>
            </a:r>
          </a:p>
          <a:p>
            <a:endParaRPr lang="en-US" sz="1200" kern="1200" dirty="0">
              <a:solidFill>
                <a:schemeClr val="tx1"/>
              </a:solidFill>
              <a:effectLst/>
              <a:latin typeface="Arial" panose="020B0604020202020204" pitchFamily="34" charset="0"/>
              <a:ea typeface="+mn-ea"/>
              <a:cs typeface="Arial" panose="020B0604020202020204" pitchFamily="34" charset="0"/>
            </a:endParaRPr>
          </a:p>
          <a:p>
            <a:r>
              <a:rPr lang="en-US" sz="1200" kern="1200" dirty="0">
                <a:solidFill>
                  <a:schemeClr val="tx1"/>
                </a:solidFill>
                <a:effectLst/>
                <a:latin typeface="Arial" panose="020B0604020202020204" pitchFamily="34" charset="0"/>
                <a:ea typeface="+mn-ea"/>
                <a:cs typeface="Arial" panose="020B0604020202020204" pitchFamily="34" charset="0"/>
              </a:rPr>
              <a:t>10. Many users and even security administrators view strong security as an impediment to efficient and user-friendly operation of an information system or use</a:t>
            </a:r>
            <a:r>
              <a:rPr lang="en-US" sz="1200" kern="1200" baseline="0" dirty="0">
                <a:solidFill>
                  <a:schemeClr val="tx1"/>
                </a:solidFill>
                <a:effectLst/>
                <a:latin typeface="Arial" panose="020B0604020202020204" pitchFamily="34" charset="0"/>
                <a:ea typeface="+mn-ea"/>
                <a:cs typeface="Arial" panose="020B0604020202020204" pitchFamily="34" charset="0"/>
              </a:rPr>
              <a:t> </a:t>
            </a:r>
            <a:r>
              <a:rPr lang="en-US" sz="1200" kern="1200" dirty="0">
                <a:solidFill>
                  <a:schemeClr val="tx1"/>
                </a:solidFill>
                <a:effectLst/>
                <a:latin typeface="Arial" panose="020B0604020202020204" pitchFamily="34" charset="0"/>
                <a:ea typeface="+mn-ea"/>
                <a:cs typeface="Arial" panose="020B0604020202020204" pitchFamily="34" charset="0"/>
              </a:rPr>
              <a:t>of information.</a:t>
            </a: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163081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569374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969873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0" kern="1200" baseline="0" dirty="0">
                <a:solidFill>
                  <a:schemeClr val="tx1"/>
                </a:solidFill>
                <a:latin typeface="Arial" pitchFamily="-107" charset="0"/>
                <a:ea typeface="+mn-ea"/>
                <a:cs typeface="+mn-cs"/>
              </a:rPr>
              <a:t>We now introduce some terminology that will be useful throughout the book. Table 1.1 defines terms.</a:t>
            </a:r>
            <a:endParaRPr lang="en-US" i="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901483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kern="1200" baseline="0" dirty="0">
                <a:solidFill>
                  <a:schemeClr val="tx1"/>
                </a:solidFill>
                <a:latin typeface="Arial" pitchFamily="-107" charset="0"/>
                <a:ea typeface="+mn-ea"/>
                <a:cs typeface="+mn-cs"/>
              </a:rPr>
              <a:t>The security policy defines how IT assets are protected by describing threats and how they will be countered, such as by enforcing complex password requirements.</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74966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pitchFamily="-107" charset="0"/>
                <a:ea typeface="+mn-ea"/>
                <a:cs typeface="+mn-cs"/>
              </a:rPr>
              <a:t> Figure 1.2, based on [C </a:t>
            </a:r>
            <a:r>
              <a:rPr lang="en-US" sz="1200" b="0" i="0" u="none" strike="noStrike" kern="1200" baseline="0" dirty="0" err="1">
                <a:solidFill>
                  <a:schemeClr val="tx1"/>
                </a:solidFill>
                <a:latin typeface="Arial" pitchFamily="-107" charset="0"/>
                <a:ea typeface="+mn-ea"/>
                <a:cs typeface="+mn-cs"/>
              </a:rPr>
              <a:t>C</a:t>
            </a:r>
            <a:r>
              <a:rPr lang="en-US" sz="1200" b="0" i="0" u="none" strike="noStrike" kern="1200" baseline="0" dirty="0">
                <a:solidFill>
                  <a:schemeClr val="tx1"/>
                </a:solidFill>
                <a:latin typeface="Arial" pitchFamily="-107" charset="0"/>
                <a:ea typeface="+mn-ea"/>
                <a:cs typeface="+mn-cs"/>
              </a:rPr>
              <a:t> P S12a], shows the relationship among some of these terms.</a:t>
            </a:r>
          </a:p>
          <a:p>
            <a:endParaRPr lang="en-US" sz="1200" b="0" i="0" u="none" strike="noStrike" kern="1200" baseline="0" dirty="0">
              <a:solidFill>
                <a:schemeClr val="tx1"/>
              </a:solidFill>
              <a:latin typeface="Arial" pitchFamily="-107" charset="0"/>
              <a:ea typeface="+mn-ea"/>
              <a:cs typeface="+mn-cs"/>
            </a:endParaRPr>
          </a:p>
          <a:p>
            <a:r>
              <a:rPr lang="en-US" sz="1200" b="0" i="0" u="none" strike="noStrike" kern="1200" baseline="0" dirty="0">
                <a:solidFill>
                  <a:schemeClr val="tx1"/>
                </a:solidFill>
                <a:latin typeface="Arial" pitchFamily="-107" charset="0"/>
                <a:ea typeface="+mn-ea"/>
                <a:cs typeface="+mn-cs"/>
              </a:rPr>
              <a:t> We start with the concept of a system resource or asset that users and owners wish to protect.</a:t>
            </a:r>
          </a:p>
          <a:p>
            <a:r>
              <a:rPr lang="en-US" sz="1200" b="0" i="0" u="none" strike="noStrike" kern="1200" baseline="0" dirty="0">
                <a:solidFill>
                  <a:schemeClr val="tx1"/>
                </a:solidFill>
                <a:latin typeface="Arial" pitchFamily="-107" charset="0"/>
                <a:ea typeface="+mn-ea"/>
                <a:cs typeface="+mn-cs"/>
              </a:rPr>
              <a:t>
</a:t>
            </a:r>
            <a:r>
              <a:rPr lang="en-US" dirty="0"/>
              <a:t>Long Description:</a:t>
            </a:r>
          </a:p>
          <a:p>
            <a:r>
              <a:rPr lang="en-US" dirty="0"/>
              <a:t>The flowchart can be seen in two parts. The first part describes the interrelation between owners, countermeasures, risk, and assets while the second part describes the interrelation between threat agents, assets, and threats. The first part of the chart can be described as follows. The owners value the assets, and, as a result, they wish to minimize risk to those assets. As a result, owners impose countermeasures to reduce the risk associated with threats to security. The second part of the chart can be described as follows. Threat agents give rise to threats that increase the risk to assets because they wish to abuse and or may damage assets.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489614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pitchFamily="-107" charset="0"/>
                <a:ea typeface="+mn-ea"/>
                <a:cs typeface="+mn-cs"/>
              </a:rPr>
              <a:t> The assets of a computer system can be categorized as follows:</a:t>
            </a:r>
          </a:p>
          <a:p>
            <a:endParaRPr lang="en-US" sz="1200" b="0" i="0" u="none" strike="noStrike" kern="1200" baseline="0" dirty="0">
              <a:solidFill>
                <a:schemeClr val="tx1"/>
              </a:solidFill>
              <a:latin typeface="Arial" pitchFamily="-107" charset="0"/>
              <a:ea typeface="+mn-ea"/>
              <a:cs typeface="+mn-cs"/>
            </a:endParaRPr>
          </a:p>
          <a:p>
            <a:r>
              <a:rPr lang="en-US" sz="1200" b="0" i="0" u="none" strike="noStrike" kern="1200" baseline="0" dirty="0">
                <a:solidFill>
                  <a:schemeClr val="tx1"/>
                </a:solidFill>
                <a:latin typeface="Arial" pitchFamily="-107" charset="0"/>
                <a:ea typeface="+mn-ea"/>
                <a:cs typeface="+mn-cs"/>
              </a:rPr>
              <a:t>• Hardware: Including computer systems and other data processing, data storage, and data communications devices</a:t>
            </a:r>
          </a:p>
          <a:p>
            <a:endParaRPr lang="en-US" sz="1200" b="0" i="0" u="none" strike="noStrike" kern="1200" baseline="0" dirty="0">
              <a:solidFill>
                <a:schemeClr val="tx1"/>
              </a:solidFill>
              <a:latin typeface="Arial" pitchFamily="-107" charset="0"/>
              <a:ea typeface="+mn-ea"/>
              <a:cs typeface="+mn-cs"/>
            </a:endParaRPr>
          </a:p>
          <a:p>
            <a:r>
              <a:rPr lang="en-US" sz="1200" b="0" i="0" u="none" strike="noStrike" kern="1200" baseline="0" dirty="0">
                <a:solidFill>
                  <a:schemeClr val="tx1"/>
                </a:solidFill>
                <a:latin typeface="Arial" pitchFamily="-107" charset="0"/>
                <a:ea typeface="+mn-ea"/>
                <a:cs typeface="+mn-cs"/>
              </a:rPr>
              <a:t>• Software: Including the operating system, system utilities, and applications.</a:t>
            </a:r>
          </a:p>
          <a:p>
            <a:endParaRPr lang="en-US" sz="1200" b="0" i="0" u="none" strike="noStrike" kern="1200" baseline="0" dirty="0">
              <a:solidFill>
                <a:schemeClr val="tx1"/>
              </a:solidFill>
              <a:latin typeface="Arial" pitchFamily="-107" charset="0"/>
              <a:ea typeface="+mn-ea"/>
              <a:cs typeface="+mn-cs"/>
            </a:endParaRPr>
          </a:p>
          <a:p>
            <a:r>
              <a:rPr lang="en-US" sz="1200" b="0" i="0" u="none" strike="noStrike" kern="1200" baseline="0" dirty="0">
                <a:solidFill>
                  <a:schemeClr val="tx1"/>
                </a:solidFill>
                <a:latin typeface="Arial" pitchFamily="-107" charset="0"/>
                <a:ea typeface="+mn-ea"/>
                <a:cs typeface="+mn-cs"/>
              </a:rPr>
              <a:t>• Data: Including files and databases, as well as security-related data, such as password files.</a:t>
            </a:r>
          </a:p>
          <a:p>
            <a:endParaRPr lang="en-US" sz="1200" b="0" i="0" u="none" strike="noStrike" kern="1200" baseline="0" dirty="0">
              <a:solidFill>
                <a:schemeClr val="tx1"/>
              </a:solidFill>
              <a:latin typeface="Arial" pitchFamily="-107" charset="0"/>
              <a:ea typeface="+mn-ea"/>
              <a:cs typeface="+mn-cs"/>
            </a:endParaRPr>
          </a:p>
          <a:p>
            <a:r>
              <a:rPr lang="en-US" sz="1200" b="0" i="0" u="none" strike="noStrike" kern="1200" baseline="0" dirty="0">
                <a:solidFill>
                  <a:schemeClr val="tx1"/>
                </a:solidFill>
                <a:latin typeface="Arial" pitchFamily="-107" charset="0"/>
                <a:ea typeface="+mn-ea"/>
                <a:cs typeface="+mn-cs"/>
              </a:rPr>
              <a:t>• Communication facilities and networks: Local and wide area network communication links, bridges, routers, and so on.</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584236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baseline="0" dirty="0">
                <a:solidFill>
                  <a:schemeClr val="tx1"/>
                </a:solidFill>
                <a:latin typeface="Arial" pitchFamily="-107" charset="0"/>
                <a:ea typeface="+mn-ea"/>
                <a:cs typeface="+mn-cs"/>
              </a:rPr>
              <a:t>In the context of security, our concern is with the vulnerabilities of system resources. [N R C02] lists the following general categories of vulnerabilities of a computer system or network asset:</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The </a:t>
            </a:r>
            <a:r>
              <a:rPr lang="en-US" sz="1200" kern="1200" dirty="0">
                <a:solidFill>
                  <a:schemeClr val="tx1"/>
                </a:solidFill>
                <a:effectLst/>
                <a:latin typeface="Arial" pitchFamily="-107" charset="0"/>
                <a:ea typeface="+mn-ea"/>
                <a:cs typeface="+mn-cs"/>
              </a:rPr>
              <a:t>system can be corrupted so that it does the wrong thing or gives wrong answers. For example, stored data values may differ from what they should be because they have been improperly modified.</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The system can become leaky. For example, someone who should not have access to some or all of the information available through the network obtains such access.</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The system can become unavailable or very slow. That is, using the system or network becomes impossible or impractical.</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These three general types of vulnerability correspond to the concepts of integrity, confidentiality, and availability, enumerated earlier in this section.</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Corresponding to the various types of vulnerabilities of a system resource are </a:t>
            </a:r>
            <a:r>
              <a:rPr lang="en-US" sz="1200" b="1" kern="1200" baseline="0" dirty="0">
                <a:solidFill>
                  <a:schemeClr val="tx1"/>
                </a:solidFill>
                <a:latin typeface="Arial" pitchFamily="-107" charset="0"/>
                <a:ea typeface="+mn-ea"/>
                <a:cs typeface="+mn-cs"/>
              </a:rPr>
              <a:t>threats</a:t>
            </a:r>
            <a:r>
              <a:rPr lang="en-US" sz="1200" b="0" kern="1200" baseline="0" dirty="0">
                <a:solidFill>
                  <a:schemeClr val="tx1"/>
                </a:solidFill>
                <a:latin typeface="Arial" pitchFamily="-107" charset="0"/>
                <a:ea typeface="+mn-ea"/>
                <a:cs typeface="+mn-cs"/>
              </a:rPr>
              <a:t> that are capable of exploiting those vulnerabilities. A threat represents a potential security harm to an asset. An </a:t>
            </a:r>
            <a:r>
              <a:rPr lang="en-US" sz="1200" b="1" kern="1200" baseline="0" dirty="0">
                <a:solidFill>
                  <a:schemeClr val="tx1"/>
                </a:solidFill>
                <a:latin typeface="Arial" pitchFamily="-107" charset="0"/>
                <a:ea typeface="+mn-ea"/>
                <a:cs typeface="+mn-cs"/>
              </a:rPr>
              <a:t>attack</a:t>
            </a:r>
            <a:r>
              <a:rPr lang="en-US" sz="1200" b="0" kern="1200" baseline="0" dirty="0">
                <a:solidFill>
                  <a:schemeClr val="tx1"/>
                </a:solidFill>
                <a:latin typeface="Arial" pitchFamily="-107" charset="0"/>
                <a:ea typeface="+mn-ea"/>
                <a:cs typeface="+mn-cs"/>
              </a:rPr>
              <a:t> is a threat that is carried out (threat action) and, if successful, leads to an undesirable violation of security, or threat consequence. The agent carrying out the attack is referred to as an attacker, or </a:t>
            </a:r>
            <a:r>
              <a:rPr lang="en-US" sz="1200" b="1" kern="1200" baseline="0" dirty="0">
                <a:solidFill>
                  <a:schemeClr val="tx1"/>
                </a:solidFill>
                <a:latin typeface="Arial" pitchFamily="-107" charset="0"/>
                <a:ea typeface="+mn-ea"/>
                <a:cs typeface="+mn-cs"/>
              </a:rPr>
              <a:t>threat agent.</a:t>
            </a:r>
            <a:r>
              <a:rPr lang="en-US" sz="1200" b="0" kern="1200" baseline="0" dirty="0">
                <a:solidFill>
                  <a:schemeClr val="tx1"/>
                </a:solidFill>
                <a:latin typeface="Arial" pitchFamily="-107" charset="0"/>
                <a:ea typeface="+mn-ea"/>
                <a:cs typeface="+mn-cs"/>
              </a:rPr>
              <a:t> We can distinguish two types of attacks:</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a:t>
            </a:r>
            <a:r>
              <a:rPr lang="en-US" sz="1200" b="1" kern="1200" baseline="0" dirty="0">
                <a:solidFill>
                  <a:schemeClr val="tx1"/>
                </a:solidFill>
                <a:latin typeface="Arial" pitchFamily="-107" charset="0"/>
                <a:ea typeface="+mn-ea"/>
                <a:cs typeface="+mn-cs"/>
              </a:rPr>
              <a:t>Active attack</a:t>
            </a:r>
            <a:r>
              <a:rPr lang="en-US" sz="1200" b="0" kern="1200" baseline="0" dirty="0">
                <a:solidFill>
                  <a:schemeClr val="tx1"/>
                </a:solidFill>
                <a:latin typeface="Arial" pitchFamily="-107" charset="0"/>
                <a:ea typeface="+mn-ea"/>
                <a:cs typeface="+mn-cs"/>
              </a:rPr>
              <a:t>: An attempt to alter system resources or affect their operation.</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a:t>
            </a:r>
            <a:r>
              <a:rPr lang="en-US" sz="1200" b="1" kern="1200" baseline="0" dirty="0">
                <a:solidFill>
                  <a:schemeClr val="tx1"/>
                </a:solidFill>
                <a:latin typeface="Arial" pitchFamily="-107" charset="0"/>
                <a:ea typeface="+mn-ea"/>
                <a:cs typeface="+mn-cs"/>
              </a:rPr>
              <a:t>Passive attack: </a:t>
            </a:r>
            <a:r>
              <a:rPr lang="en-US" sz="1200" b="0" kern="1200" baseline="0" dirty="0">
                <a:solidFill>
                  <a:schemeClr val="tx1"/>
                </a:solidFill>
                <a:latin typeface="Arial" pitchFamily="-107" charset="0"/>
                <a:ea typeface="+mn-ea"/>
                <a:cs typeface="+mn-cs"/>
              </a:rPr>
              <a:t>An attempt to learn or make use of system information that does not affect system resources.</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We can also classify attacks based on the origin of the attack:</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a:t>
            </a:r>
            <a:r>
              <a:rPr lang="en-US" sz="1200" b="1" kern="1200" baseline="0" dirty="0">
                <a:solidFill>
                  <a:schemeClr val="tx1"/>
                </a:solidFill>
                <a:latin typeface="Arial" pitchFamily="-107" charset="0"/>
                <a:ea typeface="+mn-ea"/>
                <a:cs typeface="+mn-cs"/>
              </a:rPr>
              <a:t>Inside attack</a:t>
            </a:r>
            <a:r>
              <a:rPr lang="en-US" sz="1200" b="0" kern="1200" baseline="0" dirty="0">
                <a:solidFill>
                  <a:schemeClr val="tx1"/>
                </a:solidFill>
                <a:latin typeface="Arial" pitchFamily="-107" charset="0"/>
                <a:ea typeface="+mn-ea"/>
                <a:cs typeface="+mn-cs"/>
              </a:rPr>
              <a:t>: Initiated by an entity inside the security perimeter (an “insider”). The insider is authorized to access system resources but uses them in a way not approved by those who granted the authorization.</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a:t>
            </a:r>
            <a:r>
              <a:rPr lang="en-US" sz="1200" b="1" kern="1200" baseline="0" dirty="0">
                <a:solidFill>
                  <a:schemeClr val="tx1"/>
                </a:solidFill>
                <a:latin typeface="Arial" pitchFamily="-107" charset="0"/>
                <a:ea typeface="+mn-ea"/>
                <a:cs typeface="+mn-cs"/>
              </a:rPr>
              <a:t>Outside attack</a:t>
            </a:r>
            <a:r>
              <a:rPr lang="en-US" sz="1200" b="0" kern="1200" baseline="0" dirty="0">
                <a:solidFill>
                  <a:schemeClr val="tx1"/>
                </a:solidFill>
                <a:latin typeface="Arial" pitchFamily="-107" charset="0"/>
                <a:ea typeface="+mn-ea"/>
                <a:cs typeface="+mn-cs"/>
              </a:rPr>
              <a:t>: Initiated from outside the perimeter by an unauthorized or illegitimate user of the system (an “outsider”). On the Internet, potential outside attackers range from amateur pranksters to organized criminals, international terrorists, and hostile governments.</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388083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baseline="0" dirty="0">
                <a:solidFill>
                  <a:schemeClr val="tx1"/>
                </a:solidFill>
                <a:latin typeface="Arial" pitchFamily="-107" charset="0"/>
                <a:ea typeface="+mn-ea"/>
                <a:cs typeface="+mn-cs"/>
              </a:rPr>
              <a:t>Finally, a countermeasure is any means taken to deal with a security attack. Ideally, a countermeasure can be devised to prevent a particular type of attack from succeeding. When prevention is not possible or fails in some instance, the goal is to detect the attack and then recover from the effects of the attack. A countermeasure may itself introduce new vulnerabilities. In any case, residual vulnerabilities may remain after the imposition of countermeasures. Such vulnerabilities may be exploited by threat agents representing a residual level of risk to the assets. Owners will seek to minimize that risk given other constraints.</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916125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585B399-E414-264B-AC2B-BBCB3C6C6795}" type="slidenum">
              <a:rPr lang="en-AU"/>
              <a:pPr/>
              <a:t>18</a:t>
            </a:fld>
            <a:endParaRPr lang="en-AU" dirty="0"/>
          </a:p>
        </p:txBody>
      </p:sp>
      <p:sp>
        <p:nvSpPr>
          <p:cNvPr id="216066" name="Rectangle 2"/>
          <p:cNvSpPr>
            <a:spLocks noGrp="1" noRot="1" noChangeAspect="1" noChangeArrowheads="1" noTextEdit="1"/>
          </p:cNvSpPr>
          <p:nvPr>
            <p:ph type="sldImg"/>
          </p:nvPr>
        </p:nvSpPr>
        <p:spPr>
          <a:ln/>
        </p:spPr>
      </p:sp>
      <p:sp>
        <p:nvSpPr>
          <p:cNvPr id="216067" name="Rectangle 3"/>
          <p:cNvSpPr>
            <a:spLocks noGrp="1" noChangeArrowheads="1"/>
          </p:cNvSpPr>
          <p:nvPr>
            <p:ph type="body" idx="1"/>
          </p:nvPr>
        </p:nvSpPr>
        <p:spPr/>
        <p:txBody>
          <a:bodyPr/>
          <a:lstStyle/>
          <a:p>
            <a:pPr algn="l"/>
            <a:r>
              <a:rPr lang="en-US" b="1" i="0" dirty="0">
                <a:solidFill>
                  <a:srgbClr val="000000"/>
                </a:solidFill>
                <a:effectLst/>
                <a:latin typeface="Source Sans Pro Web"/>
              </a:rPr>
              <a:t>Source: </a:t>
            </a:r>
            <a:r>
              <a:rPr lang="en-US" dirty="0">
                <a:hlinkClick r:id="rId3"/>
              </a:rPr>
              <a:t>The Five Functions | NIST</a:t>
            </a:r>
            <a:endParaRPr lang="en-US" b="1" i="0" dirty="0">
              <a:solidFill>
                <a:srgbClr val="000000"/>
              </a:solidFill>
              <a:effectLst/>
              <a:latin typeface="Source Sans Pro Web"/>
            </a:endParaRPr>
          </a:p>
          <a:p>
            <a:pPr algn="l"/>
            <a:r>
              <a:rPr lang="en-US" b="1" i="0" dirty="0">
                <a:solidFill>
                  <a:srgbClr val="000000"/>
                </a:solidFill>
                <a:effectLst/>
                <a:latin typeface="Source Sans Pro Web"/>
              </a:rPr>
              <a:t>Introduction to the Functions</a:t>
            </a:r>
          </a:p>
          <a:p>
            <a:pPr algn="l"/>
            <a:endParaRPr lang="en-US" b="1" i="0" dirty="0">
              <a:solidFill>
                <a:srgbClr val="000000"/>
              </a:solidFill>
              <a:effectLst/>
              <a:latin typeface="Source Sans Pro Web"/>
            </a:endParaRPr>
          </a:p>
          <a:p>
            <a:pPr algn="l"/>
            <a:r>
              <a:rPr lang="en-US" b="0" i="0" dirty="0">
                <a:solidFill>
                  <a:srgbClr val="000000"/>
                </a:solidFill>
                <a:effectLst/>
                <a:latin typeface="Source Sans Pro Web"/>
              </a:rPr>
              <a:t>The five Functions included in the Framework Core are:</a:t>
            </a:r>
          </a:p>
          <a:p>
            <a:pPr algn="l">
              <a:buFont typeface="Arial" panose="020B0604020202020204" pitchFamily="34" charset="0"/>
              <a:buChar char="•"/>
            </a:pPr>
            <a:r>
              <a:rPr lang="en-US" b="0" i="0" dirty="0">
                <a:solidFill>
                  <a:srgbClr val="000000"/>
                </a:solidFill>
                <a:effectLst/>
                <a:latin typeface="Source Sans Pro Web"/>
              </a:rPr>
              <a:t>Identify</a:t>
            </a:r>
          </a:p>
          <a:p>
            <a:pPr algn="l">
              <a:buFont typeface="Arial" panose="020B0604020202020204" pitchFamily="34" charset="0"/>
              <a:buChar char="•"/>
            </a:pPr>
            <a:r>
              <a:rPr lang="en-US" b="0" i="0" dirty="0">
                <a:solidFill>
                  <a:srgbClr val="000000"/>
                </a:solidFill>
                <a:effectLst/>
                <a:latin typeface="Source Sans Pro Web"/>
              </a:rPr>
              <a:t>Protect</a:t>
            </a:r>
          </a:p>
          <a:p>
            <a:pPr algn="l">
              <a:buFont typeface="Arial" panose="020B0604020202020204" pitchFamily="34" charset="0"/>
              <a:buChar char="•"/>
            </a:pPr>
            <a:r>
              <a:rPr lang="en-US" b="0" i="0" dirty="0">
                <a:solidFill>
                  <a:srgbClr val="000000"/>
                </a:solidFill>
                <a:effectLst/>
                <a:latin typeface="Source Sans Pro Web"/>
              </a:rPr>
              <a:t>Detect</a:t>
            </a:r>
          </a:p>
          <a:p>
            <a:pPr algn="l">
              <a:buFont typeface="Arial" panose="020B0604020202020204" pitchFamily="34" charset="0"/>
              <a:buChar char="•"/>
            </a:pPr>
            <a:r>
              <a:rPr lang="en-US" b="0" i="0" dirty="0">
                <a:solidFill>
                  <a:srgbClr val="000000"/>
                </a:solidFill>
                <a:effectLst/>
                <a:latin typeface="Source Sans Pro Web"/>
              </a:rPr>
              <a:t>Respond</a:t>
            </a:r>
          </a:p>
          <a:p>
            <a:pPr algn="l">
              <a:buFont typeface="Arial" panose="020B0604020202020204" pitchFamily="34" charset="0"/>
              <a:buChar char="•"/>
            </a:pPr>
            <a:r>
              <a:rPr lang="en-US" b="0" i="0" dirty="0">
                <a:solidFill>
                  <a:srgbClr val="000000"/>
                </a:solidFill>
                <a:effectLst/>
                <a:latin typeface="Source Sans Pro Web"/>
              </a:rPr>
              <a:t>Recover</a:t>
            </a:r>
          </a:p>
          <a:p>
            <a:pPr algn="l">
              <a:buFont typeface="Arial" panose="020B0604020202020204" pitchFamily="34" charset="0"/>
              <a:buChar char="•"/>
            </a:pPr>
            <a:endParaRPr lang="en-US" b="0" i="0" dirty="0">
              <a:solidFill>
                <a:srgbClr val="000000"/>
              </a:solidFill>
              <a:effectLst/>
              <a:latin typeface="Source Sans Pro Web"/>
            </a:endParaRPr>
          </a:p>
          <a:p>
            <a:pPr algn="l"/>
            <a:r>
              <a:rPr lang="en-US" b="0" i="0" dirty="0">
                <a:solidFill>
                  <a:srgbClr val="000000"/>
                </a:solidFill>
                <a:effectLst/>
                <a:latin typeface="Source Sans Pro Web"/>
              </a:rPr>
              <a:t>The Functions are the highest level of abstraction included in the Framework. They act as the backbone of the Framework Core that all other elements are organized around.</a:t>
            </a:r>
          </a:p>
          <a:p>
            <a:pPr algn="l"/>
            <a:r>
              <a:rPr lang="en-US" b="0" i="0" dirty="0">
                <a:solidFill>
                  <a:srgbClr val="000000"/>
                </a:solidFill>
                <a:effectLst/>
                <a:latin typeface="Source Sans Pro Web"/>
              </a:rPr>
              <a:t>These five Functions were selected because they represent the five primary pillars for a successful and holistic cybersecurity program. They aid organizations in easily expressing their management of cybersecurity risk at a high level and enabling risk management decisions.</a:t>
            </a:r>
          </a:p>
          <a:p>
            <a:pPr algn="l"/>
            <a:endParaRPr lang="en-US" b="0" i="0" dirty="0">
              <a:solidFill>
                <a:srgbClr val="000000"/>
              </a:solidFill>
              <a:effectLst/>
              <a:latin typeface="Source Sans Pro Web"/>
            </a:endParaRPr>
          </a:p>
          <a:p>
            <a:pPr algn="l"/>
            <a:r>
              <a:rPr lang="en-US" b="1" i="0" dirty="0">
                <a:solidFill>
                  <a:srgbClr val="000000"/>
                </a:solidFill>
                <a:effectLst/>
                <a:latin typeface="Source Sans Pro Web"/>
              </a:rPr>
              <a:t>Identify</a:t>
            </a:r>
          </a:p>
          <a:p>
            <a:pPr algn="l"/>
            <a:endParaRPr lang="en-US" b="1" i="0" dirty="0">
              <a:solidFill>
                <a:srgbClr val="000000"/>
              </a:solidFill>
              <a:effectLst/>
              <a:latin typeface="Source Sans Pro Web"/>
            </a:endParaRPr>
          </a:p>
          <a:p>
            <a:pPr algn="l"/>
            <a:r>
              <a:rPr lang="en-US" b="0" i="0" dirty="0">
                <a:solidFill>
                  <a:srgbClr val="000000"/>
                </a:solidFill>
                <a:effectLst/>
                <a:latin typeface="Source Sans Pro Web"/>
              </a:rPr>
              <a:t>The Identify Function assists in developing an organizational understanding to managing cybersecurity risk to systems, people, assets, data, and capabilities. Understanding the business context, the resources that support critical functions, and the related cybersecurity risks enables an organization to focus and prioritize its efforts, consistent with its risk management strategy and business needs.</a:t>
            </a:r>
          </a:p>
          <a:p>
            <a:pPr algn="l"/>
            <a:r>
              <a:rPr lang="en-US" b="0" i="0" dirty="0">
                <a:solidFill>
                  <a:srgbClr val="000000"/>
                </a:solidFill>
                <a:effectLst/>
                <a:latin typeface="Source Sans Pro Web"/>
              </a:rPr>
              <a:t>Examples of outcome Categories within this Function include:</a:t>
            </a:r>
          </a:p>
          <a:p>
            <a:pPr algn="l">
              <a:buFont typeface="Arial" panose="020B0604020202020204" pitchFamily="34" charset="0"/>
              <a:buChar char="•"/>
            </a:pPr>
            <a:r>
              <a:rPr lang="en-US" b="0" i="0" dirty="0">
                <a:solidFill>
                  <a:srgbClr val="000000"/>
                </a:solidFill>
                <a:effectLst/>
                <a:latin typeface="Source Sans Pro Web"/>
              </a:rPr>
              <a:t>Identifying physical and software assets within the organization to establish the basis of an Asset Management program</a:t>
            </a:r>
          </a:p>
          <a:p>
            <a:pPr algn="l">
              <a:buFont typeface="Arial" panose="020B0604020202020204" pitchFamily="34" charset="0"/>
              <a:buChar char="•"/>
            </a:pPr>
            <a:r>
              <a:rPr lang="en-US" b="0" i="0" dirty="0">
                <a:solidFill>
                  <a:srgbClr val="000000"/>
                </a:solidFill>
                <a:effectLst/>
                <a:latin typeface="Source Sans Pro Web"/>
              </a:rPr>
              <a:t>Identifying the Business Environment the organization supports including the organization's role in the supply chain, and the organizations place in the critical infrastructure sector</a:t>
            </a:r>
          </a:p>
          <a:p>
            <a:pPr algn="l">
              <a:buFont typeface="Arial" panose="020B0604020202020204" pitchFamily="34" charset="0"/>
              <a:buChar char="•"/>
            </a:pPr>
            <a:r>
              <a:rPr lang="en-US" b="0" i="0" dirty="0">
                <a:solidFill>
                  <a:srgbClr val="000000"/>
                </a:solidFill>
                <a:effectLst/>
                <a:latin typeface="Source Sans Pro Web"/>
              </a:rPr>
              <a:t>Identifying cybersecurity policies established within the organization to define the Governance program as well as identifying legal and regulatory requirements regarding the cybersecurity capabilities of the organization</a:t>
            </a:r>
          </a:p>
          <a:p>
            <a:pPr algn="l">
              <a:buFont typeface="Arial" panose="020B0604020202020204" pitchFamily="34" charset="0"/>
              <a:buChar char="•"/>
            </a:pPr>
            <a:r>
              <a:rPr lang="en-US" b="0" i="0" dirty="0">
                <a:solidFill>
                  <a:srgbClr val="000000"/>
                </a:solidFill>
                <a:effectLst/>
                <a:latin typeface="Source Sans Pro Web"/>
              </a:rPr>
              <a:t>Identifying asset vulnerabilities, threats to internal and external organizational resources, and risk response activities as a basis for the organizations Risk Assessment</a:t>
            </a:r>
          </a:p>
          <a:p>
            <a:pPr algn="l">
              <a:buFont typeface="Arial" panose="020B0604020202020204" pitchFamily="34" charset="0"/>
              <a:buChar char="•"/>
            </a:pPr>
            <a:r>
              <a:rPr lang="en-US" b="0" i="0" dirty="0">
                <a:solidFill>
                  <a:srgbClr val="000000"/>
                </a:solidFill>
                <a:effectLst/>
                <a:latin typeface="Source Sans Pro Web"/>
              </a:rPr>
              <a:t>Identifying a Risk Management Strategy for the organization including establishing risk tolerances</a:t>
            </a:r>
          </a:p>
          <a:p>
            <a:pPr algn="l">
              <a:buFont typeface="Arial" panose="020B0604020202020204" pitchFamily="34" charset="0"/>
              <a:buChar char="•"/>
            </a:pPr>
            <a:r>
              <a:rPr lang="en-US" b="0" i="0" dirty="0">
                <a:solidFill>
                  <a:srgbClr val="000000"/>
                </a:solidFill>
                <a:effectLst/>
                <a:latin typeface="Source Sans Pro Web"/>
              </a:rPr>
              <a:t>Identifying a Supply Chain Risk Management strategy including priorities, constraints, risk tolerances, and assumptions used to support risk decisions associated with managing supply chain risks</a:t>
            </a:r>
          </a:p>
          <a:p>
            <a:pPr algn="l"/>
            <a:endParaRPr lang="en-US" b="1" i="0" dirty="0">
              <a:solidFill>
                <a:srgbClr val="000000"/>
              </a:solidFill>
              <a:effectLst/>
              <a:latin typeface="Source Sans Pro Web"/>
            </a:endParaRPr>
          </a:p>
          <a:p>
            <a:pPr algn="l"/>
            <a:r>
              <a:rPr lang="en-US" b="1" i="0" dirty="0">
                <a:solidFill>
                  <a:srgbClr val="000000"/>
                </a:solidFill>
                <a:effectLst/>
                <a:latin typeface="Source Sans Pro Web"/>
              </a:rPr>
              <a:t>Protect</a:t>
            </a:r>
          </a:p>
          <a:p>
            <a:pPr algn="l"/>
            <a:endParaRPr lang="en-US" b="0" i="0" dirty="0">
              <a:solidFill>
                <a:srgbClr val="000000"/>
              </a:solidFill>
              <a:effectLst/>
              <a:latin typeface="Source Sans Pro Web"/>
            </a:endParaRPr>
          </a:p>
          <a:p>
            <a:pPr algn="l"/>
            <a:r>
              <a:rPr lang="en-US" b="0" i="0" dirty="0">
                <a:solidFill>
                  <a:srgbClr val="000000"/>
                </a:solidFill>
                <a:effectLst/>
                <a:latin typeface="Source Sans Pro Web"/>
              </a:rPr>
              <a:t>The Protect Function outlines appropriate safeguards to ensure delivery of critical infrastructure services. The Protect Function supports the ability to limit or contain the impact of a potential cybersecurity event.</a:t>
            </a:r>
          </a:p>
          <a:p>
            <a:pPr algn="l"/>
            <a:r>
              <a:rPr lang="en-US" b="0" i="0" dirty="0">
                <a:solidFill>
                  <a:srgbClr val="000000"/>
                </a:solidFill>
                <a:effectLst/>
                <a:latin typeface="Source Sans Pro Web"/>
              </a:rPr>
              <a:t>Examples of outcome Categories within this Function include:</a:t>
            </a:r>
          </a:p>
          <a:p>
            <a:pPr algn="l">
              <a:buFont typeface="Arial" panose="020B0604020202020204" pitchFamily="34" charset="0"/>
              <a:buChar char="•"/>
            </a:pPr>
            <a:r>
              <a:rPr lang="en-US" b="0" i="0" dirty="0">
                <a:solidFill>
                  <a:srgbClr val="000000"/>
                </a:solidFill>
                <a:effectLst/>
                <a:latin typeface="Source Sans Pro Web"/>
              </a:rPr>
              <a:t>Protections for Identity Management and Access Control within the organization including physical and remote access</a:t>
            </a:r>
          </a:p>
          <a:p>
            <a:pPr algn="l">
              <a:buFont typeface="Arial" panose="020B0604020202020204" pitchFamily="34" charset="0"/>
              <a:buChar char="•"/>
            </a:pPr>
            <a:r>
              <a:rPr lang="en-US" b="0" i="0" dirty="0">
                <a:solidFill>
                  <a:srgbClr val="000000"/>
                </a:solidFill>
                <a:effectLst/>
                <a:latin typeface="Source Sans Pro Web"/>
              </a:rPr>
              <a:t>Empowering staff within the organization through Awareness and Training including role based and privileged user training</a:t>
            </a:r>
          </a:p>
          <a:p>
            <a:pPr algn="l">
              <a:buFont typeface="Arial" panose="020B0604020202020204" pitchFamily="34" charset="0"/>
              <a:buChar char="•"/>
            </a:pPr>
            <a:r>
              <a:rPr lang="en-US" b="0" i="0" dirty="0">
                <a:solidFill>
                  <a:srgbClr val="000000"/>
                </a:solidFill>
                <a:effectLst/>
                <a:latin typeface="Source Sans Pro Web"/>
              </a:rPr>
              <a:t>Establishing Data Security protection consistent with the organization’s risk strategy to protect the confidentiality, integrity, and availability of information</a:t>
            </a:r>
          </a:p>
          <a:p>
            <a:pPr algn="l">
              <a:buFont typeface="Arial" panose="020B0604020202020204" pitchFamily="34" charset="0"/>
              <a:buChar char="•"/>
            </a:pPr>
            <a:r>
              <a:rPr lang="en-US" b="0" i="0" dirty="0">
                <a:solidFill>
                  <a:srgbClr val="000000"/>
                </a:solidFill>
                <a:effectLst/>
                <a:latin typeface="Source Sans Pro Web"/>
              </a:rPr>
              <a:t>Implementing Information Protection Processes and Procedures to maintain and manage the protections of information systems and assets</a:t>
            </a:r>
          </a:p>
          <a:p>
            <a:pPr algn="l">
              <a:buFont typeface="Arial" panose="020B0604020202020204" pitchFamily="34" charset="0"/>
              <a:buChar char="•"/>
            </a:pPr>
            <a:r>
              <a:rPr lang="en-US" b="0" i="0" dirty="0">
                <a:solidFill>
                  <a:srgbClr val="000000"/>
                </a:solidFill>
                <a:effectLst/>
                <a:latin typeface="Source Sans Pro Web"/>
              </a:rPr>
              <a:t>Protecting organizational resources through Maintenance, including remote maintenance, activities</a:t>
            </a:r>
          </a:p>
          <a:p>
            <a:pPr algn="l">
              <a:buFont typeface="Arial" panose="020B0604020202020204" pitchFamily="34" charset="0"/>
              <a:buChar char="•"/>
            </a:pPr>
            <a:r>
              <a:rPr lang="en-US" b="0" i="0" dirty="0">
                <a:solidFill>
                  <a:srgbClr val="000000"/>
                </a:solidFill>
                <a:effectLst/>
                <a:latin typeface="Source Sans Pro Web"/>
              </a:rPr>
              <a:t>Managing Protective Technology to ensure the security and resilience of systems and assists are consistent with organizational policies, procedures, and agreements</a:t>
            </a:r>
          </a:p>
          <a:p>
            <a:pPr algn="l"/>
            <a:endParaRPr lang="en-US" b="1" i="0" dirty="0">
              <a:solidFill>
                <a:srgbClr val="000000"/>
              </a:solidFill>
              <a:effectLst/>
              <a:latin typeface="Source Sans Pro Web"/>
            </a:endParaRPr>
          </a:p>
          <a:p>
            <a:pPr algn="l"/>
            <a:r>
              <a:rPr lang="en-US" b="1" i="0" dirty="0">
                <a:solidFill>
                  <a:srgbClr val="000000"/>
                </a:solidFill>
                <a:effectLst/>
                <a:latin typeface="Source Sans Pro Web"/>
              </a:rPr>
              <a:t>Detect</a:t>
            </a:r>
          </a:p>
          <a:p>
            <a:pPr algn="l"/>
            <a:endParaRPr lang="en-US" b="0" i="0" dirty="0">
              <a:solidFill>
                <a:srgbClr val="000000"/>
              </a:solidFill>
              <a:effectLst/>
              <a:latin typeface="Source Sans Pro Web"/>
            </a:endParaRPr>
          </a:p>
          <a:p>
            <a:pPr algn="l"/>
            <a:r>
              <a:rPr lang="en-US" b="0" i="0" dirty="0">
                <a:solidFill>
                  <a:srgbClr val="000000"/>
                </a:solidFill>
                <a:effectLst/>
                <a:latin typeface="Source Sans Pro Web"/>
              </a:rPr>
              <a:t>The Detect Function defines the appropriate activities to identify the occurrence of a cybersecurity event. The Detect Function enables timely discovery of cybersecurity events.</a:t>
            </a:r>
          </a:p>
          <a:p>
            <a:pPr algn="l"/>
            <a:r>
              <a:rPr lang="en-US" b="0" i="0" dirty="0">
                <a:solidFill>
                  <a:srgbClr val="000000"/>
                </a:solidFill>
                <a:effectLst/>
                <a:latin typeface="Source Sans Pro Web"/>
              </a:rPr>
              <a:t>Examples of outcome Categories within this Function include:</a:t>
            </a:r>
          </a:p>
          <a:p>
            <a:pPr algn="l">
              <a:buFont typeface="Arial" panose="020B0604020202020204" pitchFamily="34" charset="0"/>
              <a:buChar char="•"/>
            </a:pPr>
            <a:r>
              <a:rPr lang="en-US" b="0" i="0" dirty="0">
                <a:solidFill>
                  <a:srgbClr val="000000"/>
                </a:solidFill>
                <a:effectLst/>
                <a:latin typeface="Source Sans Pro Web"/>
              </a:rPr>
              <a:t>Ensuring Anomalies and Events are detected, and their potential impact is understood</a:t>
            </a:r>
          </a:p>
          <a:p>
            <a:pPr algn="l">
              <a:buFont typeface="Arial" panose="020B0604020202020204" pitchFamily="34" charset="0"/>
              <a:buChar char="•"/>
            </a:pPr>
            <a:r>
              <a:rPr lang="en-US" b="0" i="0" dirty="0">
                <a:solidFill>
                  <a:srgbClr val="000000"/>
                </a:solidFill>
                <a:effectLst/>
                <a:latin typeface="Source Sans Pro Web"/>
              </a:rPr>
              <a:t>Implementing Security Continuous Monitoring capabilities to monitor cybersecurity events and verify the effectiveness of protective measures including network and physical activities</a:t>
            </a:r>
          </a:p>
          <a:p>
            <a:pPr algn="l">
              <a:buFont typeface="Arial" panose="020B0604020202020204" pitchFamily="34" charset="0"/>
              <a:buChar char="•"/>
            </a:pPr>
            <a:r>
              <a:rPr lang="en-US" b="0" i="0" dirty="0">
                <a:solidFill>
                  <a:srgbClr val="000000"/>
                </a:solidFill>
                <a:effectLst/>
                <a:latin typeface="Source Sans Pro Web"/>
              </a:rPr>
              <a:t>Maintaining Detection Processes to provide awareness of anomalous events</a:t>
            </a:r>
          </a:p>
          <a:p>
            <a:pPr algn="l"/>
            <a:endParaRPr lang="en-US" b="1" i="0" dirty="0">
              <a:solidFill>
                <a:srgbClr val="000000"/>
              </a:solidFill>
              <a:effectLst/>
              <a:latin typeface="Source Sans Pro Web"/>
            </a:endParaRPr>
          </a:p>
          <a:p>
            <a:pPr algn="l"/>
            <a:r>
              <a:rPr lang="en-US" b="1" i="0" dirty="0">
                <a:solidFill>
                  <a:srgbClr val="000000"/>
                </a:solidFill>
                <a:effectLst/>
                <a:latin typeface="Source Sans Pro Web"/>
              </a:rPr>
              <a:t>Respond</a:t>
            </a:r>
          </a:p>
          <a:p>
            <a:pPr algn="l"/>
            <a:endParaRPr lang="en-US" b="0" i="0" dirty="0">
              <a:solidFill>
                <a:srgbClr val="000000"/>
              </a:solidFill>
              <a:effectLst/>
              <a:latin typeface="Source Sans Pro Web"/>
            </a:endParaRPr>
          </a:p>
          <a:p>
            <a:pPr algn="l"/>
            <a:r>
              <a:rPr lang="en-US" b="0" i="0" dirty="0">
                <a:solidFill>
                  <a:srgbClr val="000000"/>
                </a:solidFill>
                <a:effectLst/>
                <a:latin typeface="Source Sans Pro Web"/>
              </a:rPr>
              <a:t>The Respond Function includes appropriate activities to take action regarding a detected cybersecurity incident. The Respond Function supports the ability to contain the impact of a potential cybersecurity incident.</a:t>
            </a:r>
          </a:p>
          <a:p>
            <a:pPr algn="l"/>
            <a:r>
              <a:rPr lang="en-US" b="0" i="0" dirty="0">
                <a:solidFill>
                  <a:srgbClr val="000000"/>
                </a:solidFill>
                <a:effectLst/>
                <a:latin typeface="Source Sans Pro Web"/>
              </a:rPr>
              <a:t>Examples of outcome Categories within this Function include:</a:t>
            </a:r>
          </a:p>
          <a:p>
            <a:pPr algn="l">
              <a:buFont typeface="Arial" panose="020B0604020202020204" pitchFamily="34" charset="0"/>
              <a:buChar char="•"/>
            </a:pPr>
            <a:r>
              <a:rPr lang="en-US" b="0" i="0" dirty="0">
                <a:solidFill>
                  <a:srgbClr val="000000"/>
                </a:solidFill>
                <a:effectLst/>
                <a:latin typeface="Source Sans Pro Web"/>
              </a:rPr>
              <a:t>Ensuring Response Planning process are executed during and after an incident</a:t>
            </a:r>
          </a:p>
          <a:p>
            <a:pPr algn="l">
              <a:buFont typeface="Arial" panose="020B0604020202020204" pitchFamily="34" charset="0"/>
              <a:buChar char="•"/>
            </a:pPr>
            <a:r>
              <a:rPr lang="en-US" b="0" i="0" dirty="0">
                <a:solidFill>
                  <a:srgbClr val="000000"/>
                </a:solidFill>
                <a:effectLst/>
                <a:latin typeface="Source Sans Pro Web"/>
              </a:rPr>
              <a:t>Managing Communications during and after an event with stakeholders, law enforcement, external stakeholders as appropriate</a:t>
            </a:r>
          </a:p>
          <a:p>
            <a:pPr algn="l">
              <a:buFont typeface="Arial" panose="020B0604020202020204" pitchFamily="34" charset="0"/>
              <a:buChar char="•"/>
            </a:pPr>
            <a:r>
              <a:rPr lang="en-US" b="0" i="0" dirty="0">
                <a:solidFill>
                  <a:srgbClr val="000000"/>
                </a:solidFill>
                <a:effectLst/>
                <a:latin typeface="Source Sans Pro Web"/>
              </a:rPr>
              <a:t>Analysis is conducted to ensure effective response and support recovery activities including forensic analysis, and determining the impact of incidents</a:t>
            </a:r>
          </a:p>
          <a:p>
            <a:pPr algn="l">
              <a:buFont typeface="Arial" panose="020B0604020202020204" pitchFamily="34" charset="0"/>
              <a:buChar char="•"/>
            </a:pPr>
            <a:r>
              <a:rPr lang="en-US" b="0" i="0" dirty="0">
                <a:solidFill>
                  <a:srgbClr val="000000"/>
                </a:solidFill>
                <a:effectLst/>
                <a:latin typeface="Source Sans Pro Web"/>
              </a:rPr>
              <a:t>Mitigation activities are performed to prevent expansion of an event and to resolve the incident</a:t>
            </a:r>
          </a:p>
          <a:p>
            <a:pPr algn="l">
              <a:buFont typeface="Arial" panose="020B0604020202020204" pitchFamily="34" charset="0"/>
              <a:buChar char="•"/>
            </a:pPr>
            <a:r>
              <a:rPr lang="en-US" b="0" i="0" dirty="0">
                <a:solidFill>
                  <a:srgbClr val="000000"/>
                </a:solidFill>
                <a:effectLst/>
                <a:latin typeface="Source Sans Pro Web"/>
              </a:rPr>
              <a:t>The organization implements Improvements by incorporating lessons learned from current and previous detection / response activities</a:t>
            </a:r>
          </a:p>
          <a:p>
            <a:pPr algn="l"/>
            <a:endParaRPr lang="en-US" b="1" i="0" dirty="0">
              <a:solidFill>
                <a:srgbClr val="000000"/>
              </a:solidFill>
              <a:effectLst/>
              <a:latin typeface="Source Sans Pro Web"/>
            </a:endParaRPr>
          </a:p>
          <a:p>
            <a:pPr algn="l"/>
            <a:r>
              <a:rPr lang="en-US" b="1" i="0" dirty="0">
                <a:solidFill>
                  <a:srgbClr val="000000"/>
                </a:solidFill>
                <a:effectLst/>
                <a:latin typeface="Source Sans Pro Web"/>
              </a:rPr>
              <a:t>Recover</a:t>
            </a:r>
          </a:p>
          <a:p>
            <a:pPr algn="l"/>
            <a:endParaRPr lang="en-US" b="0" i="0" dirty="0">
              <a:solidFill>
                <a:srgbClr val="000000"/>
              </a:solidFill>
              <a:effectLst/>
              <a:latin typeface="Source Sans Pro Web"/>
            </a:endParaRPr>
          </a:p>
          <a:p>
            <a:pPr algn="l"/>
            <a:r>
              <a:rPr lang="en-US" b="0" i="0" dirty="0">
                <a:solidFill>
                  <a:srgbClr val="000000"/>
                </a:solidFill>
                <a:effectLst/>
                <a:latin typeface="Source Sans Pro Web"/>
              </a:rPr>
              <a:t>The Recover Function identifies appropriate activities to maintain plans for resilience and to restore any capabilities or services that were impaired due to a cybersecurity incident. The Recover Function supports timely recovery to normal operations to reduce the impact from a cybersecurity incident.</a:t>
            </a:r>
          </a:p>
          <a:p>
            <a:pPr algn="l"/>
            <a:r>
              <a:rPr lang="en-US" b="0" i="0" dirty="0">
                <a:solidFill>
                  <a:srgbClr val="000000"/>
                </a:solidFill>
                <a:effectLst/>
                <a:latin typeface="Source Sans Pro Web"/>
              </a:rPr>
              <a:t>Examples of outcome Categories within this Function include:</a:t>
            </a:r>
          </a:p>
          <a:p>
            <a:pPr algn="l">
              <a:buFont typeface="Arial" panose="020B0604020202020204" pitchFamily="34" charset="0"/>
              <a:buChar char="•"/>
            </a:pPr>
            <a:r>
              <a:rPr lang="en-US" b="0" i="0" dirty="0">
                <a:solidFill>
                  <a:srgbClr val="000000"/>
                </a:solidFill>
                <a:effectLst/>
                <a:latin typeface="Source Sans Pro Web"/>
              </a:rPr>
              <a:t>Ensuring the organization implements Recovery Planning processes and procedures to restore systems and/or assets affected by cybersecurity incidents</a:t>
            </a:r>
          </a:p>
          <a:p>
            <a:pPr algn="l">
              <a:buFont typeface="Arial" panose="020B0604020202020204" pitchFamily="34" charset="0"/>
              <a:buChar char="•"/>
            </a:pPr>
            <a:r>
              <a:rPr lang="en-US" b="0" i="0" dirty="0">
                <a:solidFill>
                  <a:srgbClr val="000000"/>
                </a:solidFill>
                <a:effectLst/>
                <a:latin typeface="Source Sans Pro Web"/>
              </a:rPr>
              <a:t>Implementing Improvements based on lessons learned and reviews of existing strategies</a:t>
            </a:r>
          </a:p>
          <a:p>
            <a:pPr algn="l">
              <a:buFont typeface="Arial" panose="020B0604020202020204" pitchFamily="34" charset="0"/>
              <a:buChar char="•"/>
            </a:pPr>
            <a:r>
              <a:rPr lang="en-US" b="0" i="0" dirty="0">
                <a:solidFill>
                  <a:srgbClr val="000000"/>
                </a:solidFill>
                <a:effectLst/>
                <a:latin typeface="Source Sans Pro Web"/>
              </a:rPr>
              <a:t>Internal and external Communications are coordinated during and following the recovery from a cybersecurity incident</a:t>
            </a:r>
          </a:p>
        </p:txBody>
      </p:sp>
    </p:spTree>
    <p:extLst>
      <p:ext uri="{BB962C8B-B14F-4D97-AF65-F5344CB8AC3E}">
        <p14:creationId xmlns:p14="http://schemas.microsoft.com/office/powerpoint/2010/main" val="728648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algn="l"/>
            <a:r>
              <a:rPr lang="en-US" b="1" i="0" dirty="0">
                <a:solidFill>
                  <a:srgbClr val="103250"/>
                </a:solidFill>
                <a:effectLst/>
                <a:latin typeface="Open Sans"/>
              </a:rPr>
              <a:t>Tier 1 – Partial</a:t>
            </a:r>
          </a:p>
          <a:p>
            <a:pPr algn="l"/>
            <a:endParaRPr lang="en-US" b="0" i="0" dirty="0">
              <a:solidFill>
                <a:srgbClr val="103250"/>
              </a:solidFill>
              <a:effectLst/>
              <a:latin typeface="Open Sans"/>
            </a:endParaRPr>
          </a:p>
          <a:p>
            <a:pPr algn="l">
              <a:buFont typeface="Arial" panose="020B0604020202020204" pitchFamily="34" charset="0"/>
              <a:buChar char="•"/>
            </a:pPr>
            <a:r>
              <a:rPr lang="en-US" b="1" i="0" dirty="0">
                <a:solidFill>
                  <a:srgbClr val="666675"/>
                </a:solidFill>
                <a:effectLst/>
                <a:latin typeface="Open Sans"/>
              </a:rPr>
              <a:t>Risk Management Processes</a:t>
            </a:r>
            <a:r>
              <a:rPr lang="en-US" b="0" i="0" dirty="0">
                <a:solidFill>
                  <a:srgbClr val="666675"/>
                </a:solidFill>
                <a:effectLst/>
                <a:latin typeface="Open Sans"/>
              </a:rPr>
              <a:t>: At Tier 1 organizations, cybersecurity risk management is typically performed in an ad hoc (as necessary)/reactive manner. Furthermore, cybersecurity activities are typically performed with little to no prioritization based on the degree of risk that those activities address.</a:t>
            </a:r>
          </a:p>
          <a:p>
            <a:pPr algn="l">
              <a:buFont typeface="Arial" panose="020B0604020202020204" pitchFamily="34" charset="0"/>
              <a:buChar char="•"/>
            </a:pPr>
            <a:r>
              <a:rPr lang="en-US" b="1" i="0" dirty="0">
                <a:solidFill>
                  <a:srgbClr val="666675"/>
                </a:solidFill>
                <a:effectLst/>
                <a:latin typeface="Open Sans"/>
              </a:rPr>
              <a:t>Integrated Risk Management Program</a:t>
            </a:r>
            <a:r>
              <a:rPr lang="en-US" b="0" i="0" dirty="0">
                <a:solidFill>
                  <a:srgbClr val="666675"/>
                </a:solidFill>
                <a:effectLst/>
                <a:latin typeface="Open Sans"/>
              </a:rPr>
              <a:t>: The lack of processes associated with cyber risk management makes the communication and management of that risk difficult for these organizations. As a result, the organization works with cybersecurity risk management on a case-by-case basis because of the lack of consistent information.</a:t>
            </a:r>
          </a:p>
          <a:p>
            <a:pPr algn="l">
              <a:buFont typeface="Arial" panose="020B0604020202020204" pitchFamily="34" charset="0"/>
              <a:buChar char="•"/>
            </a:pPr>
            <a:r>
              <a:rPr lang="en-US" b="1" i="0" dirty="0">
                <a:solidFill>
                  <a:srgbClr val="666675"/>
                </a:solidFill>
                <a:effectLst/>
                <a:latin typeface="Open Sans"/>
              </a:rPr>
              <a:t>External Participation</a:t>
            </a:r>
            <a:r>
              <a:rPr lang="en-US" b="0" i="0" dirty="0">
                <a:solidFill>
                  <a:srgbClr val="666675"/>
                </a:solidFill>
                <a:effectLst/>
                <a:latin typeface="Open Sans"/>
              </a:rPr>
              <a:t>: These organizations lack a greater understanding of their role in the greater business ecosystem - its position in the supply chain, dependents, and dependencies. Without an understanding of where it sits in the ecosystem, a Tier 1 organization does not share information with third-parties effectively (if at all) and is generally unaware of the supply chain risks that it accepts and passes on to other members of the ecosystem.</a:t>
            </a:r>
          </a:p>
          <a:p>
            <a:pPr algn="l"/>
            <a:endParaRPr lang="en-US" b="1" i="0" dirty="0">
              <a:solidFill>
                <a:srgbClr val="103250"/>
              </a:solidFill>
              <a:effectLst/>
              <a:latin typeface="Open Sans"/>
            </a:endParaRPr>
          </a:p>
          <a:p>
            <a:pPr algn="l"/>
            <a:r>
              <a:rPr lang="en-US" b="1" i="0" dirty="0">
                <a:solidFill>
                  <a:srgbClr val="103250"/>
                </a:solidFill>
                <a:effectLst/>
                <a:latin typeface="Open Sans"/>
              </a:rPr>
              <a:t>Tier 2 - Risk-Informed</a:t>
            </a:r>
          </a:p>
          <a:p>
            <a:pPr algn="l"/>
            <a:endParaRPr lang="en-US" b="0" i="0" dirty="0">
              <a:solidFill>
                <a:srgbClr val="103250"/>
              </a:solidFill>
              <a:effectLst/>
              <a:latin typeface="Open Sans"/>
            </a:endParaRPr>
          </a:p>
          <a:p>
            <a:pPr algn="l">
              <a:buFont typeface="Arial" panose="020B0604020202020204" pitchFamily="34" charset="0"/>
              <a:buChar char="•"/>
            </a:pPr>
            <a:r>
              <a:rPr lang="en-US" b="1" i="0" dirty="0">
                <a:solidFill>
                  <a:srgbClr val="666675"/>
                </a:solidFill>
                <a:effectLst/>
                <a:latin typeface="Open Sans"/>
              </a:rPr>
              <a:t>Risk Management Processes</a:t>
            </a:r>
            <a:r>
              <a:rPr lang="en-US" b="0" i="0" dirty="0">
                <a:solidFill>
                  <a:srgbClr val="666675"/>
                </a:solidFill>
                <a:effectLst/>
                <a:latin typeface="Open Sans"/>
              </a:rPr>
              <a:t>: Risk management practices, while approved by management, are typically not established as organizational-wide policies within Tier 2 organizations. While risk management practices are not standard, they do directly inform the prioritization of cybersecurity activities alongside organizational risk objectives, the threat environment, and business requirements.</a:t>
            </a:r>
          </a:p>
          <a:p>
            <a:pPr algn="l">
              <a:buFont typeface="Arial" panose="020B0604020202020204" pitchFamily="34" charset="0"/>
              <a:buChar char="•"/>
            </a:pPr>
            <a:r>
              <a:rPr lang="en-US" b="1" i="0" dirty="0">
                <a:solidFill>
                  <a:srgbClr val="666675"/>
                </a:solidFill>
                <a:effectLst/>
                <a:latin typeface="Open Sans"/>
              </a:rPr>
              <a:t>Integrated Risk Management Program</a:t>
            </a:r>
            <a:r>
              <a:rPr lang="en-US" b="0" i="0" dirty="0">
                <a:solidFill>
                  <a:srgbClr val="666675"/>
                </a:solidFill>
                <a:effectLst/>
                <a:latin typeface="Open Sans"/>
              </a:rPr>
              <a:t>: The awareness of cybersecurity risk exists at the organizational level, but it is not standardized organization-wide, and the information around cybersecurity is only shared informally. While some consideration for cybersecurity exists in organizational objectives, it is not standard. A cyber risk assessment may occur, but it is not standard and periodically repeated.</a:t>
            </a:r>
          </a:p>
          <a:p>
            <a:pPr algn="l">
              <a:buFont typeface="Arial" panose="020B0604020202020204" pitchFamily="34" charset="0"/>
              <a:buChar char="•"/>
            </a:pPr>
            <a:r>
              <a:rPr lang="en-US" b="1" i="0" dirty="0">
                <a:solidFill>
                  <a:srgbClr val="666675"/>
                </a:solidFill>
                <a:effectLst/>
                <a:latin typeface="Open Sans"/>
              </a:rPr>
              <a:t>External Participation</a:t>
            </a:r>
            <a:r>
              <a:rPr lang="en-US" b="0" i="0" dirty="0">
                <a:solidFill>
                  <a:srgbClr val="666675"/>
                </a:solidFill>
                <a:effectLst/>
                <a:latin typeface="Open Sans"/>
              </a:rPr>
              <a:t>: Tier 2 organizations understand either their role in the ecosystem in terms of dependencies or dependents, but not both. Organizations like this typically receive information but not share it out, and while they’re aware of the risk associated with their supply chain, they do not typically act on it.</a:t>
            </a:r>
          </a:p>
          <a:p>
            <a:pPr algn="l"/>
            <a:endParaRPr lang="en-US" b="1" i="0" dirty="0">
              <a:solidFill>
                <a:srgbClr val="103250"/>
              </a:solidFill>
              <a:effectLst/>
              <a:latin typeface="Open Sans"/>
            </a:endParaRPr>
          </a:p>
          <a:p>
            <a:pPr algn="l"/>
            <a:r>
              <a:rPr lang="en-US" b="1" i="0" dirty="0">
                <a:solidFill>
                  <a:srgbClr val="103250"/>
                </a:solidFill>
                <a:effectLst/>
                <a:latin typeface="Open Sans"/>
              </a:rPr>
              <a:t>Tier 3 – Repeatable</a:t>
            </a:r>
          </a:p>
          <a:p>
            <a:pPr algn="l"/>
            <a:endParaRPr lang="en-US" b="0" i="0" dirty="0">
              <a:solidFill>
                <a:srgbClr val="103250"/>
              </a:solidFill>
              <a:effectLst/>
              <a:latin typeface="Open Sans"/>
            </a:endParaRPr>
          </a:p>
          <a:p>
            <a:pPr algn="l">
              <a:buFont typeface="Arial" panose="020B0604020202020204" pitchFamily="34" charset="0"/>
              <a:buChar char="•"/>
            </a:pPr>
            <a:r>
              <a:rPr lang="en-US" b="1" i="0" dirty="0">
                <a:solidFill>
                  <a:srgbClr val="666675"/>
                </a:solidFill>
                <a:effectLst/>
                <a:latin typeface="Open Sans"/>
              </a:rPr>
              <a:t>Risk Management Processes</a:t>
            </a:r>
            <a:r>
              <a:rPr lang="en-US" b="0" i="0" dirty="0">
                <a:solidFill>
                  <a:srgbClr val="666675"/>
                </a:solidFill>
                <a:effectLst/>
                <a:latin typeface="Open Sans"/>
              </a:rPr>
              <a:t>: Tier 3 organizations have formally approved risk management practices, and are expressed as policy. These practices are regularly updated based on changes in business requirements and changing threat landscape.</a:t>
            </a:r>
          </a:p>
          <a:p>
            <a:pPr algn="l">
              <a:buFont typeface="Arial" panose="020B0604020202020204" pitchFamily="34" charset="0"/>
              <a:buChar char="•"/>
            </a:pPr>
            <a:r>
              <a:rPr lang="en-US" b="1" i="0" dirty="0">
                <a:solidFill>
                  <a:srgbClr val="666675"/>
                </a:solidFill>
                <a:effectLst/>
                <a:latin typeface="Open Sans"/>
              </a:rPr>
              <a:t>Integrated Risk Management Program</a:t>
            </a:r>
            <a:r>
              <a:rPr lang="en-US" b="0" i="0" dirty="0">
                <a:solidFill>
                  <a:srgbClr val="666675"/>
                </a:solidFill>
                <a:effectLst/>
                <a:latin typeface="Open Sans"/>
              </a:rPr>
              <a:t>: In this tier, there is an organization-wide approach to managing cybersecurity risk. Risk-informed policies, processes, and procedures are defined and implemented and reviewed. There are methods in place to consistently respond effectively to changes in risk, and personnel possess the knowledge and skills to perform their roles. Senior cybersecurity and business-side executives communication regularly regarding cybersecurity risk.</a:t>
            </a:r>
          </a:p>
          <a:p>
            <a:pPr algn="l">
              <a:buFont typeface="Arial" panose="020B0604020202020204" pitchFamily="34" charset="0"/>
              <a:buChar char="•"/>
            </a:pPr>
            <a:r>
              <a:rPr lang="en-US" b="1" i="0" dirty="0">
                <a:solidFill>
                  <a:srgbClr val="666675"/>
                </a:solidFill>
                <a:effectLst/>
                <a:latin typeface="Open Sans"/>
              </a:rPr>
              <a:t>External Participation</a:t>
            </a:r>
            <a:r>
              <a:rPr lang="en-US" b="0" i="0" dirty="0">
                <a:solidFill>
                  <a:srgbClr val="666675"/>
                </a:solidFill>
                <a:effectLst/>
                <a:latin typeface="Open Sans"/>
              </a:rPr>
              <a:t>: Tier 3 organizations understand their role in the ecosystems and contribute to the broader understanding of risks. They collaborate with other entities regularly that coincide with internally generated information that is shared with other entities. These organizations are aware of the risks associated with their supply chains and act formally on those risks, including implementing written agreements to communicate baseline requirements, governance structures, and policy implementation and monitoring.</a:t>
            </a:r>
          </a:p>
          <a:p>
            <a:pPr algn="l">
              <a:buFont typeface="Arial" panose="020B0604020202020204" pitchFamily="34" charset="0"/>
              <a:buChar char="•"/>
            </a:pPr>
            <a:endParaRPr lang="en-US" b="0" i="0" dirty="0">
              <a:solidFill>
                <a:srgbClr val="666675"/>
              </a:solidFill>
              <a:effectLst/>
              <a:latin typeface="Open Sans"/>
            </a:endParaRPr>
          </a:p>
          <a:p>
            <a:pPr algn="l"/>
            <a:r>
              <a:rPr lang="en-US" b="1" i="0" dirty="0">
                <a:solidFill>
                  <a:srgbClr val="103250"/>
                </a:solidFill>
                <a:effectLst/>
                <a:latin typeface="Open Sans"/>
              </a:rPr>
              <a:t>Tier 4 – Adaptive</a:t>
            </a:r>
          </a:p>
          <a:p>
            <a:pPr algn="l"/>
            <a:endParaRPr lang="en-US" b="0" i="0" dirty="0">
              <a:solidFill>
                <a:srgbClr val="103250"/>
              </a:solidFill>
              <a:effectLst/>
              <a:latin typeface="Open Sans"/>
            </a:endParaRPr>
          </a:p>
          <a:p>
            <a:pPr algn="l">
              <a:buFont typeface="Arial" panose="020B0604020202020204" pitchFamily="34" charset="0"/>
              <a:buChar char="•"/>
            </a:pPr>
            <a:r>
              <a:rPr lang="en-US" b="1" i="0" dirty="0">
                <a:solidFill>
                  <a:srgbClr val="666675"/>
                </a:solidFill>
                <a:effectLst/>
                <a:latin typeface="Open Sans"/>
              </a:rPr>
              <a:t>Risk Management Processes</a:t>
            </a:r>
            <a:r>
              <a:rPr lang="en-US" b="0" i="0" dirty="0">
                <a:solidFill>
                  <a:srgbClr val="666675"/>
                </a:solidFill>
                <a:effectLst/>
                <a:latin typeface="Open Sans"/>
              </a:rPr>
              <a:t>: These organizations adapt their cybersecurity practices based on previous and current cybersecurity activities, including lessons learned and predictive factors. They implement a process of continuous improvement - including incorporating advanced cybersecurity technologies and practices, actively adapting to a changing threat and technology landscape.</a:t>
            </a:r>
          </a:p>
          <a:p>
            <a:pPr algn="l">
              <a:buFont typeface="Arial" panose="020B0604020202020204" pitchFamily="34" charset="0"/>
              <a:buChar char="•"/>
            </a:pPr>
            <a:r>
              <a:rPr lang="en-US" b="1" i="0" dirty="0">
                <a:solidFill>
                  <a:srgbClr val="666675"/>
                </a:solidFill>
                <a:effectLst/>
                <a:latin typeface="Open Sans"/>
              </a:rPr>
              <a:t>Integrated Risk Management Program</a:t>
            </a:r>
            <a:r>
              <a:rPr lang="en-US" b="0" i="0" dirty="0">
                <a:solidFill>
                  <a:srgbClr val="666675"/>
                </a:solidFill>
                <a:effectLst/>
                <a:latin typeface="Open Sans"/>
              </a:rPr>
              <a:t>: Building on Tier 3, Tier 4 organizations clearly understand the link between organizational objectives and cybersecurity risk. Senior executives monitor cybersecurity risk in the same context as financial risk and other organizational risks. These organizations base budgeting decisions on an understanding of the current and potential risk environment. Cybersecurity risk is integrated into the organizational culture and evolves from an awareness of previous activities and continuous awareness.</a:t>
            </a:r>
          </a:p>
          <a:p>
            <a:pPr algn="l">
              <a:buFont typeface="Arial" panose="020B0604020202020204" pitchFamily="34" charset="0"/>
              <a:buChar char="•"/>
            </a:pPr>
            <a:r>
              <a:rPr lang="en-US" b="1" i="0" dirty="0">
                <a:solidFill>
                  <a:srgbClr val="666675"/>
                </a:solidFill>
                <a:effectLst/>
                <a:latin typeface="Open Sans"/>
              </a:rPr>
              <a:t>External Participation</a:t>
            </a:r>
            <a:r>
              <a:rPr lang="en-US" b="0" i="0" dirty="0">
                <a:solidFill>
                  <a:srgbClr val="666675"/>
                </a:solidFill>
                <a:effectLst/>
                <a:latin typeface="Open Sans"/>
              </a:rPr>
              <a:t>: Integrating itself further into the ecosystem beyond Tier 3, Tier 4 organizations receive, generate, and contribute to the understanding of the ecosystem around risk. Further integration of sharing information to internal and external stakeholders, the organization uses real-time information to understand and regularly act on supply chain risks. They also have a formalized process integrated into their documentation wit their dependencies and dependents.</a:t>
            </a:r>
          </a:p>
          <a:p>
            <a:pPr algn="l">
              <a:buFont typeface="Arial" panose="020B0604020202020204" pitchFamily="34" charset="0"/>
              <a:buChar char="•"/>
            </a:pPr>
            <a:endParaRPr lang="en-US" b="0" i="0" dirty="0">
              <a:solidFill>
                <a:srgbClr val="666675"/>
              </a:solidFill>
              <a:effectLst/>
              <a:latin typeface="Open Sans"/>
            </a:endParaRPr>
          </a:p>
          <a:p>
            <a:pPr algn="l">
              <a:buFont typeface="Arial" panose="020B0604020202020204" pitchFamily="34" charset="0"/>
              <a:buChar char="•"/>
            </a:pPr>
            <a:r>
              <a:rPr lang="en-US" b="0" i="0" dirty="0">
                <a:solidFill>
                  <a:srgbClr val="666675"/>
                </a:solidFill>
                <a:effectLst/>
                <a:latin typeface="Open Sans"/>
              </a:rPr>
              <a:t>Source: https://www.cybersaint.io/blog/the-nist-cybersecurity-framework-implementation-tiers-explained</a:t>
            </a:r>
          </a:p>
          <a:p>
            <a:endParaRPr lang="en-US" dirty="0"/>
          </a:p>
        </p:txBody>
      </p:sp>
      <p:sp>
        <p:nvSpPr>
          <p:cNvPr id="4" name="Slide Number Placeholder 3"/>
          <p:cNvSpPr>
            <a:spLocks noGrp="1"/>
          </p:cNvSpPr>
          <p:nvPr>
            <p:ph type="sldNum" sz="quarter" idx="10"/>
          </p:nvPr>
        </p:nvSpPr>
        <p:spPr/>
        <p:txBody>
          <a:bodyPr/>
          <a:lstStyle/>
          <a:p>
            <a:fld id="{67C02A33-D6ED-8345-92B5-FE0B6F3F946F}" type="slidenum">
              <a:rPr lang="en-US" smtClean="0"/>
              <a:pPr/>
              <a:t>19</a:t>
            </a:fld>
            <a:endParaRPr lang="en-US" dirty="0"/>
          </a:p>
        </p:txBody>
      </p:sp>
    </p:spTree>
    <p:extLst>
      <p:ext uri="{BB962C8B-B14F-4D97-AF65-F5344CB8AC3E}">
        <p14:creationId xmlns:p14="http://schemas.microsoft.com/office/powerpoint/2010/main" val="4639047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baseline="0" dirty="0">
                <a:solidFill>
                  <a:schemeClr val="tx1"/>
                </a:solidFill>
                <a:latin typeface="Arial" pitchFamily="-107" charset="0"/>
                <a:ea typeface="+mn-ea"/>
                <a:cs typeface="+mn-cs"/>
              </a:rPr>
              <a:t>Table 1.2, based on R F C 4949, describes four kinds of threat consequences and lists the kinds of attacks that result in each consequence.</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Unauthorized disclosure is a threat to confidentiality. The following types of attacks can result in this threat consequence:</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Exposure: This can be deliberate, as when an insider intentionally releases sensitive information, such as credit card numbers, to an outsider. It can also be the result of a human, hardware, or software error, which results in an entity gaining unauthorized knowledge of sensitive data. There have been numerous instances of this, such as universities accidentally posting student confidential information on the Web.</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Interception: Interception is a common attack in the context of communications.</a:t>
            </a:r>
          </a:p>
          <a:p>
            <a:r>
              <a:rPr lang="en-US" sz="1200" b="0" kern="1200" baseline="0" dirty="0">
                <a:solidFill>
                  <a:schemeClr val="tx1"/>
                </a:solidFill>
                <a:latin typeface="Arial" pitchFamily="-107" charset="0"/>
                <a:ea typeface="+mn-ea"/>
                <a:cs typeface="+mn-cs"/>
              </a:rPr>
              <a:t>On a shared local area network (L A N), such as a wireless L A N or a broadcast Ethernet, any device attached to the L A N can receive a copy of packets intended for another device. On the Internet, a determined hacker can gain access to e-mail traffic and other data transfers. All of these situations create the potential for unauthorized access to data.</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Inference: An example of inference is known as traffic analysis, in which an adversary is able to gain information from observing the pattern of traffic on a network, such as the amount of traffic between particular pairs of hosts on the network. Another example is the inference of detailed information from a database by a user who has only limited access; this is accomplished by repeated queries whose combined results enable inference.</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Intrusion: An example of intrusion is an adversary gaining unauthorized access to sensitive data by overcoming the system’s access control protections.</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Deception is a threat to either system integrity or data integrity. The following types of attacks can result in this threat consequence:</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Masquerade: One example of masquerade is an attempt by an unauthorized user to gain access to a system by posing as an authorized user; this could happen if the unauthorized user has learned another user’s logon I D and password. Another example is malicious logic, such as a Trojan horse, which appears to perform a useful or desirable function but actually gains unauthorized access to system resources or tricks a user into executing other malicious logic.</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Falsification: This refers to the altering or replacing of valid data or the introduction of false data into a file or database. For example, a student may alter their grades on a school database.</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Repudiation: In this case, a user either denies sending data or denies receiving or possessing the data.</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Disruption is a threat to availability or system integrity. The following types of attacks can result in this threat consequence:</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Incapacitation: This is an attack on system availability. This could occur as a result of physical destruction of or damage to system hardware. More typically, malicious software, such as Trojan horses, viruses, or worms, could operate in such a way as to disable a system or some of its services.</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Corruption: This is an attack on system integrity. Malicious software in this context could operate in such a way that system resources or services function in an unintended manner. Or a user could gain unauthorized access to a system and modify some of its functions. An example of the latter is a user placing backdoor logic in the system to provide subsequent access to a system and its resources by other than the usual procedure.</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Obstruction: One way to obstruct system operation is to interfere with communications by disabling communication links or altering communication control information. Another way is to overload the system by placing excess burden on communication traffic or processing resources.</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Usurpation is a threat to system integrity. The following types of attacks can result in this threat consequence:</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Misappropriation: This can include theft of service. An example is a distributed denial of service attack, when malicious software is installed on a number of hosts to be used as platforms to launch traffic at a target host. In this case, the malicious software makes unauthorized use of processor and operating system resources.</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Misuse: Misuse can occur by means of either malicious logic or a hacker who has gained unauthorized access to a system. In either case, security functions can be disabled or thwarted.</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560740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209785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Arial" pitchFamily="-107" charset="0"/>
                <a:ea typeface="+mn-ea"/>
                <a:cs typeface="+mn-cs"/>
              </a:rPr>
              <a:t>The assets of a computer system can be categorized as hardware, software, data, and communication lines and networks. In this subsection, we briefly describe these four categories and relate these to the concepts of integrity, confidentiality, and availability introduced in Section 1.1 (see Figure 1.3 and Table 1.3).</a:t>
            </a:r>
          </a:p>
          <a:p>
            <a:endParaRPr lang="en-US" sz="1200" kern="1200" baseline="0" dirty="0">
              <a:solidFill>
                <a:schemeClr val="tx1"/>
              </a:solidFill>
              <a:latin typeface="Arial" pitchFamily="-107" charset="0"/>
              <a:ea typeface="+mn-ea"/>
              <a:cs typeface="+mn-cs"/>
            </a:endParaRPr>
          </a:p>
          <a:p>
            <a:r>
              <a:rPr lang="en-US" dirty="0"/>
              <a:t>Long Description:</a:t>
            </a:r>
          </a:p>
          <a:p>
            <a:r>
              <a:rPr lang="en-US" dirty="0"/>
              <a:t>The two systems are shown by two blocks and the data has to be transmitted from one system to the other. The 4 basic components of computer security can be read in the diagram as follows. 1. Access to the data must be controlled (protection). 2. Access to the computer facility must be controlled (user authentication). 3. Data must be securely transmitted through networks (network security). 4. Sensitive files must be secure (file security). Within each block, three circles depict the processes representing users. Further, two small rectangular blocks are shown opposite to the circles receiving the data from the users where the data must be protected. Two circles are shown below each block that depicts the case when the users make requests. An arrow heading from these circles to the block suggests a guard between the two.</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736959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1" kern="1200" baseline="0" dirty="0">
                <a:solidFill>
                  <a:schemeClr val="tx1"/>
                </a:solidFill>
                <a:latin typeface="Arial" pitchFamily="-107" charset="0"/>
                <a:ea typeface="+mn-ea"/>
                <a:cs typeface="+mn-cs"/>
              </a:rPr>
              <a:t>HARDWARE A major threat to computer system hardware is the threat to </a:t>
            </a:r>
            <a:r>
              <a:rPr lang="en-US" sz="1200" b="0" kern="1200" baseline="0" dirty="0">
                <a:solidFill>
                  <a:schemeClr val="tx1"/>
                </a:solidFill>
                <a:latin typeface="Arial" pitchFamily="-107" charset="0"/>
                <a:ea typeface="+mn-ea"/>
                <a:cs typeface="+mn-cs"/>
              </a:rPr>
              <a:t>availability. Hardware is the most vulnerable to attack and the least susceptible to automated controls. Threats include accidental and deliberate damage to equipment as well as theft. The proliferation of personal computers and workstations and the widespread use of LANs increase the potential for losses in this area. Theft of USB drives can lead to loss of confidentiality. Physical and administrative security measures are needed to deal with these threats.</a:t>
            </a:r>
          </a:p>
          <a:p>
            <a:endParaRPr lang="en-US" sz="1200" b="0" i="1" kern="1200" baseline="0" dirty="0">
              <a:solidFill>
                <a:schemeClr val="tx1"/>
              </a:solidFill>
              <a:latin typeface="Arial" pitchFamily="-107" charset="0"/>
              <a:ea typeface="+mn-ea"/>
              <a:cs typeface="+mn-cs"/>
            </a:endParaRPr>
          </a:p>
          <a:p>
            <a:r>
              <a:rPr lang="en-US" sz="1200" b="0" i="1" kern="1200" baseline="0" dirty="0">
                <a:solidFill>
                  <a:schemeClr val="tx1"/>
                </a:solidFill>
                <a:latin typeface="Arial" pitchFamily="-107" charset="0"/>
                <a:ea typeface="+mn-ea"/>
                <a:cs typeface="+mn-cs"/>
              </a:rPr>
              <a:t>SOFTWARE </a:t>
            </a:r>
            <a:r>
              <a:rPr lang="en-US" sz="1200" b="0" i="1" kern="1200" baseline="0" dirty="0" err="1">
                <a:solidFill>
                  <a:schemeClr val="tx1"/>
                </a:solidFill>
                <a:latin typeface="Arial" pitchFamily="-107" charset="0"/>
                <a:ea typeface="+mn-ea"/>
                <a:cs typeface="+mn-cs"/>
              </a:rPr>
              <a:t>Software</a:t>
            </a:r>
            <a:r>
              <a:rPr lang="en-US" sz="1200" b="0" i="1" kern="1200" baseline="0" dirty="0">
                <a:solidFill>
                  <a:schemeClr val="tx1"/>
                </a:solidFill>
                <a:latin typeface="Arial" pitchFamily="-107" charset="0"/>
                <a:ea typeface="+mn-ea"/>
                <a:cs typeface="+mn-cs"/>
              </a:rPr>
              <a:t> includes the operating system, utilities, and application </a:t>
            </a:r>
            <a:r>
              <a:rPr lang="en-US" sz="1200" b="0" kern="1200" baseline="0" dirty="0">
                <a:solidFill>
                  <a:schemeClr val="tx1"/>
                </a:solidFill>
                <a:latin typeface="Arial" pitchFamily="-107" charset="0"/>
                <a:ea typeface="+mn-ea"/>
                <a:cs typeface="+mn-cs"/>
              </a:rPr>
              <a:t>programs. A key threat to software is an attack on availability. Software, especially application software, is often easy to delete. Software can also be altered or damaged to render it useless. Careful software configuration management, which includes making backups of the most recent version of software, can maintain high availability. A more difficult problem to deal with is software modification that results in a program that still functions but that behaves differently than before, which is a threat to integrity/authenticity. Computer viruses and related attacks fall into this category. A final problem is protection against software piracy. Although certain countermeasures are available, by and large the problem of unauthorized copying of software has not been solved.</a:t>
            </a:r>
          </a:p>
          <a:p>
            <a:endParaRPr lang="en-US" sz="1200" b="0" i="1" kern="1200" baseline="0" dirty="0">
              <a:solidFill>
                <a:schemeClr val="tx1"/>
              </a:solidFill>
              <a:latin typeface="Arial" pitchFamily="-107" charset="0"/>
              <a:ea typeface="+mn-ea"/>
              <a:cs typeface="+mn-cs"/>
            </a:endParaRPr>
          </a:p>
          <a:p>
            <a:r>
              <a:rPr lang="en-US" sz="1200" b="0" i="1" kern="1200" baseline="0" dirty="0">
                <a:solidFill>
                  <a:schemeClr val="tx1"/>
                </a:solidFill>
                <a:latin typeface="Arial" pitchFamily="-107" charset="0"/>
                <a:ea typeface="+mn-ea"/>
                <a:cs typeface="+mn-cs"/>
              </a:rPr>
              <a:t>DATA Hardware and software security are typically concerns of computing center </a:t>
            </a:r>
            <a:r>
              <a:rPr lang="en-US" sz="1200" b="0" kern="1200" baseline="0" dirty="0">
                <a:solidFill>
                  <a:schemeClr val="tx1"/>
                </a:solidFill>
                <a:latin typeface="Arial" pitchFamily="-107" charset="0"/>
                <a:ea typeface="+mn-ea"/>
                <a:cs typeface="+mn-cs"/>
              </a:rPr>
              <a:t>professionals or individual concerns of personal computer users. A much more widespread problem is data security, which involves files and other forms of data controlled by individuals, groups, and business organizations.</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Security concerns with respect to data are broad, encompassing availability, secrecy, and integrity. In the case of availability, the concern is with the destruction of data files, which can occur either accidentally or maliciously.</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The obvious concern with secrecy is the unauthorized reading of data files or databases, and this area has been the subject of perhaps more research and effort than any other area of computer security. A less obvious threat to secrecy involves the analysis of data and manifests itself in the use of so-called statistical databases, which provide summary or aggregate information. Presumably, the existence of aggregate information does not threaten the privacy of the individuals involved. However, as the use of statistical databases grows, there is an increasing potential for disclosure of personal information. In essence, characteristics of constituent individuals may be identified through careful analysis. For example, if one table records the aggregate of the incomes of respondents A, B, C, and D and another records the aggregate of the incomes of A, B, C, D, and E, the difference between the two aggregates would be the income of E. This problem is exacerbated by the</a:t>
            </a:r>
          </a:p>
          <a:p>
            <a:r>
              <a:rPr lang="en-US" sz="1200" b="0" kern="1200" baseline="0" dirty="0">
                <a:solidFill>
                  <a:schemeClr val="tx1"/>
                </a:solidFill>
                <a:latin typeface="Arial" pitchFamily="-107" charset="0"/>
                <a:ea typeface="+mn-ea"/>
                <a:cs typeface="+mn-cs"/>
              </a:rPr>
              <a:t>increasing desire to combine data sets. In many cases, matching several sets of data for consistency at different levels of aggregation requires access to individual units. Thus, the individual units, which are the subject of privacy concerns, are available at various stages in the processing of data sets.</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Finally, data integrity is a major concern in most installations. Modifications to data files can have consequences ranging from minor to disastrous.</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600308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1" kern="1200" baseline="0" dirty="0">
                <a:solidFill>
                  <a:schemeClr val="tx1"/>
                </a:solidFill>
                <a:latin typeface="Arial" pitchFamily="-107" charset="0"/>
                <a:ea typeface="+mn-ea"/>
                <a:cs typeface="+mn-cs"/>
              </a:rPr>
              <a:t>Network security attacks can be classified </a:t>
            </a:r>
            <a:r>
              <a:rPr lang="en-US" sz="1200" b="0" kern="1200" baseline="0" dirty="0">
                <a:solidFill>
                  <a:schemeClr val="tx1"/>
                </a:solidFill>
                <a:latin typeface="Arial" pitchFamily="-107" charset="0"/>
                <a:ea typeface="+mn-ea"/>
                <a:cs typeface="+mn-cs"/>
              </a:rPr>
              <a:t>as </a:t>
            </a:r>
            <a:r>
              <a:rPr lang="en-US" sz="1200" b="0" i="1" kern="1200" baseline="0" dirty="0">
                <a:solidFill>
                  <a:schemeClr val="tx1"/>
                </a:solidFill>
                <a:latin typeface="Arial" pitchFamily="-107" charset="0"/>
                <a:ea typeface="+mn-ea"/>
                <a:cs typeface="+mn-cs"/>
              </a:rPr>
              <a:t>passive attacks and active attacks. A passive attack attempts to learn or make </a:t>
            </a:r>
            <a:r>
              <a:rPr lang="en-US" sz="1200" b="0" kern="1200" baseline="0" dirty="0">
                <a:solidFill>
                  <a:schemeClr val="tx1"/>
                </a:solidFill>
                <a:latin typeface="Arial" pitchFamily="-107" charset="0"/>
                <a:ea typeface="+mn-ea"/>
                <a:cs typeface="+mn-cs"/>
              </a:rPr>
              <a:t>use of information from the system, but it does not affect system resources. An active attack attempts to alter system resources or affect their operation.</a:t>
            </a:r>
          </a:p>
          <a:p>
            <a:endParaRPr lang="en-US" sz="1200" b="0" kern="1200" baseline="0" dirty="0">
              <a:solidFill>
                <a:schemeClr val="tx1"/>
              </a:solidFill>
              <a:latin typeface="Arial" pitchFamily="-107" charset="0"/>
              <a:ea typeface="+mn-ea"/>
              <a:cs typeface="+mn-cs"/>
            </a:endParaRPr>
          </a:p>
          <a:p>
            <a:r>
              <a:rPr lang="en-US" sz="1200" b="1" kern="1200" baseline="0" dirty="0">
                <a:solidFill>
                  <a:schemeClr val="tx1"/>
                </a:solidFill>
                <a:latin typeface="Arial" pitchFamily="-107" charset="0"/>
                <a:ea typeface="+mn-ea"/>
                <a:cs typeface="+mn-cs"/>
              </a:rPr>
              <a:t>Passive attacks </a:t>
            </a:r>
            <a:r>
              <a:rPr lang="en-US" sz="1200" b="0" kern="1200" baseline="0" dirty="0">
                <a:solidFill>
                  <a:schemeClr val="tx1"/>
                </a:solidFill>
                <a:latin typeface="Arial" pitchFamily="-107" charset="0"/>
                <a:ea typeface="+mn-ea"/>
                <a:cs typeface="+mn-cs"/>
              </a:rPr>
              <a:t>are in the nature of eavesdropping on, or monitoring, transmissions. The goal of the attacker is to obtain information that is being transmitted. Two types of passive attacks are release of message contents and traffic analysis.</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The </a:t>
            </a:r>
            <a:r>
              <a:rPr lang="en-US" sz="1200" b="1" kern="1200" baseline="0" dirty="0">
                <a:solidFill>
                  <a:schemeClr val="tx1"/>
                </a:solidFill>
                <a:latin typeface="Arial" pitchFamily="-107" charset="0"/>
                <a:ea typeface="+mn-ea"/>
                <a:cs typeface="+mn-cs"/>
              </a:rPr>
              <a:t>release of message contents </a:t>
            </a:r>
            <a:r>
              <a:rPr lang="en-US" sz="1200" b="0" kern="1200" baseline="0" dirty="0">
                <a:solidFill>
                  <a:schemeClr val="tx1"/>
                </a:solidFill>
                <a:latin typeface="Arial" pitchFamily="-107" charset="0"/>
                <a:ea typeface="+mn-ea"/>
                <a:cs typeface="+mn-cs"/>
              </a:rPr>
              <a:t>is easily understood. A telephone conversation, an electronic mail message, and a transferred file may contain sensitive or confidential information. We would like to prevent an opponent from learning the contents of these transmissions.</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A second type of passive attack, </a:t>
            </a:r>
            <a:r>
              <a:rPr lang="en-US" sz="1200" b="1" kern="1200" baseline="0" dirty="0">
                <a:solidFill>
                  <a:schemeClr val="tx1"/>
                </a:solidFill>
                <a:latin typeface="Arial" pitchFamily="-107" charset="0"/>
                <a:ea typeface="+mn-ea"/>
                <a:cs typeface="+mn-cs"/>
              </a:rPr>
              <a:t>traffic analysis,</a:t>
            </a:r>
            <a:r>
              <a:rPr lang="en-US" sz="1200" b="0" kern="1200" baseline="0" dirty="0">
                <a:solidFill>
                  <a:schemeClr val="tx1"/>
                </a:solidFill>
                <a:latin typeface="Arial" pitchFamily="-107" charset="0"/>
                <a:ea typeface="+mn-ea"/>
                <a:cs typeface="+mn-cs"/>
              </a:rPr>
              <a:t> is subtler. Suppose we had a way of masking the contents of messages or other information traffic so opponents, even if they captured the message, could not extract the information from it. The most common technique for masking contents is encryption. If we had encryption protection in place, an opponent might still be able to observe the pattern of these messages. The opponent could determine the location and identity of communicating hosts and could observe the frequency and length of messages being exchanged. This information might be useful in guessing the nature of the communication that was taking place.</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Passive attacks are very difficult to detect because they do not involve any alteration of the data. Typically, the message traffic is sent and received in an apparently normal fashion and neither the sender nor receiver is aware that a third party has read the messages or observed the traffic pattern. However, it is feasible to prevent the success of these attacks, usually by means of encryption. Thus, the emphasis in dealing with passive attacks is on prevention rather than detection.</a:t>
            </a:r>
          </a:p>
          <a:p>
            <a:endParaRPr lang="en-US" sz="1200" b="0" kern="1200" baseline="0" dirty="0">
              <a:solidFill>
                <a:schemeClr val="tx1"/>
              </a:solidFill>
              <a:latin typeface="Arial" pitchFamily="-107" charset="0"/>
              <a:ea typeface="+mn-ea"/>
              <a:cs typeface="+mn-cs"/>
            </a:endParaRPr>
          </a:p>
          <a:p>
            <a:r>
              <a:rPr lang="en-US" sz="1200" b="1" kern="1200" baseline="0" dirty="0">
                <a:solidFill>
                  <a:schemeClr val="tx1"/>
                </a:solidFill>
                <a:latin typeface="Arial" pitchFamily="-107" charset="0"/>
                <a:ea typeface="+mn-ea"/>
                <a:cs typeface="+mn-cs"/>
              </a:rPr>
              <a:t>Active attacks</a:t>
            </a:r>
            <a:r>
              <a:rPr lang="en-US" sz="1200" b="0" kern="1200" baseline="0" dirty="0">
                <a:solidFill>
                  <a:schemeClr val="tx1"/>
                </a:solidFill>
                <a:latin typeface="Arial" pitchFamily="-107" charset="0"/>
                <a:ea typeface="+mn-ea"/>
                <a:cs typeface="+mn-cs"/>
              </a:rPr>
              <a:t> involve some modification of the data stream or the creation of a false stream and can be subdivided into four categories: replay, masquerade, modification of messages, and denial of service.</a:t>
            </a:r>
          </a:p>
          <a:p>
            <a:endParaRPr lang="en-US" sz="1200" b="0" kern="1200" baseline="0" dirty="0">
              <a:solidFill>
                <a:schemeClr val="tx1"/>
              </a:solidFill>
              <a:latin typeface="Arial" pitchFamily="-107" charset="0"/>
              <a:ea typeface="+mn-ea"/>
              <a:cs typeface="+mn-cs"/>
            </a:endParaRPr>
          </a:p>
          <a:p>
            <a:r>
              <a:rPr lang="en-US" sz="1200" b="1" kern="1200" baseline="0" dirty="0">
                <a:solidFill>
                  <a:schemeClr val="tx1"/>
                </a:solidFill>
                <a:latin typeface="Arial" pitchFamily="-107" charset="0"/>
                <a:ea typeface="+mn-ea"/>
                <a:cs typeface="+mn-cs"/>
              </a:rPr>
              <a:t>Replay</a:t>
            </a:r>
            <a:r>
              <a:rPr lang="en-US" sz="1200" b="0" kern="1200" baseline="0" dirty="0">
                <a:solidFill>
                  <a:schemeClr val="tx1"/>
                </a:solidFill>
                <a:latin typeface="Arial" pitchFamily="-107" charset="0"/>
                <a:ea typeface="+mn-ea"/>
                <a:cs typeface="+mn-cs"/>
              </a:rPr>
              <a:t> involves the passive capture of a data unit and its subsequent retransmission to produce an unauthorized effect.</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A </a:t>
            </a:r>
            <a:r>
              <a:rPr lang="en-US" sz="1200" b="1" kern="1200" baseline="0" dirty="0">
                <a:solidFill>
                  <a:schemeClr val="tx1"/>
                </a:solidFill>
                <a:latin typeface="Arial" pitchFamily="-107" charset="0"/>
                <a:ea typeface="+mn-ea"/>
                <a:cs typeface="+mn-cs"/>
              </a:rPr>
              <a:t>masquerade</a:t>
            </a:r>
            <a:r>
              <a:rPr lang="en-US" sz="1200" b="0" kern="1200" baseline="0" dirty="0">
                <a:solidFill>
                  <a:schemeClr val="tx1"/>
                </a:solidFill>
                <a:latin typeface="Arial" pitchFamily="-107" charset="0"/>
                <a:ea typeface="+mn-ea"/>
                <a:cs typeface="+mn-cs"/>
              </a:rPr>
              <a:t> takes place when one entity pretends to be a different entity. A masquerade attack usually includes one of the other forms of active attack. For example, authentication sequences can be captured and replayed after a valid authentication sequence has taken place, thus enabling an authorized entity with few privileges to obtain extra privileges by impersonating an entity that has those privileges.</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Modification of messages simply means that some portion of a legitimate message is altered, or that messages are delayed or reordered, to produce an unauthorized effect. For example, a message stating, “Allow John Smith to read confidential file accounts” is modified to say, “Allow Fred Brown to read confidential file accounts.”</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The denial of service prevents or inhibits the normal use or management of communications facilities. This attack may have a specific target; for example, an entity may suppress all messages directed to a particular destination (e.g., the security audit service). Another form of service denial is the disruption of an entire network, either by disabling the network or by overloading it with messages so as to degrade performance.</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Active attacks present the opposite characteristics of passive attacks. Although passive attacks are difficult to detect, measures are available to prevent their success. On the other hand, it is quite difficult to prevent active attacks absolutely because to do so would require physical protection of all communications facilities and paths at all times. Instead, the goal is to detect them and to recover from any disruption or delays caused by them. Because the detection has a deterrent effect, it may also contribute to prevention.</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905073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Arial" pitchFamily="-107" charset="0"/>
                <a:ea typeface="+mn-ea"/>
                <a:cs typeface="+mn-cs"/>
              </a:rPr>
              <a:t>There are a number of ways of classifying and characterizing the countermeasures that may be used to reduce vulnerabilities and deal with threats to system assets. It will be useful for the presentation in the remainder of the book to look at several approaches, which we do in this and the next two sections. In this section, we view countermeasures in terms of functional requirements, and we follow the classification defined in F I P S 200 (</a:t>
            </a:r>
            <a:r>
              <a:rPr lang="en-US" sz="1200" i="1" kern="1200" baseline="0" dirty="0">
                <a:solidFill>
                  <a:schemeClr val="tx1"/>
                </a:solidFill>
                <a:latin typeface="Arial" pitchFamily="-107" charset="0"/>
                <a:ea typeface="+mn-ea"/>
                <a:cs typeface="+mn-cs"/>
              </a:rPr>
              <a:t>Minimum Security Requirements for Federal Information and Information Systems, March 2006). This standard enumerates 17 security-related areas with </a:t>
            </a:r>
            <a:r>
              <a:rPr lang="en-US" sz="1200" kern="1200" baseline="0" dirty="0">
                <a:solidFill>
                  <a:schemeClr val="tx1"/>
                </a:solidFill>
                <a:latin typeface="Arial" pitchFamily="-107" charset="0"/>
                <a:ea typeface="+mn-ea"/>
                <a:cs typeface="+mn-cs"/>
              </a:rPr>
              <a:t>regard to protecting the confidentiality, integrity, and availability of information systems and the information processed, stored, and transmitted by those systems. The areas are defined in Table 1.4.</a:t>
            </a:r>
          </a:p>
          <a:p>
            <a:endParaRPr lang="en-US" sz="1200" kern="1200" baseline="0" dirty="0">
              <a:solidFill>
                <a:schemeClr val="tx1"/>
              </a:solidFill>
              <a:latin typeface="Arial" pitchFamily="-107" charset="0"/>
              <a:ea typeface="+mn-ea"/>
              <a:cs typeface="+mn-cs"/>
            </a:endParaRPr>
          </a:p>
          <a:p>
            <a:r>
              <a:rPr lang="en-US" sz="1200" kern="1200" baseline="0" dirty="0">
                <a:solidFill>
                  <a:schemeClr val="tx1"/>
                </a:solidFill>
                <a:latin typeface="Arial" pitchFamily="-107" charset="0"/>
                <a:ea typeface="+mn-ea"/>
                <a:cs typeface="+mn-cs"/>
              </a:rPr>
              <a:t>The requirements listed in FIPS 200 encompass a wide range of countermeasures to security vulnerabilities and threats. Roughly, we can divide these countermeasures into two categories: those that require computer security technical measures (covered in this book in Parts One and Two), either hardware, software, or both; and those that are fundamentally management issues (covered in Part Three).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114760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baseline="0" dirty="0">
              <a:solidFill>
                <a:schemeClr val="tx1"/>
              </a:solidFill>
              <a:latin typeface="Arial" pitchFamily="-107" charset="0"/>
              <a:ea typeface="+mn-ea"/>
              <a:cs typeface="+mn-cs"/>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484730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baseline="0" dirty="0">
              <a:solidFill>
                <a:schemeClr val="tx1"/>
              </a:solidFill>
              <a:latin typeface="Arial" pitchFamily="-107" charset="0"/>
              <a:ea typeface="+mn-ea"/>
              <a:cs typeface="+mn-cs"/>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780299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07" charset="0"/>
                <a:ea typeface="+mn-ea"/>
                <a:cs typeface="+mn-cs"/>
              </a:rPr>
              <a:t>Each of the functional areas may involve both computer security technical measures and management measures. Functional areas that primarily require computer security technical measures include access control, identification and authentication, system and communication protection, and system and information integrity. Functional areas that primarily involve management controls and procedures include awareness and training; audit and accountability; certification, accreditation, and security assessments; contingency planning; maintenance; physical and environmental protection; planning; personnel security; risk assessment; and systems and services acquisition. Functional areas that overlap computer security technical measures and management controls include configuration management, incident response, and media protection.</a:t>
            </a:r>
          </a:p>
          <a:p>
            <a:endParaRPr lang="en-US" sz="1200" kern="1200" dirty="0">
              <a:solidFill>
                <a:schemeClr val="tx1"/>
              </a:solidFill>
              <a:effectLst/>
              <a:latin typeface="Arial" pitchFamily="-107" charset="0"/>
              <a:ea typeface="+mn-ea"/>
              <a:cs typeface="+mn-cs"/>
            </a:endParaRPr>
          </a:p>
          <a:p>
            <a:r>
              <a:rPr lang="en-US" sz="1200" kern="1200" dirty="0">
                <a:solidFill>
                  <a:schemeClr val="tx1"/>
                </a:solidFill>
                <a:effectLst/>
                <a:latin typeface="Arial" pitchFamily="-107" charset="0"/>
                <a:ea typeface="+mn-ea"/>
                <a:cs typeface="+mn-cs"/>
              </a:rPr>
              <a:t>Note that the majority of the functional requirements areas in F I P S 200 are either primarily issues of management or at least have a significant management component, as opposed to purely software or hardware solutions. This may be new to some readers and is not reflected in many of the books on computer and information security. But as one computer security expert observed, “If you think technology can solve your security problems, then you don’t understand the problems and you don’t understand the technology” [S C H N00]. This book reflects the need to combine technical and managerial approaches to achieve effective computer security.</a:t>
            </a:r>
          </a:p>
          <a:p>
            <a:endParaRPr lang="en-US" sz="1200" kern="1200" dirty="0">
              <a:solidFill>
                <a:schemeClr val="tx1"/>
              </a:solidFill>
              <a:effectLst/>
              <a:latin typeface="Arial" pitchFamily="-107" charset="0"/>
              <a:ea typeface="+mn-ea"/>
              <a:cs typeface="+mn-cs"/>
            </a:endParaRPr>
          </a:p>
          <a:p>
            <a:r>
              <a:rPr lang="en-US" sz="1200" kern="1200" dirty="0">
                <a:solidFill>
                  <a:schemeClr val="tx1"/>
                </a:solidFill>
                <a:effectLst/>
                <a:latin typeface="Arial" pitchFamily="-107" charset="0"/>
                <a:ea typeface="+mn-ea"/>
                <a:cs typeface="+mn-cs"/>
              </a:rPr>
              <a:t>F I P S 200 provides a useful summary of the principal areas of concern, both technical and managerial, with respect to computer security. This book attempts to cover all of these areas.</a:t>
            </a:r>
            <a:endParaRPr lang="en-US" sz="1200" kern="1200" baseline="0" dirty="0">
              <a:solidFill>
                <a:schemeClr val="tx1"/>
              </a:solidFill>
              <a:latin typeface="Arial" pitchFamily="-107" charset="0"/>
              <a:ea typeface="+mn-ea"/>
              <a:cs typeface="+mn-cs"/>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022299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baseline="0" dirty="0">
              <a:solidFill>
                <a:schemeClr val="tx1"/>
              </a:solidFill>
              <a:latin typeface="Arial" pitchFamily="-107" charset="0"/>
              <a:ea typeface="+mn-ea"/>
              <a:cs typeface="+mn-cs"/>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328770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baseline="0" dirty="0">
              <a:solidFill>
                <a:schemeClr val="tx1"/>
              </a:solidFill>
              <a:latin typeface="Arial" pitchFamily="-107" charset="0"/>
              <a:ea typeface="+mn-ea"/>
              <a:cs typeface="+mn-cs"/>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392378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pitchFamily="-107" charset="0"/>
                <a:ea typeface="+mn-ea"/>
                <a:cs typeface="+mn-cs"/>
              </a:rPr>
              <a:t>Despite years of research and development, it has not been possible to develop security design and implementation techniques that systematically exclude security flaws and prevent all unauthorized actions. In the absence of such foolproof techniques, it is useful to have a set of widely agreed design principles that can guide the development of protection mechanisms. The National Centers of Academic Excellence in Information Assurance/Cyber Defense, which is jointly sponsored by the U.S. National Security Agency and the U.S. Department of Homeland Security, lists the following as fundamental security design principles [N C A E13]:</a:t>
            </a:r>
          </a:p>
          <a:p>
            <a:endParaRPr lang="en-US" sz="1200" b="0" i="0" u="none" strike="noStrike" kern="1200" baseline="0" dirty="0">
              <a:solidFill>
                <a:schemeClr val="tx1"/>
              </a:solidFill>
              <a:latin typeface="Arial" pitchFamily="-107" charset="0"/>
              <a:ea typeface="+mn-ea"/>
              <a:cs typeface="+mn-cs"/>
            </a:endParaRPr>
          </a:p>
          <a:p>
            <a:r>
              <a:rPr lang="en-US" sz="1200" b="0" i="0" u="none" strike="noStrike" kern="1200" baseline="0" dirty="0">
                <a:solidFill>
                  <a:schemeClr val="tx1"/>
                </a:solidFill>
                <a:latin typeface="Arial" pitchFamily="-107" charset="0"/>
                <a:ea typeface="+mn-ea"/>
                <a:cs typeface="+mn-cs"/>
              </a:rPr>
              <a:t>• Economy of mechanism</a:t>
            </a:r>
          </a:p>
          <a:p>
            <a:r>
              <a:rPr lang="en-US" sz="1200" b="0" i="0" u="none" strike="noStrike" kern="1200" baseline="0" dirty="0">
                <a:solidFill>
                  <a:schemeClr val="tx1"/>
                </a:solidFill>
                <a:latin typeface="Arial" pitchFamily="-107" charset="0"/>
                <a:ea typeface="+mn-ea"/>
                <a:cs typeface="+mn-cs"/>
              </a:rPr>
              <a:t>• Fail-safe defaults</a:t>
            </a:r>
          </a:p>
          <a:p>
            <a:r>
              <a:rPr lang="en-US" sz="1200" b="0" i="0" u="none" strike="noStrike" kern="1200" baseline="0" dirty="0">
                <a:solidFill>
                  <a:schemeClr val="tx1"/>
                </a:solidFill>
                <a:latin typeface="Arial" pitchFamily="-107" charset="0"/>
                <a:ea typeface="+mn-ea"/>
                <a:cs typeface="+mn-cs"/>
              </a:rPr>
              <a:t>• Complete mediation</a:t>
            </a:r>
          </a:p>
          <a:p>
            <a:r>
              <a:rPr lang="en-US" sz="1200" b="0" i="0" u="none" strike="noStrike" kern="1200" baseline="0" dirty="0">
                <a:solidFill>
                  <a:schemeClr val="tx1"/>
                </a:solidFill>
                <a:latin typeface="Arial" pitchFamily="-107" charset="0"/>
                <a:ea typeface="+mn-ea"/>
                <a:cs typeface="+mn-cs"/>
              </a:rPr>
              <a:t>• Open design</a:t>
            </a:r>
          </a:p>
          <a:p>
            <a:r>
              <a:rPr lang="en-US" sz="1200" b="0" i="0" u="none" strike="noStrike" kern="1200" baseline="0" dirty="0">
                <a:solidFill>
                  <a:schemeClr val="tx1"/>
                </a:solidFill>
                <a:latin typeface="Arial" pitchFamily="-107" charset="0"/>
                <a:ea typeface="+mn-ea"/>
                <a:cs typeface="+mn-cs"/>
              </a:rPr>
              <a:t>• Separation of privilege</a:t>
            </a:r>
          </a:p>
          <a:p>
            <a:r>
              <a:rPr lang="en-US" sz="1200" b="0" i="0" u="none" strike="noStrike" kern="1200" baseline="0" dirty="0">
                <a:solidFill>
                  <a:schemeClr val="tx1"/>
                </a:solidFill>
                <a:latin typeface="Arial" pitchFamily="-107" charset="0"/>
                <a:ea typeface="+mn-ea"/>
                <a:cs typeface="+mn-cs"/>
              </a:rPr>
              <a:t>• Least privilege</a:t>
            </a:r>
          </a:p>
          <a:p>
            <a:r>
              <a:rPr lang="en-US" sz="1200" b="0" i="0" u="none" strike="noStrike" kern="1200" baseline="0" dirty="0">
                <a:solidFill>
                  <a:schemeClr val="tx1"/>
                </a:solidFill>
                <a:latin typeface="Arial" pitchFamily="-107" charset="0"/>
                <a:ea typeface="+mn-ea"/>
                <a:cs typeface="+mn-cs"/>
              </a:rPr>
              <a:t>• Least common mechanism</a:t>
            </a:r>
          </a:p>
          <a:p>
            <a:r>
              <a:rPr lang="en-US" sz="1200" b="0" i="0" u="none" strike="noStrike" kern="1200" baseline="0" dirty="0">
                <a:solidFill>
                  <a:schemeClr val="tx1"/>
                </a:solidFill>
                <a:latin typeface="Arial" pitchFamily="-107" charset="0"/>
                <a:ea typeface="+mn-ea"/>
                <a:cs typeface="+mn-cs"/>
              </a:rPr>
              <a:t>• Psychological acceptability</a:t>
            </a:r>
          </a:p>
          <a:p>
            <a:r>
              <a:rPr lang="en-US" sz="1200" b="0" i="0" u="none" strike="noStrike" kern="1200" baseline="0" dirty="0">
                <a:solidFill>
                  <a:schemeClr val="tx1"/>
                </a:solidFill>
                <a:latin typeface="Arial" pitchFamily="-107" charset="0"/>
                <a:ea typeface="+mn-ea"/>
                <a:cs typeface="+mn-cs"/>
              </a:rPr>
              <a:t>• Isolation</a:t>
            </a:r>
          </a:p>
          <a:p>
            <a:r>
              <a:rPr lang="en-US" sz="1200" b="0" i="0" u="none" strike="noStrike" kern="1200" baseline="0" dirty="0">
                <a:solidFill>
                  <a:schemeClr val="tx1"/>
                </a:solidFill>
                <a:latin typeface="Arial" pitchFamily="-107" charset="0"/>
                <a:ea typeface="+mn-ea"/>
                <a:cs typeface="+mn-cs"/>
              </a:rPr>
              <a:t>• Encapsulation</a:t>
            </a:r>
          </a:p>
          <a:p>
            <a:r>
              <a:rPr lang="en-US" sz="1200" b="0" i="0" u="none" strike="noStrike" kern="1200" baseline="0" dirty="0">
                <a:solidFill>
                  <a:schemeClr val="tx1"/>
                </a:solidFill>
                <a:latin typeface="Arial" pitchFamily="-107" charset="0"/>
                <a:ea typeface="+mn-ea"/>
                <a:cs typeface="+mn-cs"/>
              </a:rPr>
              <a:t>• Modularity</a:t>
            </a:r>
          </a:p>
          <a:p>
            <a:r>
              <a:rPr lang="en-US" sz="1200" b="0" i="0" u="none" strike="noStrike" kern="1200" baseline="0" dirty="0">
                <a:solidFill>
                  <a:schemeClr val="tx1"/>
                </a:solidFill>
                <a:latin typeface="Arial" pitchFamily="-107" charset="0"/>
                <a:ea typeface="+mn-ea"/>
                <a:cs typeface="+mn-cs"/>
              </a:rPr>
              <a:t>• Layering</a:t>
            </a:r>
          </a:p>
          <a:p>
            <a:r>
              <a:rPr lang="en-US" sz="1200" b="0" i="0" u="none" strike="noStrike" kern="1200" baseline="0" dirty="0">
                <a:solidFill>
                  <a:schemeClr val="tx1"/>
                </a:solidFill>
                <a:latin typeface="Arial" pitchFamily="-107" charset="0"/>
                <a:ea typeface="+mn-ea"/>
                <a:cs typeface="+mn-cs"/>
              </a:rPr>
              <a:t>• Least astonishment</a:t>
            </a:r>
          </a:p>
          <a:p>
            <a:endParaRPr lang="en-US" sz="1200" b="0" i="0" u="none" strike="noStrike" kern="1200" baseline="0" dirty="0">
              <a:solidFill>
                <a:schemeClr val="tx1"/>
              </a:solidFill>
              <a:latin typeface="Arial" pitchFamily="-107" charset="0"/>
              <a:ea typeface="+mn-ea"/>
              <a:cs typeface="+mn-cs"/>
            </a:endParaRPr>
          </a:p>
          <a:p>
            <a:r>
              <a:rPr lang="en-US" sz="1200" kern="1200" dirty="0">
                <a:solidFill>
                  <a:schemeClr val="tx1"/>
                </a:solidFill>
                <a:effectLst/>
                <a:latin typeface="Arial" pitchFamily="-107" charset="0"/>
                <a:ea typeface="+mn-ea"/>
                <a:cs typeface="+mn-cs"/>
              </a:rPr>
              <a:t>The first eight listed principles were first proposed in [S A L T75] and have withstood the test of time.</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825301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pitchFamily="-107" charset="0"/>
                <a:ea typeface="+mn-ea"/>
                <a:cs typeface="+mn-cs"/>
              </a:rPr>
              <a:t> An attack surface consists of the reachable and exploitable vulnerabilities in a system [B E L L16, M A N A11, H O W A03]. Examples of attack surfaces are the following:</a:t>
            </a:r>
          </a:p>
          <a:p>
            <a:endParaRPr lang="en-US" sz="1200" b="0" i="0" u="none" strike="noStrike" kern="1200" baseline="0" dirty="0">
              <a:solidFill>
                <a:schemeClr val="tx1"/>
              </a:solidFill>
              <a:latin typeface="Arial" pitchFamily="-107" charset="0"/>
              <a:ea typeface="+mn-ea"/>
              <a:cs typeface="+mn-cs"/>
            </a:endParaRPr>
          </a:p>
          <a:p>
            <a:r>
              <a:rPr lang="en-US" sz="1200" b="0" i="0" u="none" strike="noStrike" kern="1200" baseline="0" dirty="0">
                <a:solidFill>
                  <a:schemeClr val="tx1"/>
                </a:solidFill>
                <a:latin typeface="Arial" pitchFamily="-107" charset="0"/>
                <a:ea typeface="+mn-ea"/>
                <a:cs typeface="+mn-cs"/>
              </a:rPr>
              <a:t>• Open ports on outward-facing Web and other servers and code listening on those ports</a:t>
            </a:r>
          </a:p>
          <a:p>
            <a:endParaRPr lang="en-US" sz="1200" b="0" i="0" u="none" strike="noStrike" kern="1200" baseline="0" dirty="0">
              <a:solidFill>
                <a:schemeClr val="tx1"/>
              </a:solidFill>
              <a:latin typeface="Arial" pitchFamily="-107" charset="0"/>
              <a:ea typeface="+mn-ea"/>
              <a:cs typeface="+mn-cs"/>
            </a:endParaRPr>
          </a:p>
          <a:p>
            <a:r>
              <a:rPr lang="en-US" sz="1200" b="0" i="0" u="none" strike="noStrike" kern="1200" baseline="0" dirty="0">
                <a:solidFill>
                  <a:schemeClr val="tx1"/>
                </a:solidFill>
                <a:latin typeface="Arial" pitchFamily="-107" charset="0"/>
                <a:ea typeface="+mn-ea"/>
                <a:cs typeface="+mn-cs"/>
              </a:rPr>
              <a:t>• Services available on the inside of a firewall</a:t>
            </a:r>
          </a:p>
          <a:p>
            <a:endParaRPr lang="en-US" sz="1200" b="0" i="0" u="none" strike="noStrike" kern="1200" baseline="0" dirty="0">
              <a:solidFill>
                <a:schemeClr val="tx1"/>
              </a:solidFill>
              <a:latin typeface="Arial" pitchFamily="-107" charset="0"/>
              <a:ea typeface="+mn-ea"/>
              <a:cs typeface="+mn-cs"/>
            </a:endParaRPr>
          </a:p>
          <a:p>
            <a:r>
              <a:rPr lang="en-US" sz="1200" b="0" i="0" u="none" strike="noStrike" kern="1200" baseline="0" dirty="0">
                <a:solidFill>
                  <a:schemeClr val="tx1"/>
                </a:solidFill>
                <a:latin typeface="Arial" pitchFamily="-107" charset="0"/>
                <a:ea typeface="+mn-ea"/>
                <a:cs typeface="+mn-cs"/>
              </a:rPr>
              <a:t>• Code that processes incoming data, email, X M L, office documents, and industry-specific custom data exchange formats</a:t>
            </a:r>
          </a:p>
          <a:p>
            <a:endParaRPr lang="en-US" sz="1200" b="0" i="0" u="none" strike="noStrike" kern="1200" baseline="0" dirty="0">
              <a:solidFill>
                <a:schemeClr val="tx1"/>
              </a:solidFill>
              <a:latin typeface="Arial" pitchFamily="-107" charset="0"/>
              <a:ea typeface="+mn-ea"/>
              <a:cs typeface="+mn-cs"/>
            </a:endParaRPr>
          </a:p>
          <a:p>
            <a:r>
              <a:rPr lang="en-US" sz="1200" b="0" i="0" u="none" strike="noStrike" kern="1200" baseline="0" dirty="0">
                <a:solidFill>
                  <a:schemeClr val="tx1"/>
                </a:solidFill>
                <a:latin typeface="Arial" pitchFamily="-107" charset="0"/>
                <a:ea typeface="+mn-ea"/>
                <a:cs typeface="+mn-cs"/>
              </a:rPr>
              <a:t>• Interfaces, S Q L, and Web forms</a:t>
            </a:r>
          </a:p>
          <a:p>
            <a:endParaRPr lang="en-US" sz="1200" b="0" i="0" u="none" strike="noStrike" kern="1200" baseline="0" dirty="0">
              <a:solidFill>
                <a:schemeClr val="tx1"/>
              </a:solidFill>
              <a:latin typeface="Arial" pitchFamily="-107" charset="0"/>
              <a:ea typeface="+mn-ea"/>
              <a:cs typeface="+mn-cs"/>
            </a:endParaRPr>
          </a:p>
          <a:p>
            <a:r>
              <a:rPr lang="en-US" sz="1200" b="0" i="0" u="none" strike="noStrike" kern="1200" baseline="0" dirty="0">
                <a:solidFill>
                  <a:schemeClr val="tx1"/>
                </a:solidFill>
                <a:latin typeface="Arial" pitchFamily="-107" charset="0"/>
                <a:ea typeface="+mn-ea"/>
                <a:cs typeface="+mn-cs"/>
              </a:rPr>
              <a:t>• An employee with access to sensitive information that is vulnerable to a social engineering attack</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695129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pitchFamily="-107" charset="0"/>
                <a:ea typeface="+mn-ea"/>
                <a:cs typeface="+mn-cs"/>
              </a:rPr>
              <a:t>Attack surfaces can be categorized in the following way:</a:t>
            </a:r>
          </a:p>
          <a:p>
            <a:endParaRPr lang="en-US" sz="1200" b="0" i="0" u="none" strike="noStrike" kern="1200" baseline="0" dirty="0">
              <a:solidFill>
                <a:schemeClr val="tx1"/>
              </a:solidFill>
              <a:latin typeface="Arial" pitchFamily="-107" charset="0"/>
              <a:ea typeface="+mn-ea"/>
              <a:cs typeface="+mn-cs"/>
            </a:endParaRPr>
          </a:p>
          <a:p>
            <a:r>
              <a:rPr lang="en-US" sz="1200" b="1" i="0" u="none" strike="noStrike" kern="1200" baseline="0" dirty="0">
                <a:solidFill>
                  <a:schemeClr val="tx1"/>
                </a:solidFill>
                <a:latin typeface="Arial" pitchFamily="-107" charset="0"/>
                <a:ea typeface="+mn-ea"/>
                <a:cs typeface="+mn-cs"/>
              </a:rPr>
              <a:t>• Network attack surface</a:t>
            </a:r>
            <a:r>
              <a:rPr lang="en-US" sz="1200" b="0" i="0" u="none" strike="noStrike" kern="1200" baseline="0" dirty="0">
                <a:solidFill>
                  <a:schemeClr val="tx1"/>
                </a:solidFill>
                <a:latin typeface="Arial" pitchFamily="-107" charset="0"/>
                <a:ea typeface="+mn-ea"/>
                <a:cs typeface="+mn-cs"/>
              </a:rPr>
              <a:t>: This category refers to vulnerabilities over an enterprise network, wide-area network, or the Internet. Included in this category are network protocol vulnerabilities, such as those used for a denial-of-service attack, disruption of communications links, and various forms of intruder attacks.</a:t>
            </a:r>
          </a:p>
          <a:p>
            <a:endParaRPr lang="en-US" sz="1200" b="0" i="0" u="none" strike="noStrike" kern="1200" baseline="0" dirty="0">
              <a:solidFill>
                <a:schemeClr val="tx1"/>
              </a:solidFill>
              <a:latin typeface="Arial" pitchFamily="-107" charset="0"/>
              <a:ea typeface="+mn-ea"/>
              <a:cs typeface="+mn-cs"/>
            </a:endParaRPr>
          </a:p>
          <a:p>
            <a:r>
              <a:rPr lang="en-US" sz="1200" b="0" i="0" u="none" strike="noStrike" kern="1200" baseline="0" dirty="0">
                <a:solidFill>
                  <a:schemeClr val="tx1"/>
                </a:solidFill>
                <a:latin typeface="Arial" pitchFamily="-107" charset="0"/>
                <a:ea typeface="+mn-ea"/>
                <a:cs typeface="+mn-cs"/>
              </a:rPr>
              <a:t>• </a:t>
            </a:r>
            <a:r>
              <a:rPr lang="en-US" sz="1200" b="1" i="0" u="none" strike="noStrike" kern="1200" baseline="0" dirty="0">
                <a:solidFill>
                  <a:schemeClr val="tx1"/>
                </a:solidFill>
                <a:latin typeface="Arial" pitchFamily="-107" charset="0"/>
                <a:ea typeface="+mn-ea"/>
                <a:cs typeface="+mn-cs"/>
              </a:rPr>
              <a:t>Software attack surface</a:t>
            </a:r>
            <a:r>
              <a:rPr lang="en-US" sz="1200" b="0" i="0" u="none" strike="noStrike" kern="1200" baseline="0" dirty="0">
                <a:solidFill>
                  <a:schemeClr val="tx1"/>
                </a:solidFill>
                <a:latin typeface="Arial" pitchFamily="-107" charset="0"/>
                <a:ea typeface="+mn-ea"/>
                <a:cs typeface="+mn-cs"/>
              </a:rPr>
              <a:t>: This refers to vulnerabilities in application, utility, or operating system code. A particular focus in this category is Web server software.</a:t>
            </a:r>
          </a:p>
          <a:p>
            <a:endParaRPr lang="en-US" sz="1200" b="0" i="0" u="none" strike="noStrike" kern="1200" baseline="0" dirty="0">
              <a:solidFill>
                <a:schemeClr val="tx1"/>
              </a:solidFill>
              <a:latin typeface="Arial" pitchFamily="-107" charset="0"/>
              <a:ea typeface="+mn-ea"/>
              <a:cs typeface="+mn-cs"/>
            </a:endParaRPr>
          </a:p>
          <a:p>
            <a:r>
              <a:rPr lang="en-US" sz="1200" b="0" i="0" u="none" strike="noStrike" kern="1200" baseline="0" dirty="0">
                <a:solidFill>
                  <a:schemeClr val="tx1"/>
                </a:solidFill>
                <a:latin typeface="Arial" pitchFamily="-107" charset="0"/>
                <a:ea typeface="+mn-ea"/>
                <a:cs typeface="+mn-cs"/>
              </a:rPr>
              <a:t>• </a:t>
            </a:r>
            <a:r>
              <a:rPr lang="en-US" sz="1200" b="1" i="0" u="none" strike="noStrike" kern="1200" baseline="0" dirty="0">
                <a:solidFill>
                  <a:schemeClr val="tx1"/>
                </a:solidFill>
                <a:latin typeface="Arial" pitchFamily="-107" charset="0"/>
                <a:ea typeface="+mn-ea"/>
                <a:cs typeface="+mn-cs"/>
              </a:rPr>
              <a:t>Human attack surface</a:t>
            </a:r>
            <a:r>
              <a:rPr lang="en-US" sz="1200" b="0" i="0" u="none" strike="noStrike" kern="1200" baseline="0" dirty="0">
                <a:solidFill>
                  <a:schemeClr val="tx1"/>
                </a:solidFill>
                <a:latin typeface="Arial" pitchFamily="-107" charset="0"/>
                <a:ea typeface="+mn-ea"/>
                <a:cs typeface="+mn-cs"/>
              </a:rPr>
              <a:t>: This category refers to vulnerabilities created by personnel or outsiders, such as social engineering, human error, and trusted insiders.</a:t>
            </a:r>
          </a:p>
          <a:p>
            <a:endParaRPr lang="en-US" sz="1200" b="0" i="0" u="none" strike="noStrike" kern="1200" baseline="0" dirty="0">
              <a:solidFill>
                <a:schemeClr val="tx1"/>
              </a:solidFill>
              <a:latin typeface="Arial" pitchFamily="-107" charset="0"/>
              <a:ea typeface="+mn-ea"/>
              <a:cs typeface="+mn-cs"/>
            </a:endParaRPr>
          </a:p>
          <a:p>
            <a:r>
              <a:rPr lang="en-US" sz="1200" b="0" i="0" u="none" strike="noStrike" kern="1200" baseline="0" dirty="0">
                <a:solidFill>
                  <a:schemeClr val="tx1"/>
                </a:solidFill>
                <a:latin typeface="Arial" pitchFamily="-107" charset="0"/>
                <a:ea typeface="+mn-ea"/>
                <a:cs typeface="+mn-cs"/>
              </a:rPr>
              <a:t>An attack surface analysis is a useful technique for assessing the scale and severity of threats to a system. A systematic analysis of points of vulnerability makes developers and security analysts aware of where security mechanisms are required. Once an attack surface is defined, designers may be able to find ways to make the surface smaller, thus making the task of the adversary more difficult. The attack surface also provides guidance on setting priorities for testing, strengthening security measures, or modifying the service or application.</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857595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As illustrated in Figure 1.4, the use of layering, or defense in depth, and attack surface reduction complement each other in mitigating security risk.</a:t>
            </a:r>
          </a:p>
          <a:p>
            <a:endParaRPr lang="en-US" sz="1200" b="0" i="0" u="none" strike="noStrike" dirty="0">
              <a:solidFill>
                <a:srgbClr val="000000"/>
              </a:solidFill>
              <a:effectLst/>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Long Description:</a:t>
            </a:r>
          </a:p>
          <a:p>
            <a:r>
              <a:rPr lang="en-US" sz="1200" dirty="0">
                <a:latin typeface="Arial" panose="020B0604020202020204" pitchFamily="34" charset="0"/>
                <a:cs typeface="Arial" panose="020B0604020202020204" pitchFamily="34" charset="0"/>
              </a:rPr>
              <a:t>The horizontal axis is labeled attack surface and is marked with two points namely small and large from left to right. The vertical axis is labeled layering and is marked with two points namely deep and shallow from bottom to top. The first quadrant of the graph is divided into four sections in the viewing window. A small attack surface and deep layering produce a low-security risk. A large attack surface and deep layering produce a medium security risk. A small attack surface and shallow layering produce a medium security risk. A large attack surface and shallow layering produce a high-security risk.</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227675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An attack tree is a branching, hierarchical data structure that represents a set of potential techniques for exploiting security vulnerabilities [M A U W05, M O </a:t>
            </a:r>
            <a:r>
              <a:rPr lang="en-US" sz="1200" b="0" i="0" u="none" strike="noStrike" kern="1200" baseline="0" noProof="0" dirty="0" err="1">
                <a:solidFill>
                  <a:schemeClr val="tx1"/>
                </a:solidFill>
                <a:latin typeface="Arial" panose="020B0604020202020204" pitchFamily="34" charset="0"/>
                <a:ea typeface="+mn-ea"/>
                <a:cs typeface="Arial" panose="020B0604020202020204" pitchFamily="34" charset="0"/>
              </a:rPr>
              <a:t>O</a:t>
            </a: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 R01, S C H N99]. The security incident that is the goal of the attack is represented as the root node of the tree, and the ways that an attacker could reach that goal are iteratively and incrementally represented as branches and </a:t>
            </a:r>
            <a:r>
              <a:rPr lang="en-US" sz="1200" b="0" i="0" u="none" strike="noStrike" kern="1200" baseline="0" noProof="0" dirty="0" err="1">
                <a:solidFill>
                  <a:schemeClr val="tx1"/>
                </a:solidFill>
                <a:latin typeface="Arial" panose="020B0604020202020204" pitchFamily="34" charset="0"/>
                <a:ea typeface="+mn-ea"/>
                <a:cs typeface="Arial" panose="020B0604020202020204" pitchFamily="34" charset="0"/>
              </a:rPr>
              <a:t>subnodes</a:t>
            </a: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 of the tree. Each </a:t>
            </a:r>
            <a:r>
              <a:rPr lang="en-US" sz="1200" b="0" i="0" u="none" strike="noStrike" kern="1200" baseline="0" noProof="0" dirty="0" err="1">
                <a:solidFill>
                  <a:schemeClr val="tx1"/>
                </a:solidFill>
                <a:latin typeface="Arial" panose="020B0604020202020204" pitchFamily="34" charset="0"/>
                <a:ea typeface="+mn-ea"/>
                <a:cs typeface="Arial" panose="020B0604020202020204" pitchFamily="34" charset="0"/>
              </a:rPr>
              <a:t>subnode</a:t>
            </a: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 defines a subgoal, and each subgoal may have its own set of further subgoals, etc. The final nodes on the paths outward from the root, i.e., the leaf nodes, represent different ways to initiate an attack. Each node other than a leaf is either an A N D-node or an O R-node. To achieve the goal represented by an A N D-node, the subgoals represented by all of that node’s </a:t>
            </a:r>
            <a:r>
              <a:rPr lang="en-US" sz="1200" b="0" i="0" u="none" strike="noStrike" kern="1200" baseline="0" noProof="0" dirty="0" err="1">
                <a:solidFill>
                  <a:schemeClr val="tx1"/>
                </a:solidFill>
                <a:latin typeface="Arial" panose="020B0604020202020204" pitchFamily="34" charset="0"/>
                <a:ea typeface="+mn-ea"/>
                <a:cs typeface="Arial" panose="020B0604020202020204" pitchFamily="34" charset="0"/>
              </a:rPr>
              <a:t>subnodes</a:t>
            </a: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 must be achieved; for an O R-node, at least one of the subgoals must be achieved. Branches can be labeled with values representing difficulty, cost, or other attack attributes so that alternative attacks can be compared.</a:t>
            </a:r>
          </a:p>
          <a:p>
            <a:endPar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The motivation for the use of attack trees is to effectively exploit the information available on attack patterns. Organizations such as C E R T publish security advisories that have enabled the development of a body of knowledge about both general attack strategies and specific attack patterns. Security analysts can use the attack tree to document security attacks in a structured form that reveals key vulnerabilities. The attack tree can guide both the design of systems and applications and the choice and strength of countermeasures.</a:t>
            </a:r>
          </a:p>
          <a:p>
            <a:endPar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 Figure 1.5, based on a figure in [D I M I07], is an example of an attack tree analysis for an Internet banking authentication application. The root of the tree is the objective of the attacker, which is to compromise a user’s account. The shaded boxes on the tree are the leaf nodes, which represent events that comprise the attacks. The white boxes are categories that consist of one or more specific attack events (leaf nodes). Note that in this tree, all the nodes other than leaf nodes are OR-nodes. The analysis used to generate this tree considered the three components involved in authentication:</a:t>
            </a:r>
          </a:p>
          <a:p>
            <a:endPar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 User terminal and user (U T/U): These attacks target the user equipment, including the tokens that may be involved, such as smartcards or other password generators, as well as the actions of the user.</a:t>
            </a:r>
          </a:p>
          <a:p>
            <a:endPar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 Communications channel (C C): This type of attack focuses on communication links.</a:t>
            </a:r>
          </a:p>
          <a:p>
            <a:endPar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 Internet banking server (I B S): These types of attacks are offline attacks against the servers that host the Internet banking application.</a:t>
            </a:r>
          </a:p>
          <a:p>
            <a:endPar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Five overall attack strategies can be identified, each of which exploits one or more of the three components. The five strategies are as follows:</a:t>
            </a:r>
          </a:p>
          <a:p>
            <a:endPar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 User credential compromise: This strategy can be used against many elements of the attack surface. There are procedural attacks, such as monitoring a user’s</a:t>
            </a:r>
          </a:p>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actions to observe a P I N or other credential or theft of the user’s token or handwritten notes. An adversary may also compromise token information by using a variety of token attack tools, such as hacking the smartcard or using a brute force approach to guess the P I N. Another possible strategy is to embed malicious software to compromise the user’s login and password. An adversary may also attempt to obtain credential information via the communication channel (sniffing). Finally, an adversary may use various means to engage in communication with the target user, as shown in Figure 1.5.</a:t>
            </a:r>
          </a:p>
          <a:p>
            <a:endPar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 Injection of commands: In this type of attack, the attacker is able to intercept communication between the U T and the I B S. Various schemes can be used to impersonate the valid user and thus gain access to the banking system.</a:t>
            </a:r>
          </a:p>
          <a:p>
            <a:endPar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 User credential guessing: It is reported in [H I L T06] that brute force attacks against some banking authentication schemes are feasible by sending random usernames and passwords. The attack mechanism is based on distributed zombie personal computers, hosting automated programs for username- or password-based calculation.</a:t>
            </a:r>
          </a:p>
          <a:p>
            <a:endPar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 Security policy violation: For example, by violating the bank’s security policy in combination with weak access control and logging mechanisms, an employee may cause an internal security incident and expose a customer’s account.</a:t>
            </a:r>
          </a:p>
          <a:p>
            <a:endPar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 Use of known authenticated session: This type of attack persuades or forces the user to connect to the I B S with a preset session I D. Once the user authenticates to the server, the attacker may utilize the known session I D to send packets to the IBS, spoofing the user’s identity.</a:t>
            </a:r>
          </a:p>
          <a:p>
            <a:endPar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Figure 1.5 provides a thorough view of the different types of attacks on an Internet banking authentication application. Using this tree as a starting point, security analysts can assess the risk of each attack and, using the design principles outlined in the preceding section, design a comprehensive security facility. [D I M O07] provides a good account of the results of this design effort.</a:t>
            </a:r>
          </a:p>
          <a:p>
            <a:pPr>
              <a:lnSpc>
                <a:spcPct val="100000"/>
              </a:lnSpc>
              <a:spcBef>
                <a:spcPts val="200"/>
              </a:spcBef>
            </a:pPr>
            <a:endParaRPr lang="en-US" sz="1200" noProof="0" dirty="0">
              <a:effectLst/>
              <a:latin typeface="Arial" panose="020B0604020202020204" pitchFamily="34" charset="0"/>
              <a:cs typeface="Arial" panose="020B0604020202020204" pitchFamily="34" charset="0"/>
            </a:endParaRPr>
          </a:p>
          <a:p>
            <a:pPr>
              <a:lnSpc>
                <a:spcPct val="100000"/>
              </a:lnSpc>
              <a:spcBef>
                <a:spcPts val="200"/>
              </a:spcBef>
              <a:spcAft>
                <a:spcPts val="1000"/>
              </a:spcAft>
            </a:pPr>
            <a:r>
              <a:rPr lang="en-US" sz="1200" noProof="0" dirty="0">
                <a:latin typeface="Arial" panose="020B0604020202020204" pitchFamily="34" charset="0"/>
                <a:cs typeface="Arial" panose="020B0604020202020204" pitchFamily="34" charset="0"/>
              </a:rPr>
              <a:t>Long Description:</a:t>
            </a:r>
          </a:p>
          <a:p>
            <a:pPr>
              <a:lnSpc>
                <a:spcPct val="100000"/>
              </a:lnSpc>
              <a:spcBef>
                <a:spcPts val="200"/>
              </a:spcBef>
              <a:spcAft>
                <a:spcPts val="1000"/>
              </a:spcAft>
            </a:pPr>
            <a:r>
              <a:rPr lang="en-US" sz="1200" noProof="0" dirty="0">
                <a:latin typeface="Arial" panose="020B0604020202020204" pitchFamily="34" charset="0"/>
                <a:cs typeface="Arial" panose="020B0604020202020204" pitchFamily="34" charset="0"/>
              </a:rPr>
              <a:t>The branches of the tree are identified by levels. The level number increases from 0 at the tree root, and higher-level branches are listed immediately after the connected lower-level branches. Each level consists of unique content which can be listed as follows.</a:t>
            </a:r>
          </a:p>
          <a:p>
            <a:pPr>
              <a:lnSpc>
                <a:spcPct val="100000"/>
              </a:lnSpc>
              <a:spcBef>
                <a:spcPts val="200"/>
              </a:spcBef>
              <a:spcAft>
                <a:spcPts val="1000"/>
              </a:spcAft>
            </a:pPr>
            <a:r>
              <a:rPr lang="en-US" sz="1200" noProof="0" dirty="0">
                <a:latin typeface="Arial" panose="020B0604020202020204" pitchFamily="34" charset="0"/>
                <a:cs typeface="Arial" panose="020B0604020202020204" pitchFamily="34" charset="0"/>
              </a:rPr>
              <a:t>Level 0, Bank account compromise.</a:t>
            </a:r>
          </a:p>
          <a:p>
            <a:pPr>
              <a:lnSpc>
                <a:spcPct val="100000"/>
              </a:lnSpc>
              <a:spcBef>
                <a:spcPts val="200"/>
              </a:spcBef>
              <a:spcAft>
                <a:spcPts val="1000"/>
              </a:spcAft>
            </a:pPr>
            <a:r>
              <a:rPr lang="en-US" sz="1200" noProof="0" dirty="0">
                <a:latin typeface="Arial" panose="020B0604020202020204" pitchFamily="34" charset="0"/>
                <a:cs typeface="Arial" panose="020B0604020202020204" pitchFamily="34" charset="0"/>
              </a:rPr>
              <a:t>Level 1, User credential compromise.</a:t>
            </a:r>
          </a:p>
          <a:p>
            <a:pPr>
              <a:lnSpc>
                <a:spcPct val="100000"/>
              </a:lnSpc>
              <a:spcBef>
                <a:spcPts val="200"/>
              </a:spcBef>
              <a:spcAft>
                <a:spcPts val="1000"/>
              </a:spcAft>
            </a:pPr>
            <a:r>
              <a:rPr lang="en-US" sz="1200" noProof="0" dirty="0">
                <a:latin typeface="Arial" panose="020B0604020202020204" pitchFamily="34" charset="0"/>
                <a:cs typeface="Arial" panose="020B0604020202020204" pitchFamily="34" charset="0"/>
              </a:rPr>
              <a:t>Level 2, U T forward slash U 1 a, user surveillance, shaded.</a:t>
            </a:r>
          </a:p>
          <a:p>
            <a:pPr>
              <a:lnSpc>
                <a:spcPct val="100000"/>
              </a:lnSpc>
              <a:spcBef>
                <a:spcPts val="200"/>
              </a:spcBef>
              <a:spcAft>
                <a:spcPts val="1000"/>
              </a:spcAft>
            </a:pPr>
            <a:r>
              <a:rPr lang="en-US" sz="1200" noProof="0" dirty="0">
                <a:latin typeface="Arial" panose="020B0604020202020204" pitchFamily="34" charset="0"/>
                <a:cs typeface="Arial" panose="020B0604020202020204" pitchFamily="34" charset="0"/>
              </a:rPr>
              <a:t>Level 2, U T forward slash U 1 b, theft of token and handwritten notes, shaded.</a:t>
            </a:r>
          </a:p>
          <a:p>
            <a:pPr>
              <a:lnSpc>
                <a:spcPct val="100000"/>
              </a:lnSpc>
              <a:spcBef>
                <a:spcPts val="200"/>
              </a:spcBef>
              <a:spcAft>
                <a:spcPts val="1000"/>
              </a:spcAft>
            </a:pPr>
            <a:r>
              <a:rPr lang="en-US" sz="1200" noProof="0" dirty="0">
                <a:latin typeface="Arial" panose="020B0604020202020204" pitchFamily="34" charset="0"/>
                <a:cs typeface="Arial" panose="020B0604020202020204" pitchFamily="34" charset="0"/>
              </a:rPr>
              <a:t>Level 2, Malicious software installation.</a:t>
            </a:r>
          </a:p>
          <a:p>
            <a:pPr>
              <a:lnSpc>
                <a:spcPct val="100000"/>
              </a:lnSpc>
              <a:spcBef>
                <a:spcPts val="200"/>
              </a:spcBef>
              <a:spcAft>
                <a:spcPts val="1000"/>
              </a:spcAft>
            </a:pPr>
            <a:r>
              <a:rPr lang="en-US" sz="1200" noProof="0" dirty="0">
                <a:latin typeface="Arial" panose="020B0604020202020204" pitchFamily="34" charset="0"/>
                <a:cs typeface="Arial" panose="020B0604020202020204" pitchFamily="34" charset="0"/>
              </a:rPr>
              <a:t>Level 3, Vulnerability exploit.</a:t>
            </a:r>
          </a:p>
          <a:p>
            <a:pPr>
              <a:lnSpc>
                <a:spcPct val="100000"/>
              </a:lnSpc>
              <a:spcBef>
                <a:spcPts val="200"/>
              </a:spcBef>
              <a:spcAft>
                <a:spcPts val="1000"/>
              </a:spcAft>
            </a:pPr>
            <a:r>
              <a:rPr lang="en-US" sz="1200" noProof="0" dirty="0">
                <a:latin typeface="Arial" panose="020B0604020202020204" pitchFamily="34" charset="0"/>
                <a:cs typeface="Arial" panose="020B0604020202020204" pitchFamily="34" charset="0"/>
              </a:rPr>
              <a:t>Level 4, U T forward slash U 2 a hidden code, shaded.</a:t>
            </a:r>
          </a:p>
          <a:p>
            <a:pPr>
              <a:lnSpc>
                <a:spcPct val="100000"/>
              </a:lnSpc>
              <a:spcBef>
                <a:spcPts val="200"/>
              </a:spcBef>
              <a:spcAft>
                <a:spcPts val="1000"/>
              </a:spcAft>
            </a:pPr>
            <a:r>
              <a:rPr lang="en-US" sz="1200" noProof="0" dirty="0">
                <a:latin typeface="Arial" panose="020B0604020202020204" pitchFamily="34" charset="0"/>
                <a:cs typeface="Arial" panose="020B0604020202020204" pitchFamily="34" charset="0"/>
              </a:rPr>
              <a:t>Level 4, U T forward slash U 2 b worms, shaded.</a:t>
            </a:r>
          </a:p>
          <a:p>
            <a:pPr>
              <a:lnSpc>
                <a:spcPct val="100000"/>
              </a:lnSpc>
              <a:spcBef>
                <a:spcPts val="200"/>
              </a:spcBef>
              <a:spcAft>
                <a:spcPts val="1000"/>
              </a:spcAft>
            </a:pPr>
            <a:r>
              <a:rPr lang="en-US" sz="1200" noProof="0" dirty="0">
                <a:latin typeface="Arial" panose="020B0604020202020204" pitchFamily="34" charset="0"/>
                <a:cs typeface="Arial" panose="020B0604020202020204" pitchFamily="34" charset="0"/>
              </a:rPr>
              <a:t>Level 3, U T forward slash U 2 c E-mails with malicious code, shaded.</a:t>
            </a:r>
          </a:p>
          <a:p>
            <a:pPr>
              <a:lnSpc>
                <a:spcPct val="100000"/>
              </a:lnSpc>
              <a:spcBef>
                <a:spcPts val="200"/>
              </a:spcBef>
              <a:spcAft>
                <a:spcPts val="1000"/>
              </a:spcAft>
            </a:pPr>
            <a:r>
              <a:rPr lang="en-US" sz="1200" noProof="0" dirty="0">
                <a:latin typeface="Arial" panose="020B0604020202020204" pitchFamily="34" charset="0"/>
                <a:cs typeface="Arial" panose="020B0604020202020204" pitchFamily="34" charset="0"/>
              </a:rPr>
              <a:t>Level 2, U T forward slash U 3 a Smartcard analyzers, shaded.</a:t>
            </a:r>
          </a:p>
          <a:p>
            <a:pPr>
              <a:lnSpc>
                <a:spcPct val="100000"/>
              </a:lnSpc>
              <a:spcBef>
                <a:spcPts val="200"/>
              </a:spcBef>
              <a:spcAft>
                <a:spcPts val="1000"/>
              </a:spcAft>
            </a:pPr>
            <a:r>
              <a:rPr lang="en-US" sz="1200" noProof="0" dirty="0">
                <a:latin typeface="Arial" panose="020B0604020202020204" pitchFamily="34" charset="0"/>
                <a:cs typeface="Arial" panose="020B0604020202020204" pitchFamily="34" charset="0"/>
              </a:rPr>
              <a:t>Level 2, U T forward slash U 3 b Smartcard reader manipulator, shaded.</a:t>
            </a:r>
          </a:p>
          <a:p>
            <a:pPr>
              <a:lnSpc>
                <a:spcPct val="100000"/>
              </a:lnSpc>
              <a:spcBef>
                <a:spcPts val="200"/>
              </a:spcBef>
              <a:spcAft>
                <a:spcPts val="1000"/>
              </a:spcAft>
            </a:pPr>
            <a:r>
              <a:rPr lang="en-US" sz="1200" noProof="0" dirty="0">
                <a:latin typeface="Arial" panose="020B0604020202020204" pitchFamily="34" charset="0"/>
                <a:cs typeface="Arial" panose="020B0604020202020204" pitchFamily="34" charset="0"/>
              </a:rPr>
              <a:t>Level 2, U T forward slash U 3 c Brute force attacks with PIN calculators, shaded.</a:t>
            </a:r>
          </a:p>
          <a:p>
            <a:pPr>
              <a:lnSpc>
                <a:spcPct val="100000"/>
              </a:lnSpc>
              <a:spcBef>
                <a:spcPts val="200"/>
              </a:spcBef>
              <a:spcAft>
                <a:spcPts val="1000"/>
              </a:spcAft>
            </a:pPr>
            <a:r>
              <a:rPr lang="en-US" sz="1200" noProof="0" dirty="0">
                <a:latin typeface="Arial" panose="020B0604020202020204" pitchFamily="34" charset="0"/>
                <a:cs typeface="Arial" panose="020B0604020202020204" pitchFamily="34" charset="0"/>
              </a:rPr>
              <a:t>Level 2, C </a:t>
            </a:r>
            <a:r>
              <a:rPr lang="en-US" sz="1200" noProof="0" dirty="0" err="1">
                <a:latin typeface="Arial" panose="020B0604020202020204" pitchFamily="34" charset="0"/>
                <a:cs typeface="Arial" panose="020B0604020202020204" pitchFamily="34" charset="0"/>
              </a:rPr>
              <a:t>C</a:t>
            </a:r>
            <a:r>
              <a:rPr lang="en-US" sz="1200" noProof="0" dirty="0">
                <a:latin typeface="Arial" panose="020B0604020202020204" pitchFamily="34" charset="0"/>
                <a:cs typeface="Arial" panose="020B0604020202020204" pitchFamily="34" charset="0"/>
              </a:rPr>
              <a:t> 2, sniffing, shaded.</a:t>
            </a:r>
          </a:p>
          <a:p>
            <a:pPr>
              <a:lnSpc>
                <a:spcPct val="100000"/>
              </a:lnSpc>
              <a:spcBef>
                <a:spcPts val="200"/>
              </a:spcBef>
              <a:spcAft>
                <a:spcPts val="1000"/>
              </a:spcAft>
            </a:pPr>
            <a:r>
              <a:rPr lang="en-US" sz="1200" noProof="0" dirty="0">
                <a:latin typeface="Arial" panose="020B0604020202020204" pitchFamily="34" charset="0"/>
                <a:cs typeface="Arial" panose="020B0604020202020204" pitchFamily="34" charset="0"/>
              </a:rPr>
              <a:t>Level 2, User communication with attacker.</a:t>
            </a:r>
          </a:p>
          <a:p>
            <a:pPr>
              <a:lnSpc>
                <a:spcPct val="100000"/>
              </a:lnSpc>
              <a:spcBef>
                <a:spcPts val="200"/>
              </a:spcBef>
              <a:spcAft>
                <a:spcPts val="1000"/>
              </a:spcAft>
            </a:pPr>
            <a:r>
              <a:rPr lang="en-US" sz="1200" noProof="0" dirty="0">
                <a:latin typeface="Arial" panose="020B0604020202020204" pitchFamily="34" charset="0"/>
                <a:cs typeface="Arial" panose="020B0604020202020204" pitchFamily="34" charset="0"/>
              </a:rPr>
              <a:t>Level 3, U T forward slash U 4 a, social engineering, shaded.</a:t>
            </a:r>
          </a:p>
          <a:p>
            <a:pPr>
              <a:lnSpc>
                <a:spcPct val="100000"/>
              </a:lnSpc>
              <a:spcBef>
                <a:spcPts val="200"/>
              </a:spcBef>
              <a:spcAft>
                <a:spcPts val="1000"/>
              </a:spcAft>
            </a:pPr>
            <a:r>
              <a:rPr lang="en-US" sz="1200" noProof="0" dirty="0">
                <a:latin typeface="Arial" panose="020B0604020202020204" pitchFamily="34" charset="0"/>
                <a:cs typeface="Arial" panose="020B0604020202020204" pitchFamily="34" charset="0"/>
              </a:rPr>
              <a:t>Level 3, U T forward slash U 4 b, web page obfuscation, shaded.</a:t>
            </a:r>
          </a:p>
          <a:p>
            <a:pPr>
              <a:lnSpc>
                <a:spcPct val="100000"/>
              </a:lnSpc>
              <a:spcBef>
                <a:spcPts val="200"/>
              </a:spcBef>
              <a:spcAft>
                <a:spcPts val="1000"/>
              </a:spcAft>
            </a:pPr>
            <a:r>
              <a:rPr lang="en-US" sz="1200" noProof="0" dirty="0">
                <a:latin typeface="Arial" panose="020B0604020202020204" pitchFamily="34" charset="0"/>
                <a:cs typeface="Arial" panose="020B0604020202020204" pitchFamily="34" charset="0"/>
              </a:rPr>
              <a:t>Level 3, Redirection of communication toward fraudulent site.</a:t>
            </a:r>
          </a:p>
          <a:p>
            <a:pPr>
              <a:lnSpc>
                <a:spcPct val="100000"/>
              </a:lnSpc>
              <a:spcBef>
                <a:spcPts val="200"/>
              </a:spcBef>
              <a:spcAft>
                <a:spcPts val="1000"/>
              </a:spcAft>
            </a:pPr>
            <a:r>
              <a:rPr lang="en-US" sz="1200" noProof="0" dirty="0">
                <a:latin typeface="Arial" panose="020B0604020202020204" pitchFamily="34" charset="0"/>
                <a:cs typeface="Arial" panose="020B0604020202020204" pitchFamily="34" charset="0"/>
              </a:rPr>
              <a:t>Level 4, C </a:t>
            </a:r>
            <a:r>
              <a:rPr lang="en-US" sz="1200" noProof="0" dirty="0" err="1">
                <a:latin typeface="Arial" panose="020B0604020202020204" pitchFamily="34" charset="0"/>
                <a:cs typeface="Arial" panose="020B0604020202020204" pitchFamily="34" charset="0"/>
              </a:rPr>
              <a:t>C</a:t>
            </a:r>
            <a:r>
              <a:rPr lang="en-US" sz="1200" noProof="0" dirty="0">
                <a:latin typeface="Arial" panose="020B0604020202020204" pitchFamily="34" charset="0"/>
                <a:cs typeface="Arial" panose="020B0604020202020204" pitchFamily="34" charset="0"/>
              </a:rPr>
              <a:t> 1 pharming, shaded.</a:t>
            </a:r>
          </a:p>
          <a:p>
            <a:pPr>
              <a:lnSpc>
                <a:spcPct val="100000"/>
              </a:lnSpc>
              <a:spcBef>
                <a:spcPts val="200"/>
              </a:spcBef>
              <a:spcAft>
                <a:spcPts val="1000"/>
              </a:spcAft>
            </a:pPr>
            <a:r>
              <a:rPr lang="en-US" sz="1200" noProof="0" dirty="0">
                <a:latin typeface="Arial" panose="020B0604020202020204" pitchFamily="34" charset="0"/>
                <a:cs typeface="Arial" panose="020B0604020202020204" pitchFamily="34" charset="0"/>
              </a:rPr>
              <a:t>Level 3, I B S 3 Web site manipulation, shaded.</a:t>
            </a:r>
          </a:p>
          <a:p>
            <a:pPr>
              <a:lnSpc>
                <a:spcPct val="100000"/>
              </a:lnSpc>
              <a:spcBef>
                <a:spcPts val="200"/>
              </a:spcBef>
              <a:spcAft>
                <a:spcPts val="1000"/>
              </a:spcAft>
            </a:pPr>
            <a:r>
              <a:rPr lang="en-US" sz="1200" noProof="0" dirty="0">
                <a:latin typeface="Arial" panose="020B0604020202020204" pitchFamily="34" charset="0"/>
                <a:cs typeface="Arial" panose="020B0604020202020204" pitchFamily="34" charset="0"/>
              </a:rPr>
              <a:t>Level 1, Injection of commands.</a:t>
            </a:r>
          </a:p>
          <a:p>
            <a:pPr>
              <a:lnSpc>
                <a:spcPct val="100000"/>
              </a:lnSpc>
              <a:spcBef>
                <a:spcPts val="200"/>
              </a:spcBef>
              <a:spcAft>
                <a:spcPts val="1000"/>
              </a:spcAft>
            </a:pPr>
            <a:r>
              <a:rPr lang="en-US" sz="1200" noProof="0" dirty="0">
                <a:latin typeface="Arial" panose="020B0604020202020204" pitchFamily="34" charset="0"/>
                <a:cs typeface="Arial" panose="020B0604020202020204" pitchFamily="34" charset="0"/>
              </a:rPr>
              <a:t>Level 2, C </a:t>
            </a:r>
            <a:r>
              <a:rPr lang="en-US" sz="1200" noProof="0" dirty="0" err="1">
                <a:latin typeface="Arial" panose="020B0604020202020204" pitchFamily="34" charset="0"/>
                <a:cs typeface="Arial" panose="020B0604020202020204" pitchFamily="34" charset="0"/>
              </a:rPr>
              <a:t>C</a:t>
            </a:r>
            <a:r>
              <a:rPr lang="en-US" sz="1200" noProof="0" dirty="0">
                <a:latin typeface="Arial" panose="020B0604020202020204" pitchFamily="34" charset="0"/>
                <a:cs typeface="Arial" panose="020B0604020202020204" pitchFamily="34" charset="0"/>
              </a:rPr>
              <a:t> 3 active man-in-the-middle attacks, shaded.</a:t>
            </a:r>
          </a:p>
          <a:p>
            <a:pPr>
              <a:lnSpc>
                <a:spcPct val="100000"/>
              </a:lnSpc>
              <a:spcBef>
                <a:spcPts val="200"/>
              </a:spcBef>
              <a:spcAft>
                <a:spcPts val="1000"/>
              </a:spcAft>
            </a:pPr>
            <a:r>
              <a:rPr lang="en-US" sz="1200" noProof="0" dirty="0">
                <a:latin typeface="Arial" panose="020B0604020202020204" pitchFamily="34" charset="0"/>
                <a:cs typeface="Arial" panose="020B0604020202020204" pitchFamily="34" charset="0"/>
              </a:rPr>
              <a:t>Level 1, User credential guessing.</a:t>
            </a:r>
          </a:p>
          <a:p>
            <a:pPr>
              <a:lnSpc>
                <a:spcPct val="100000"/>
              </a:lnSpc>
              <a:spcBef>
                <a:spcPts val="200"/>
              </a:spcBef>
              <a:spcAft>
                <a:spcPts val="1000"/>
              </a:spcAft>
            </a:pPr>
            <a:r>
              <a:rPr lang="en-US" sz="1200" noProof="0" dirty="0">
                <a:latin typeface="Arial" panose="020B0604020202020204" pitchFamily="34" charset="0"/>
                <a:cs typeface="Arial" panose="020B0604020202020204" pitchFamily="34" charset="0"/>
              </a:rPr>
              <a:t>Level 2, I B S 1 Brute force attacks, shaded.</a:t>
            </a:r>
          </a:p>
          <a:p>
            <a:pPr>
              <a:lnSpc>
                <a:spcPct val="100000"/>
              </a:lnSpc>
              <a:spcBef>
                <a:spcPts val="200"/>
              </a:spcBef>
              <a:spcAft>
                <a:spcPts val="1000"/>
              </a:spcAft>
            </a:pPr>
            <a:r>
              <a:rPr lang="en-US" sz="1200" noProof="0" dirty="0">
                <a:latin typeface="Arial" panose="020B0604020202020204" pitchFamily="34" charset="0"/>
                <a:cs typeface="Arial" panose="020B0604020202020204" pitchFamily="34" charset="0"/>
              </a:rPr>
              <a:t>Level 1, I B S 2, Security policy violation, shaded.</a:t>
            </a:r>
          </a:p>
          <a:p>
            <a:pPr>
              <a:lnSpc>
                <a:spcPct val="100000"/>
              </a:lnSpc>
              <a:spcBef>
                <a:spcPts val="200"/>
              </a:spcBef>
              <a:spcAft>
                <a:spcPts val="1000"/>
              </a:spcAft>
            </a:pPr>
            <a:r>
              <a:rPr lang="en-US" sz="1200" noProof="0" dirty="0">
                <a:latin typeface="Arial" panose="020B0604020202020204" pitchFamily="34" charset="0"/>
                <a:cs typeface="Arial" panose="020B0604020202020204" pitchFamily="34" charset="0"/>
              </a:rPr>
              <a:t>Level 1, Use of known authenticated session by attacker.</a:t>
            </a:r>
          </a:p>
          <a:p>
            <a:pPr>
              <a:lnSpc>
                <a:spcPct val="100000"/>
              </a:lnSpc>
              <a:spcBef>
                <a:spcPts val="200"/>
              </a:spcBef>
              <a:spcAft>
                <a:spcPts val="1000"/>
              </a:spcAft>
            </a:pPr>
            <a:r>
              <a:rPr lang="en-US" sz="1200" noProof="0" dirty="0">
                <a:latin typeface="Arial" panose="020B0604020202020204" pitchFamily="34" charset="0"/>
                <a:cs typeface="Arial" panose="020B0604020202020204" pitchFamily="34" charset="0"/>
              </a:rPr>
              <a:t>Level 2, Normal user authentication with specified session I D.</a:t>
            </a:r>
          </a:p>
          <a:p>
            <a:pPr>
              <a:lnSpc>
                <a:spcPct val="100000"/>
              </a:lnSpc>
              <a:spcBef>
                <a:spcPts val="200"/>
              </a:spcBef>
              <a:spcAft>
                <a:spcPts val="1000"/>
              </a:spcAft>
            </a:pPr>
            <a:r>
              <a:rPr lang="en-US" sz="1200" noProof="0" dirty="0">
                <a:latin typeface="Arial" panose="020B0604020202020204" pitchFamily="34" charset="0"/>
                <a:cs typeface="Arial" panose="020B0604020202020204" pitchFamily="34" charset="0"/>
              </a:rPr>
              <a:t>Level 3, C </a:t>
            </a:r>
            <a:r>
              <a:rPr lang="en-US" sz="1200" noProof="0" dirty="0" err="1">
                <a:latin typeface="Arial" panose="020B0604020202020204" pitchFamily="34" charset="0"/>
                <a:cs typeface="Arial" panose="020B0604020202020204" pitchFamily="34" charset="0"/>
              </a:rPr>
              <a:t>C</a:t>
            </a:r>
            <a:r>
              <a:rPr lang="en-US" sz="1200" noProof="0" dirty="0">
                <a:latin typeface="Arial" panose="020B0604020202020204" pitchFamily="34" charset="0"/>
                <a:cs typeface="Arial" panose="020B0604020202020204" pitchFamily="34" charset="0"/>
              </a:rPr>
              <a:t> 4, pre-defined session I Ds (session hijacking), shaded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49573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pitchFamily="-107" charset="0"/>
                <a:ea typeface="+mn-ea"/>
                <a:cs typeface="+mn-cs"/>
              </a:rPr>
              <a:t>The first step in devising security services and mechanisms is to develop a security policy. Those involved with computer security use the term </a:t>
            </a:r>
            <a:r>
              <a:rPr lang="en-US" sz="1200" b="0" i="1" u="none" strike="noStrike" kern="1200" baseline="0" dirty="0">
                <a:solidFill>
                  <a:schemeClr val="tx1"/>
                </a:solidFill>
                <a:latin typeface="Arial" pitchFamily="-107" charset="0"/>
                <a:ea typeface="+mn-ea"/>
                <a:cs typeface="+mn-cs"/>
              </a:rPr>
              <a:t>security policy</a:t>
            </a:r>
            <a:r>
              <a:rPr lang="en-US" sz="1200" b="0" i="0" u="none" strike="noStrike" kern="1200" baseline="0" dirty="0">
                <a:solidFill>
                  <a:schemeClr val="tx1"/>
                </a:solidFill>
                <a:latin typeface="Arial" pitchFamily="-107" charset="0"/>
                <a:ea typeface="+mn-ea"/>
                <a:cs typeface="+mn-cs"/>
              </a:rPr>
              <a:t> in various ways. At the least, a security policy is an informal description of desired system behavior [N R C91]. Such informal policies may reference requirements for security, integrity, and availability. More usefully, a security policy is a formal statement of rules and practices that specify or regulate how a system or organization provides security services to protect sensitive and critical system resources (R F C 4949). Such a formal security policy lends itself to being enforced by the system’s technical controls as well as its management and operational controls.</a:t>
            </a:r>
          </a:p>
          <a:p>
            <a:endParaRPr lang="en-US" sz="1200" b="0" i="0" u="none" strike="noStrike" kern="1200" baseline="0" dirty="0">
              <a:solidFill>
                <a:schemeClr val="tx1"/>
              </a:solidFill>
              <a:latin typeface="Arial" pitchFamily="-107" charset="0"/>
              <a:ea typeface="+mn-ea"/>
              <a:cs typeface="+mn-cs"/>
            </a:endParaRPr>
          </a:p>
          <a:p>
            <a:r>
              <a:rPr lang="en-US" sz="1200" b="0" i="0" u="none" strike="noStrike" kern="1200" baseline="0" dirty="0">
                <a:solidFill>
                  <a:schemeClr val="tx1"/>
                </a:solidFill>
                <a:latin typeface="Arial" pitchFamily="-107" charset="0"/>
                <a:ea typeface="+mn-ea"/>
                <a:cs typeface="+mn-cs"/>
              </a:rPr>
              <a:t> In developing a security policy, a security manager needs to consider the following factors:</a:t>
            </a:r>
          </a:p>
          <a:p>
            <a:endParaRPr lang="en-US" sz="1200" b="0" i="0" u="none" strike="noStrike" kern="1200" baseline="0" dirty="0">
              <a:solidFill>
                <a:schemeClr val="tx1"/>
              </a:solidFill>
              <a:latin typeface="Arial" pitchFamily="-107" charset="0"/>
              <a:ea typeface="+mn-ea"/>
              <a:cs typeface="+mn-cs"/>
            </a:endParaRPr>
          </a:p>
          <a:p>
            <a:r>
              <a:rPr lang="en-US" sz="1200" b="0" i="0" u="none" strike="noStrike" kern="1200" baseline="0" dirty="0">
                <a:solidFill>
                  <a:schemeClr val="tx1"/>
                </a:solidFill>
                <a:latin typeface="Arial" pitchFamily="-107" charset="0"/>
                <a:ea typeface="+mn-ea"/>
                <a:cs typeface="+mn-cs"/>
              </a:rPr>
              <a:t>• The value of the assets being protected</a:t>
            </a:r>
          </a:p>
          <a:p>
            <a:endParaRPr lang="en-US" sz="1200" b="0" i="0" u="none" strike="noStrike" kern="1200" baseline="0" dirty="0">
              <a:solidFill>
                <a:schemeClr val="tx1"/>
              </a:solidFill>
              <a:latin typeface="Arial" pitchFamily="-107" charset="0"/>
              <a:ea typeface="+mn-ea"/>
              <a:cs typeface="+mn-cs"/>
            </a:endParaRPr>
          </a:p>
          <a:p>
            <a:r>
              <a:rPr lang="en-US" sz="1200" b="0" i="0" u="none" strike="noStrike" kern="1200" baseline="0" dirty="0">
                <a:solidFill>
                  <a:schemeClr val="tx1"/>
                </a:solidFill>
                <a:latin typeface="Arial" pitchFamily="-107" charset="0"/>
                <a:ea typeface="+mn-ea"/>
                <a:cs typeface="+mn-cs"/>
              </a:rPr>
              <a:t>• The vulnerabilities of the system</a:t>
            </a:r>
          </a:p>
          <a:p>
            <a:endParaRPr lang="en-US" sz="1200" b="0" i="0" u="none" strike="noStrike" kern="1200" baseline="0" dirty="0">
              <a:solidFill>
                <a:schemeClr val="tx1"/>
              </a:solidFill>
              <a:latin typeface="Arial" pitchFamily="-107" charset="0"/>
              <a:ea typeface="+mn-ea"/>
              <a:cs typeface="+mn-cs"/>
            </a:endParaRPr>
          </a:p>
          <a:p>
            <a:r>
              <a:rPr lang="en-US" sz="1200" b="0" i="0" u="none" strike="noStrike" kern="1200" baseline="0" dirty="0">
                <a:solidFill>
                  <a:schemeClr val="tx1"/>
                </a:solidFill>
                <a:latin typeface="Arial" pitchFamily="-107" charset="0"/>
                <a:ea typeface="+mn-ea"/>
                <a:cs typeface="+mn-cs"/>
              </a:rPr>
              <a:t>• Potential threats and the likelihood of attacks</a:t>
            </a:r>
          </a:p>
          <a:p>
            <a:endParaRPr lang="en-US" sz="1200" b="0" i="0" u="none" strike="noStrike" kern="1200" baseline="0" dirty="0">
              <a:solidFill>
                <a:schemeClr val="tx1"/>
              </a:solidFill>
              <a:latin typeface="Arial" pitchFamily="-107" charset="0"/>
              <a:ea typeface="+mn-ea"/>
              <a:cs typeface="+mn-cs"/>
            </a:endParaRPr>
          </a:p>
          <a:p>
            <a:r>
              <a:rPr lang="en-US" sz="1200" kern="1200" dirty="0">
                <a:solidFill>
                  <a:schemeClr val="tx1"/>
                </a:solidFill>
                <a:effectLst/>
                <a:latin typeface="Arial" pitchFamily="-107" charset="0"/>
                <a:ea typeface="+mn-ea"/>
                <a:cs typeface="+mn-cs"/>
              </a:rPr>
              <a:t>Further, the manager must consider the following trade-offs:</a:t>
            </a:r>
          </a:p>
          <a:p>
            <a:endParaRPr lang="en-US" sz="1200" kern="1200" dirty="0">
              <a:solidFill>
                <a:schemeClr val="tx1"/>
              </a:solidFill>
              <a:effectLst/>
              <a:latin typeface="Arial" pitchFamily="-107" charset="0"/>
              <a:ea typeface="+mn-ea"/>
              <a:cs typeface="+mn-cs"/>
            </a:endParaRPr>
          </a:p>
          <a:p>
            <a:r>
              <a:rPr lang="en-US" sz="1200" kern="1200" dirty="0">
                <a:solidFill>
                  <a:schemeClr val="tx1"/>
                </a:solidFill>
                <a:effectLst/>
                <a:latin typeface="Arial" pitchFamily="-107" charset="0"/>
                <a:ea typeface="+mn-ea"/>
                <a:cs typeface="+mn-cs"/>
              </a:rPr>
              <a:t>• Ease of use versus security: Virtually all security measures involve some penalty in the area of ease of use. The following are some examples. Access control mechanisms require users to remember passwords and perhaps perform other access control actions. Firewalls and other network security measures may reduce available transmission capacity or slow response time. Virus-checking software reduces available processing power and introduces the possibility of system crashes or malfunctions due to improper interaction between the security software and the operating system.</a:t>
            </a:r>
          </a:p>
          <a:p>
            <a:endParaRPr lang="en-US" sz="1200" kern="1200" dirty="0">
              <a:solidFill>
                <a:schemeClr val="tx1"/>
              </a:solidFill>
              <a:effectLst/>
              <a:latin typeface="Arial" pitchFamily="-107" charset="0"/>
              <a:ea typeface="+mn-ea"/>
              <a:cs typeface="+mn-cs"/>
            </a:endParaRPr>
          </a:p>
          <a:p>
            <a:r>
              <a:rPr lang="en-US" sz="1200" kern="1200" dirty="0">
                <a:solidFill>
                  <a:schemeClr val="tx1"/>
                </a:solidFill>
                <a:effectLst/>
                <a:latin typeface="Arial" pitchFamily="-107" charset="0"/>
                <a:ea typeface="+mn-ea"/>
                <a:cs typeface="+mn-cs"/>
              </a:rPr>
              <a:t>• Cost of security versus cost of failure and recovery: In addition to ease of use and performance costs, there are direct monetary costs in implementing and</a:t>
            </a:r>
            <a:r>
              <a:rPr lang="en-US" sz="1200" kern="1200" baseline="0" dirty="0">
                <a:solidFill>
                  <a:schemeClr val="tx1"/>
                </a:solidFill>
                <a:effectLst/>
                <a:latin typeface="Arial" pitchFamily="-107" charset="0"/>
                <a:ea typeface="+mn-ea"/>
                <a:cs typeface="+mn-cs"/>
              </a:rPr>
              <a:t> </a:t>
            </a:r>
            <a:r>
              <a:rPr lang="en-US" sz="1200" kern="1200" dirty="0">
                <a:solidFill>
                  <a:schemeClr val="tx1"/>
                </a:solidFill>
                <a:effectLst/>
                <a:latin typeface="Arial" pitchFamily="-107" charset="0"/>
                <a:ea typeface="+mn-ea"/>
                <a:cs typeface="+mn-cs"/>
              </a:rPr>
              <a:t>maintaining security measures. All of these costs must be balanced against the cost of security failure and recovery if certain security measures are lacking. The cost of security failure and recovery must take into account not only the value of the assets being protected and the damages resulting from a security violation, but also the risk, which is the probability that a particular threat will exploit a particular vulnerability with a particular harmful result.</a:t>
            </a:r>
          </a:p>
          <a:p>
            <a:endParaRPr lang="en-US" sz="1200" kern="1200" dirty="0">
              <a:solidFill>
                <a:schemeClr val="tx1"/>
              </a:solidFill>
              <a:effectLst/>
              <a:latin typeface="Arial" pitchFamily="-107" charset="0"/>
              <a:ea typeface="+mn-ea"/>
              <a:cs typeface="+mn-cs"/>
            </a:endParaRPr>
          </a:p>
          <a:p>
            <a:r>
              <a:rPr lang="en-US" sz="1200" kern="1200" dirty="0">
                <a:solidFill>
                  <a:schemeClr val="tx1"/>
                </a:solidFill>
                <a:effectLst/>
                <a:latin typeface="Arial" pitchFamily="-107" charset="0"/>
                <a:ea typeface="+mn-ea"/>
                <a:cs typeface="+mn-cs"/>
              </a:rPr>
              <a:t>Security policy is thus a business decision, possibly influenced by legal requirements.</a:t>
            </a:r>
          </a:p>
          <a:p>
            <a:endParaRPr lang="en-US" sz="1200" b="0" i="0" u="none" strike="noStrike" kern="1200" baseline="0" dirty="0">
              <a:solidFill>
                <a:schemeClr val="tx1"/>
              </a:solidFill>
              <a:latin typeface="Arial" pitchFamily="-107" charset="0"/>
              <a:ea typeface="+mn-ea"/>
              <a:cs typeface="+mn-cs"/>
            </a:endParaRPr>
          </a:p>
          <a:p>
            <a:r>
              <a:rPr lang="en-US" sz="1200" b="0" i="0" u="none" strike="noStrike" kern="1200" baseline="0" dirty="0">
                <a:solidFill>
                  <a:schemeClr val="tx1"/>
                </a:solidFill>
                <a:latin typeface="Arial" pitchFamily="-107" charset="0"/>
                <a:ea typeface="+mn-ea"/>
                <a:cs typeface="+mn-cs"/>
              </a:rPr>
              <a:t>Security implementation involves four complementary courses of action:</a:t>
            </a:r>
          </a:p>
          <a:p>
            <a:endParaRPr lang="en-US" sz="1200" b="0" i="0" u="none" strike="noStrike" kern="1200" baseline="0" dirty="0">
              <a:solidFill>
                <a:schemeClr val="tx1"/>
              </a:solidFill>
              <a:latin typeface="Arial" pitchFamily="-107" charset="0"/>
              <a:ea typeface="+mn-ea"/>
              <a:cs typeface="+mn-cs"/>
            </a:endParaRPr>
          </a:p>
          <a:p>
            <a:r>
              <a:rPr lang="en-US" sz="1200" b="0" i="0" u="none" strike="noStrike" kern="1200" baseline="0" dirty="0">
                <a:solidFill>
                  <a:schemeClr val="tx1"/>
                </a:solidFill>
                <a:latin typeface="Arial" pitchFamily="-107" charset="0"/>
                <a:ea typeface="+mn-ea"/>
                <a:cs typeface="+mn-cs"/>
              </a:rPr>
              <a:t>• </a:t>
            </a:r>
            <a:r>
              <a:rPr lang="en-US" sz="1200" b="1" i="0" u="none" strike="noStrike" kern="1200" baseline="0" dirty="0">
                <a:solidFill>
                  <a:schemeClr val="tx1"/>
                </a:solidFill>
                <a:latin typeface="Arial" pitchFamily="-107" charset="0"/>
                <a:ea typeface="+mn-ea"/>
                <a:cs typeface="+mn-cs"/>
              </a:rPr>
              <a:t>Prevention</a:t>
            </a:r>
            <a:r>
              <a:rPr lang="en-US" sz="1200" b="0" i="0" u="none" strike="noStrike" kern="1200" baseline="0" dirty="0">
                <a:solidFill>
                  <a:schemeClr val="tx1"/>
                </a:solidFill>
                <a:latin typeface="Arial" pitchFamily="-107" charset="0"/>
                <a:ea typeface="+mn-ea"/>
                <a:cs typeface="+mn-cs"/>
              </a:rPr>
              <a:t>: An ideal security scheme is one in which no attack is successful. Although this is not practical in all cases, there is a wide range of threats in which prevention is a reasonable goal. For example, consider the transmission of encrypted data. If a secure encryption algorithm is used, and if measures are in place to prevent unauthorized access to encryption keys, then attacks on the confidentiality of the transmitted data will be prevented.</a:t>
            </a:r>
          </a:p>
          <a:p>
            <a:endParaRPr lang="en-US" sz="1200" b="0" i="0" u="none" strike="noStrike" kern="1200" baseline="0" dirty="0">
              <a:solidFill>
                <a:schemeClr val="tx1"/>
              </a:solidFill>
              <a:latin typeface="Arial" pitchFamily="-107" charset="0"/>
              <a:ea typeface="+mn-ea"/>
              <a:cs typeface="+mn-cs"/>
            </a:endParaRPr>
          </a:p>
          <a:p>
            <a:r>
              <a:rPr lang="en-US" sz="1200" b="0" i="0" u="none" strike="noStrike" kern="1200" baseline="0" dirty="0">
                <a:solidFill>
                  <a:schemeClr val="tx1"/>
                </a:solidFill>
                <a:latin typeface="Arial" pitchFamily="-107" charset="0"/>
                <a:ea typeface="+mn-ea"/>
                <a:cs typeface="+mn-cs"/>
              </a:rPr>
              <a:t>• </a:t>
            </a:r>
            <a:r>
              <a:rPr lang="en-US" sz="1200" b="1" i="0" u="none" strike="noStrike" kern="1200" baseline="0" dirty="0">
                <a:solidFill>
                  <a:schemeClr val="tx1"/>
                </a:solidFill>
                <a:latin typeface="Arial" pitchFamily="-107" charset="0"/>
                <a:ea typeface="+mn-ea"/>
                <a:cs typeface="+mn-cs"/>
              </a:rPr>
              <a:t>Detection</a:t>
            </a:r>
            <a:r>
              <a:rPr lang="en-US" sz="1200" b="0" i="0" u="none" strike="noStrike" kern="1200" baseline="0" dirty="0">
                <a:solidFill>
                  <a:schemeClr val="tx1"/>
                </a:solidFill>
                <a:latin typeface="Arial" pitchFamily="-107" charset="0"/>
                <a:ea typeface="+mn-ea"/>
                <a:cs typeface="+mn-cs"/>
              </a:rPr>
              <a:t>: In a number of cases, absolute protection is not feasible, but it is practical to detect security attacks. For example, there are intrusion detection systems designed to detect the presence of unauthorized individuals who are logged onto a system. Another example is detection of a denial of service attack, in which communications or processing resources are consumed so that they are unavailable to legitimate users.</a:t>
            </a:r>
          </a:p>
          <a:p>
            <a:endParaRPr lang="en-US" sz="1200" b="0" i="0" u="none" strike="noStrike" kern="1200" baseline="0" dirty="0">
              <a:solidFill>
                <a:schemeClr val="tx1"/>
              </a:solidFill>
              <a:latin typeface="Arial" pitchFamily="-107" charset="0"/>
              <a:ea typeface="+mn-ea"/>
              <a:cs typeface="+mn-cs"/>
            </a:endParaRPr>
          </a:p>
          <a:p>
            <a:r>
              <a:rPr lang="en-US" sz="1200" b="1" i="0" u="none" strike="noStrike" kern="1200" baseline="0" dirty="0">
                <a:solidFill>
                  <a:schemeClr val="tx1"/>
                </a:solidFill>
                <a:latin typeface="Arial" pitchFamily="-107" charset="0"/>
                <a:ea typeface="+mn-ea"/>
                <a:cs typeface="+mn-cs"/>
              </a:rPr>
              <a:t>• Response</a:t>
            </a:r>
            <a:r>
              <a:rPr lang="en-US" sz="1200" b="0" i="0" u="none" strike="noStrike" kern="1200" baseline="0" dirty="0">
                <a:solidFill>
                  <a:schemeClr val="tx1"/>
                </a:solidFill>
                <a:latin typeface="Arial" pitchFamily="-107" charset="0"/>
                <a:ea typeface="+mn-ea"/>
                <a:cs typeface="+mn-cs"/>
              </a:rPr>
              <a:t>: If security mechanisms detect an ongoing attack, such as a denial of service attack, the system may be able to respond in such a way as to halt the attack and prevent further damage.</a:t>
            </a:r>
          </a:p>
          <a:p>
            <a:endParaRPr lang="en-US" sz="1200" b="0" i="0" u="none" strike="noStrike" kern="1200" baseline="0" dirty="0">
              <a:solidFill>
                <a:schemeClr val="tx1"/>
              </a:solidFill>
              <a:latin typeface="Arial" pitchFamily="-107" charset="0"/>
              <a:ea typeface="+mn-ea"/>
              <a:cs typeface="+mn-cs"/>
            </a:endParaRPr>
          </a:p>
          <a:p>
            <a:r>
              <a:rPr lang="en-US" sz="1200" b="0" i="0" u="none" strike="noStrike" kern="1200" baseline="0" dirty="0">
                <a:solidFill>
                  <a:schemeClr val="tx1"/>
                </a:solidFill>
                <a:latin typeface="Arial" pitchFamily="-107" charset="0"/>
                <a:ea typeface="+mn-ea"/>
                <a:cs typeface="+mn-cs"/>
              </a:rPr>
              <a:t>• </a:t>
            </a:r>
            <a:r>
              <a:rPr lang="en-US" sz="1200" b="1" i="0" u="none" strike="noStrike" kern="1200" baseline="0" dirty="0">
                <a:solidFill>
                  <a:schemeClr val="tx1"/>
                </a:solidFill>
                <a:latin typeface="Arial" pitchFamily="-107" charset="0"/>
                <a:ea typeface="+mn-ea"/>
                <a:cs typeface="+mn-cs"/>
              </a:rPr>
              <a:t>Recovery:</a:t>
            </a:r>
            <a:r>
              <a:rPr lang="en-US" sz="1200" b="0" i="0" u="none" strike="noStrike" kern="1200" baseline="0" dirty="0">
                <a:solidFill>
                  <a:schemeClr val="tx1"/>
                </a:solidFill>
                <a:latin typeface="Arial" pitchFamily="-107" charset="0"/>
                <a:ea typeface="+mn-ea"/>
                <a:cs typeface="+mn-cs"/>
              </a:rPr>
              <a:t> An example of recovery is the use of backup systems so that if data integrity is compromised, a prior, correct copy of the data can be reloaded.</a:t>
            </a:r>
          </a:p>
          <a:p>
            <a:endParaRPr lang="en-US" sz="1200" b="0" i="0" u="none" strike="noStrike" kern="1200" baseline="0" dirty="0">
              <a:solidFill>
                <a:schemeClr val="tx1"/>
              </a:solidFill>
              <a:latin typeface="Arial" pitchFamily="-107" charset="0"/>
              <a:ea typeface="+mn-ea"/>
              <a:cs typeface="+mn-cs"/>
            </a:endParaRPr>
          </a:p>
          <a:p>
            <a:r>
              <a:rPr lang="en-US" sz="1200" kern="1200" dirty="0">
                <a:solidFill>
                  <a:schemeClr val="tx1"/>
                </a:solidFill>
                <a:effectLst/>
                <a:latin typeface="Arial" pitchFamily="-107" charset="0"/>
                <a:ea typeface="+mn-ea"/>
                <a:cs typeface="+mn-cs"/>
              </a:rPr>
              <a:t>Those who are “consumers” of computer security services and mechanisms (e.g., system managers, vendors, customers, and end users) desire to believe that the security</a:t>
            </a:r>
            <a:r>
              <a:rPr lang="en-US" sz="1200" kern="1200" baseline="0" dirty="0">
                <a:solidFill>
                  <a:schemeClr val="tx1"/>
                </a:solidFill>
                <a:effectLst/>
                <a:latin typeface="Arial" pitchFamily="-107" charset="0"/>
                <a:ea typeface="+mn-ea"/>
                <a:cs typeface="+mn-cs"/>
              </a:rPr>
              <a:t> </a:t>
            </a:r>
            <a:r>
              <a:rPr lang="en-US" sz="1200" kern="1200" dirty="0">
                <a:solidFill>
                  <a:schemeClr val="tx1"/>
                </a:solidFill>
                <a:effectLst/>
                <a:latin typeface="Arial" pitchFamily="-107" charset="0"/>
                <a:ea typeface="+mn-ea"/>
                <a:cs typeface="+mn-cs"/>
              </a:rPr>
              <a:t>measures in place work as intended. That is, security consumers want to feel that the</a:t>
            </a:r>
            <a:r>
              <a:rPr lang="en-US" sz="1200" kern="1200" baseline="0" dirty="0">
                <a:solidFill>
                  <a:schemeClr val="tx1"/>
                </a:solidFill>
                <a:effectLst/>
                <a:latin typeface="Arial" pitchFamily="-107" charset="0"/>
                <a:ea typeface="+mn-ea"/>
                <a:cs typeface="+mn-cs"/>
              </a:rPr>
              <a:t> </a:t>
            </a:r>
            <a:r>
              <a:rPr lang="en-US" sz="1200" kern="1200" dirty="0">
                <a:solidFill>
                  <a:schemeClr val="tx1"/>
                </a:solidFill>
                <a:effectLst/>
                <a:latin typeface="Arial" pitchFamily="-107" charset="0"/>
                <a:ea typeface="+mn-ea"/>
                <a:cs typeface="+mn-cs"/>
              </a:rPr>
              <a:t>security infrastructure of their systems meets security requirements and enforces security policies. These considerations bring us to the concepts of assurance and evaluation.</a:t>
            </a:r>
          </a:p>
          <a:p>
            <a:endParaRPr lang="en-US" sz="1200" kern="1200" dirty="0">
              <a:solidFill>
                <a:schemeClr val="tx1"/>
              </a:solidFill>
              <a:effectLst/>
              <a:latin typeface="Arial" pitchFamily="-107" charset="0"/>
              <a:ea typeface="+mn-ea"/>
              <a:cs typeface="+mn-cs"/>
            </a:endParaRPr>
          </a:p>
          <a:p>
            <a:r>
              <a:rPr lang="en-US" sz="1200" b="1" kern="1200" dirty="0">
                <a:solidFill>
                  <a:schemeClr val="tx1"/>
                </a:solidFill>
                <a:effectLst/>
                <a:latin typeface="Arial" pitchFamily="-107" charset="0"/>
                <a:ea typeface="+mn-ea"/>
                <a:cs typeface="+mn-cs"/>
              </a:rPr>
              <a:t>Assurance</a:t>
            </a:r>
            <a:r>
              <a:rPr lang="en-US" sz="1200" kern="1200" dirty="0">
                <a:solidFill>
                  <a:schemeClr val="tx1"/>
                </a:solidFill>
                <a:effectLst/>
                <a:latin typeface="Arial" pitchFamily="-107" charset="0"/>
                <a:ea typeface="+mn-ea"/>
                <a:cs typeface="+mn-cs"/>
              </a:rPr>
              <a:t> is an attribute of an information system that provides grounds for having confidence that the system operates such that the system’s security policy is enforced. This encompasses both system design and system implementation. Thus, assurance deals with the questions, “Does the security system design meet its requirements?” and “Does the security system implementation meet its specifications?” Assurance is expressed as a degree of confidence, not in terms of a formal proof that a design or implementation is correct. The state of the art of proving designs and implementations is such that it is not possible to provide absolute proof. Much work has been done in developing formal models that define requirements and characterize designs and implementations, together with logical and mathematical techniques for addressing these issues. But assurance is still a matter of degree.</a:t>
            </a:r>
          </a:p>
          <a:p>
            <a:endParaRPr lang="en-US" sz="1200" kern="1200" dirty="0">
              <a:solidFill>
                <a:schemeClr val="tx1"/>
              </a:solidFill>
              <a:effectLst/>
              <a:latin typeface="Arial" pitchFamily="-107" charset="0"/>
              <a:ea typeface="+mn-ea"/>
              <a:cs typeface="+mn-cs"/>
            </a:endParaRPr>
          </a:p>
          <a:p>
            <a:r>
              <a:rPr lang="en-US" sz="1200" b="1" kern="1200" dirty="0">
                <a:solidFill>
                  <a:schemeClr val="tx1"/>
                </a:solidFill>
                <a:effectLst/>
                <a:latin typeface="Arial" pitchFamily="-107" charset="0"/>
                <a:ea typeface="+mn-ea"/>
                <a:cs typeface="+mn-cs"/>
              </a:rPr>
              <a:t>Evaluation</a:t>
            </a:r>
            <a:r>
              <a:rPr lang="en-US" sz="1200" kern="1200" dirty="0">
                <a:solidFill>
                  <a:schemeClr val="tx1"/>
                </a:solidFill>
                <a:effectLst/>
                <a:latin typeface="Arial" pitchFamily="-107" charset="0"/>
                <a:ea typeface="+mn-ea"/>
                <a:cs typeface="+mn-cs"/>
              </a:rPr>
              <a:t> is the process of examining a computer product or system with respect to certain criteria. Evaluation involves testing and may also involve formal analytic or mathematical techniques. The central thrust of work in this area is the development of evaluation criteria that can be applied to any security system (encompassing security services and mechanisms) and that are broadly supported for making product comparisons.</a:t>
            </a:r>
            <a:endParaRPr lang="en-US" sz="1200"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51537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163841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07" charset="0"/>
                <a:ea typeface="+mn-ea"/>
                <a:cs typeface="+mn-cs"/>
              </a:rPr>
              <a:t>Many of the security techniques and applications described in this book have been specified as standards. Additionally, standards have been developed to cover management practices and the overall architecture of security mechanisms and services. Throughout this book, we will describe the most important standards in use or that are being developed for various aspects of computer security. Various organizations have been involved in the development or promotion of these standards. The most important (in the current context) of these organizations are as follows:</a:t>
            </a:r>
          </a:p>
          <a:p>
            <a:endParaRPr lang="en-US" sz="1200" kern="1200" dirty="0">
              <a:solidFill>
                <a:schemeClr val="tx1"/>
              </a:solidFill>
              <a:effectLst/>
              <a:latin typeface="Arial" pitchFamily="-107" charset="0"/>
              <a:ea typeface="+mn-ea"/>
              <a:cs typeface="+mn-cs"/>
            </a:endParaRPr>
          </a:p>
          <a:p>
            <a:r>
              <a:rPr lang="en-US" sz="1200" kern="1200" dirty="0">
                <a:solidFill>
                  <a:schemeClr val="tx1"/>
                </a:solidFill>
                <a:effectLst/>
                <a:latin typeface="Arial" pitchFamily="-107" charset="0"/>
                <a:ea typeface="+mn-ea"/>
                <a:cs typeface="+mn-cs"/>
              </a:rPr>
              <a:t>• </a:t>
            </a:r>
            <a:r>
              <a:rPr lang="en-US" sz="1200" b="1" kern="1200" dirty="0">
                <a:solidFill>
                  <a:schemeClr val="tx1"/>
                </a:solidFill>
                <a:effectLst/>
                <a:latin typeface="Arial" pitchFamily="-107" charset="0"/>
                <a:ea typeface="+mn-ea"/>
                <a:cs typeface="+mn-cs"/>
              </a:rPr>
              <a:t>National Institute of Standards and Technology</a:t>
            </a:r>
            <a:r>
              <a:rPr lang="en-US" sz="1200" kern="1200" dirty="0">
                <a:solidFill>
                  <a:schemeClr val="tx1"/>
                </a:solidFill>
                <a:effectLst/>
                <a:latin typeface="Arial" pitchFamily="-107" charset="0"/>
                <a:ea typeface="+mn-ea"/>
                <a:cs typeface="+mn-cs"/>
              </a:rPr>
              <a:t>: N I S T is a U.S. federal agency that deals with measurement science, standards, and technology related to U.S. government use and to the promotion of U.S. private sector innovation. Despite its national scope, NIST Federal Information Processing Standards (F I P S) and Special Publications (S P) have a worldwide impact.</a:t>
            </a:r>
          </a:p>
          <a:p>
            <a:endParaRPr lang="en-US" sz="1200" kern="1200" dirty="0">
              <a:solidFill>
                <a:schemeClr val="tx1"/>
              </a:solidFill>
              <a:effectLst/>
              <a:latin typeface="Arial" pitchFamily="-107" charset="0"/>
              <a:ea typeface="+mn-ea"/>
              <a:cs typeface="+mn-cs"/>
            </a:endParaRPr>
          </a:p>
          <a:p>
            <a:r>
              <a:rPr lang="en-US" sz="1200" b="1" kern="1200" dirty="0">
                <a:solidFill>
                  <a:schemeClr val="tx1"/>
                </a:solidFill>
                <a:effectLst/>
                <a:latin typeface="Arial" pitchFamily="-107" charset="0"/>
                <a:ea typeface="+mn-ea"/>
                <a:cs typeface="+mn-cs"/>
              </a:rPr>
              <a:t> Internet Society</a:t>
            </a:r>
            <a:r>
              <a:rPr lang="en-US" sz="1200" kern="1200" dirty="0">
                <a:solidFill>
                  <a:schemeClr val="tx1"/>
                </a:solidFill>
                <a:effectLst/>
                <a:latin typeface="Arial" pitchFamily="-107" charset="0"/>
                <a:ea typeface="+mn-ea"/>
                <a:cs typeface="+mn-cs"/>
              </a:rPr>
              <a:t>: I S O C is a professional membership society with worldwide organizational and individual membership. It provides leadership in addressing issues that confront the future of the Internet</a:t>
            </a:r>
            <a:r>
              <a:rPr lang="en-US" sz="1200" kern="1200" baseline="0" dirty="0">
                <a:solidFill>
                  <a:schemeClr val="tx1"/>
                </a:solidFill>
                <a:effectLst/>
                <a:latin typeface="Arial" pitchFamily="-107" charset="0"/>
                <a:ea typeface="+mn-ea"/>
                <a:cs typeface="+mn-cs"/>
              </a:rPr>
              <a:t> </a:t>
            </a:r>
            <a:r>
              <a:rPr lang="en-US" sz="1200" kern="1200" dirty="0">
                <a:solidFill>
                  <a:schemeClr val="tx1"/>
                </a:solidFill>
                <a:effectLst/>
                <a:latin typeface="Arial" pitchFamily="-107" charset="0"/>
                <a:ea typeface="+mn-ea"/>
                <a:cs typeface="+mn-cs"/>
              </a:rPr>
              <a:t>and is the organization home for the groups responsible for Internet infrastructure standards, including the Internet Engineering Task Force (I E T F) and the Internet Architecture Board (I A B). These organizations develop Internet standards and related specifications, all of which are published as Requests for Comments (R F Cs).</a:t>
            </a:r>
          </a:p>
          <a:p>
            <a:endParaRPr lang="en-US" sz="1200" kern="1200" dirty="0">
              <a:solidFill>
                <a:schemeClr val="tx1"/>
              </a:solidFill>
              <a:effectLst/>
              <a:latin typeface="Arial" pitchFamily="-107" charset="0"/>
              <a:ea typeface="+mn-ea"/>
              <a:cs typeface="+mn-cs"/>
            </a:endParaRPr>
          </a:p>
          <a:p>
            <a:r>
              <a:rPr lang="en-US" sz="1200" kern="1200" dirty="0">
                <a:solidFill>
                  <a:schemeClr val="tx1"/>
                </a:solidFill>
                <a:effectLst/>
                <a:latin typeface="Arial" pitchFamily="-107" charset="0"/>
                <a:ea typeface="+mn-ea"/>
                <a:cs typeface="+mn-cs"/>
              </a:rPr>
              <a:t>• </a:t>
            </a:r>
            <a:r>
              <a:rPr lang="en-US" sz="1200" b="1" kern="1200" dirty="0">
                <a:solidFill>
                  <a:schemeClr val="tx1"/>
                </a:solidFill>
                <a:effectLst/>
                <a:latin typeface="Arial" pitchFamily="-107" charset="0"/>
                <a:ea typeface="+mn-ea"/>
                <a:cs typeface="+mn-cs"/>
              </a:rPr>
              <a:t>I T U-T</a:t>
            </a:r>
            <a:r>
              <a:rPr lang="en-US" sz="1200" kern="1200" dirty="0">
                <a:solidFill>
                  <a:schemeClr val="tx1"/>
                </a:solidFill>
                <a:effectLst/>
                <a:latin typeface="Arial" pitchFamily="-107" charset="0"/>
                <a:ea typeface="+mn-ea"/>
                <a:cs typeface="+mn-cs"/>
              </a:rPr>
              <a:t>: The International Telecommunication Union (I T U) is a United Nations agency in which governments and the private sector coordinate global telecom networks and services. The I T U Telecommunication Standardization Sector (I T U-T) is one of the three sectors of the I T U. I T U-T’s mission is the production of standards covering all fields of telecommunications. I T U-T standards are referred to as Recommendations.</a:t>
            </a:r>
          </a:p>
          <a:p>
            <a:endParaRPr lang="en-US" sz="1200" kern="1200" dirty="0">
              <a:solidFill>
                <a:schemeClr val="tx1"/>
              </a:solidFill>
              <a:effectLst/>
              <a:latin typeface="Arial" pitchFamily="-107" charset="0"/>
              <a:ea typeface="+mn-ea"/>
              <a:cs typeface="+mn-cs"/>
            </a:endParaRPr>
          </a:p>
          <a:p>
            <a:r>
              <a:rPr lang="en-US" sz="1200" kern="1200" dirty="0">
                <a:solidFill>
                  <a:schemeClr val="tx1"/>
                </a:solidFill>
                <a:effectLst/>
                <a:latin typeface="Arial" pitchFamily="-107" charset="0"/>
                <a:ea typeface="+mn-ea"/>
                <a:cs typeface="+mn-cs"/>
              </a:rPr>
              <a:t>• </a:t>
            </a:r>
            <a:r>
              <a:rPr lang="en-US" sz="1200" b="1" kern="1200" dirty="0">
                <a:solidFill>
                  <a:schemeClr val="tx1"/>
                </a:solidFill>
                <a:effectLst/>
                <a:latin typeface="Arial" pitchFamily="-107" charset="0"/>
                <a:ea typeface="+mn-ea"/>
                <a:cs typeface="+mn-cs"/>
              </a:rPr>
              <a:t>I S O:</a:t>
            </a:r>
            <a:r>
              <a:rPr lang="en-US" sz="1200" kern="1200" dirty="0">
                <a:solidFill>
                  <a:schemeClr val="tx1"/>
                </a:solidFill>
                <a:effectLst/>
                <a:latin typeface="Arial" pitchFamily="-107" charset="0"/>
                <a:ea typeface="+mn-ea"/>
                <a:cs typeface="+mn-cs"/>
              </a:rPr>
              <a:t> The International Organization for Standardization (I S O) is a worldwide federation of national standards bodies from more than 140 countries. I S O is a nongovernmental organization that promotes the development of standardization and related activities with a view to facilitating the international exchange of goods and services</a:t>
            </a:r>
            <a:r>
              <a:rPr lang="en-US" sz="1200" kern="1200" baseline="0" dirty="0">
                <a:solidFill>
                  <a:schemeClr val="tx1"/>
                </a:solidFill>
                <a:effectLst/>
                <a:latin typeface="Arial" pitchFamily="-107" charset="0"/>
                <a:ea typeface="+mn-ea"/>
                <a:cs typeface="+mn-cs"/>
              </a:rPr>
              <a:t> </a:t>
            </a:r>
            <a:r>
              <a:rPr lang="en-US" sz="1200" kern="1200" dirty="0">
                <a:solidFill>
                  <a:schemeClr val="tx1"/>
                </a:solidFill>
                <a:effectLst/>
                <a:latin typeface="Arial" pitchFamily="-107" charset="0"/>
                <a:ea typeface="+mn-ea"/>
                <a:cs typeface="+mn-cs"/>
              </a:rPr>
              <a:t>and to developing cooperation in the spheres of intellectual, scientific, technological, and economic activity. I S O’s work results in international agreements that are published as International Standards.</a:t>
            </a:r>
            <a:endParaRPr lang="en-US" sz="1200"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37297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07" charset="0"/>
                <a:ea typeface="+mn-ea"/>
                <a:cs typeface="+mn-cs"/>
              </a:rPr>
              <a:t>Many of the security techniques and applications described in this book have been specified as standards. Additionally, standards have been developed to cover management practices and the overall architecture of security mechanisms and services. Throughout this book, we will describe the most important standards in use or that are being developed for various aspects of computer security. Various organizations have been involved in the development or promotion of these standards. The most important (in the current context) of these organizations are as follows:</a:t>
            </a:r>
          </a:p>
          <a:p>
            <a:endParaRPr lang="en-US" sz="1200" kern="1200" dirty="0">
              <a:solidFill>
                <a:schemeClr val="tx1"/>
              </a:solidFill>
              <a:effectLst/>
              <a:latin typeface="Arial" pitchFamily="-107" charset="0"/>
              <a:ea typeface="+mn-ea"/>
              <a:cs typeface="+mn-cs"/>
            </a:endParaRPr>
          </a:p>
          <a:p>
            <a:r>
              <a:rPr lang="en-US" sz="1200" kern="1200" dirty="0">
                <a:solidFill>
                  <a:schemeClr val="tx1"/>
                </a:solidFill>
                <a:effectLst/>
                <a:latin typeface="Arial" pitchFamily="-107" charset="0"/>
                <a:ea typeface="+mn-ea"/>
                <a:cs typeface="+mn-cs"/>
              </a:rPr>
              <a:t>• </a:t>
            </a:r>
            <a:r>
              <a:rPr lang="en-US" sz="1200" b="1" kern="1200" dirty="0">
                <a:solidFill>
                  <a:schemeClr val="tx1"/>
                </a:solidFill>
                <a:effectLst/>
                <a:latin typeface="Arial" pitchFamily="-107" charset="0"/>
                <a:ea typeface="+mn-ea"/>
                <a:cs typeface="+mn-cs"/>
              </a:rPr>
              <a:t>National Institute of Standards and Technology</a:t>
            </a:r>
            <a:r>
              <a:rPr lang="en-US" sz="1200" kern="1200" dirty="0">
                <a:solidFill>
                  <a:schemeClr val="tx1"/>
                </a:solidFill>
                <a:effectLst/>
                <a:latin typeface="Arial" pitchFamily="-107" charset="0"/>
                <a:ea typeface="+mn-ea"/>
                <a:cs typeface="+mn-cs"/>
              </a:rPr>
              <a:t>: N I S T is a U.S. federal agency that deals with measurement science, standards, and technology related to U.S. government use and to the promotion of U.S. private sector innovation. Despite its national scope, N I S T Federal Information Processing Standards (F I P S) and Special Publications (S P) have a worldwide impact.</a:t>
            </a:r>
          </a:p>
          <a:p>
            <a:endParaRPr lang="en-US" sz="1200" kern="1200" dirty="0">
              <a:solidFill>
                <a:schemeClr val="tx1"/>
              </a:solidFill>
              <a:effectLst/>
              <a:latin typeface="Arial" pitchFamily="-107" charset="0"/>
              <a:ea typeface="+mn-ea"/>
              <a:cs typeface="+mn-cs"/>
            </a:endParaRPr>
          </a:p>
          <a:p>
            <a:r>
              <a:rPr lang="en-US" sz="1200" b="1" kern="1200" dirty="0">
                <a:solidFill>
                  <a:schemeClr val="tx1"/>
                </a:solidFill>
                <a:effectLst/>
                <a:latin typeface="Arial" pitchFamily="-107" charset="0"/>
                <a:ea typeface="+mn-ea"/>
                <a:cs typeface="+mn-cs"/>
              </a:rPr>
              <a:t> Internet Society</a:t>
            </a:r>
            <a:r>
              <a:rPr lang="en-US" sz="1200" kern="1200" dirty="0">
                <a:solidFill>
                  <a:schemeClr val="tx1"/>
                </a:solidFill>
                <a:effectLst/>
                <a:latin typeface="Arial" pitchFamily="-107" charset="0"/>
                <a:ea typeface="+mn-ea"/>
                <a:cs typeface="+mn-cs"/>
              </a:rPr>
              <a:t>: I S O C is a professional membership society with worldwide organizational and individual membership. It provides leadership in addressing issues that confront the future of the Internet</a:t>
            </a:r>
            <a:r>
              <a:rPr lang="en-US" sz="1200" kern="1200" baseline="0" dirty="0">
                <a:solidFill>
                  <a:schemeClr val="tx1"/>
                </a:solidFill>
                <a:effectLst/>
                <a:latin typeface="Arial" pitchFamily="-107" charset="0"/>
                <a:ea typeface="+mn-ea"/>
                <a:cs typeface="+mn-cs"/>
              </a:rPr>
              <a:t> </a:t>
            </a:r>
            <a:r>
              <a:rPr lang="en-US" sz="1200" kern="1200" dirty="0">
                <a:solidFill>
                  <a:schemeClr val="tx1"/>
                </a:solidFill>
                <a:effectLst/>
                <a:latin typeface="Arial" pitchFamily="-107" charset="0"/>
                <a:ea typeface="+mn-ea"/>
                <a:cs typeface="+mn-cs"/>
              </a:rPr>
              <a:t>and is the organization home for the groups responsible for Internet infrastructure standards, including the Internet Engineering Task Force (I E T F) and the Internet Architecture Board (I A B). These organizations develop Internet standards and related specifications, all of which are published as Requests for Comments (R F Cs).</a:t>
            </a:r>
          </a:p>
          <a:p>
            <a:endParaRPr lang="en-US" sz="1200" kern="1200" dirty="0">
              <a:solidFill>
                <a:schemeClr val="tx1"/>
              </a:solidFill>
              <a:effectLst/>
              <a:latin typeface="Arial" pitchFamily="-107" charset="0"/>
              <a:ea typeface="+mn-ea"/>
              <a:cs typeface="+mn-cs"/>
            </a:endParaRPr>
          </a:p>
          <a:p>
            <a:r>
              <a:rPr lang="en-US" sz="1200" kern="1200" dirty="0">
                <a:solidFill>
                  <a:schemeClr val="tx1"/>
                </a:solidFill>
                <a:effectLst/>
                <a:latin typeface="Arial" pitchFamily="-107" charset="0"/>
                <a:ea typeface="+mn-ea"/>
                <a:cs typeface="+mn-cs"/>
              </a:rPr>
              <a:t>• </a:t>
            </a:r>
            <a:r>
              <a:rPr lang="en-US" sz="1200" b="1" kern="1200" dirty="0">
                <a:solidFill>
                  <a:schemeClr val="tx1"/>
                </a:solidFill>
                <a:effectLst/>
                <a:latin typeface="Arial" pitchFamily="-107" charset="0"/>
                <a:ea typeface="+mn-ea"/>
                <a:cs typeface="+mn-cs"/>
              </a:rPr>
              <a:t>I T U-T</a:t>
            </a:r>
            <a:r>
              <a:rPr lang="en-US" sz="1200" kern="1200" dirty="0">
                <a:solidFill>
                  <a:schemeClr val="tx1"/>
                </a:solidFill>
                <a:effectLst/>
                <a:latin typeface="Arial" pitchFamily="-107" charset="0"/>
                <a:ea typeface="+mn-ea"/>
                <a:cs typeface="+mn-cs"/>
              </a:rPr>
              <a:t>: The International Telecommunication Union (I T U) is a United Nations agency in which governments and the private sector coordinate global telecom networks and services. The I T U Telecommunication Standardization Sector (I T U-T) is one of the three sectors of the I T U. I T U-T’s mission is the production of standards covering all fields of telecommunications. I T U-T standards are referred to as Recommendations.</a:t>
            </a:r>
          </a:p>
          <a:p>
            <a:endParaRPr lang="en-US" sz="1200" kern="1200" dirty="0">
              <a:solidFill>
                <a:schemeClr val="tx1"/>
              </a:solidFill>
              <a:effectLst/>
              <a:latin typeface="Arial" pitchFamily="-107" charset="0"/>
              <a:ea typeface="+mn-ea"/>
              <a:cs typeface="+mn-cs"/>
            </a:endParaRPr>
          </a:p>
          <a:p>
            <a:r>
              <a:rPr lang="en-US" sz="1200" kern="1200" dirty="0">
                <a:solidFill>
                  <a:schemeClr val="tx1"/>
                </a:solidFill>
                <a:effectLst/>
                <a:latin typeface="Arial" pitchFamily="-107" charset="0"/>
                <a:ea typeface="+mn-ea"/>
                <a:cs typeface="+mn-cs"/>
              </a:rPr>
              <a:t>• </a:t>
            </a:r>
            <a:r>
              <a:rPr lang="en-US" sz="1200" b="1" kern="1200" dirty="0">
                <a:solidFill>
                  <a:schemeClr val="tx1"/>
                </a:solidFill>
                <a:effectLst/>
                <a:latin typeface="Arial" pitchFamily="-107" charset="0"/>
                <a:ea typeface="+mn-ea"/>
                <a:cs typeface="+mn-cs"/>
              </a:rPr>
              <a:t>I S O:</a:t>
            </a:r>
            <a:r>
              <a:rPr lang="en-US" sz="1200" kern="1200" dirty="0">
                <a:solidFill>
                  <a:schemeClr val="tx1"/>
                </a:solidFill>
                <a:effectLst/>
                <a:latin typeface="Arial" pitchFamily="-107" charset="0"/>
                <a:ea typeface="+mn-ea"/>
                <a:cs typeface="+mn-cs"/>
              </a:rPr>
              <a:t> The International Organization for Standardization (I S O) is a worldwide federation of national standards bodies from more than 140 countries. I S O is a nongovernmental organization that promotes the development of standardization and related activities with a view to facilitating the international exchange of goods and services</a:t>
            </a:r>
            <a:r>
              <a:rPr lang="en-US" sz="1200" kern="1200" baseline="0" dirty="0">
                <a:solidFill>
                  <a:schemeClr val="tx1"/>
                </a:solidFill>
                <a:effectLst/>
                <a:latin typeface="Arial" pitchFamily="-107" charset="0"/>
                <a:ea typeface="+mn-ea"/>
                <a:cs typeface="+mn-cs"/>
              </a:rPr>
              <a:t> </a:t>
            </a:r>
            <a:r>
              <a:rPr lang="en-US" sz="1200" kern="1200" dirty="0">
                <a:solidFill>
                  <a:schemeClr val="tx1"/>
                </a:solidFill>
                <a:effectLst/>
                <a:latin typeface="Arial" pitchFamily="-107" charset="0"/>
                <a:ea typeface="+mn-ea"/>
                <a:cs typeface="+mn-cs"/>
              </a:rPr>
              <a:t>and to developing cooperation in the spheres of intellectual, scientific, technological, and economic activity. I S O’s work results in international agreements that are published as International Standards.</a:t>
            </a:r>
            <a:endParaRPr lang="en-US" sz="1200"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888765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panose="020B0604020202020204" pitchFamily="34" charset="0"/>
                <a:cs typeface="Arial" panose="020B0604020202020204" pitchFamily="34" charset="0"/>
              </a:rPr>
              <a:t>Chapter 1 summary.</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54117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48</a:t>
            </a:fld>
            <a:endParaRPr lang="en-US" dirty="0"/>
          </a:p>
        </p:txBody>
      </p:sp>
    </p:spTree>
    <p:extLst>
      <p:ext uri="{BB962C8B-B14F-4D97-AF65-F5344CB8AC3E}">
        <p14:creationId xmlns:p14="http://schemas.microsoft.com/office/powerpoint/2010/main" val="124403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Wingdings" panose="05000000000000000000" pitchFamily="2" charset="2"/>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F36C9FC-DA22-1F47-8722-58727A1D436E}" type="slidenum">
              <a:rPr lang="en-US" smtClean="0"/>
              <a:pPr/>
              <a:t>‹#›</a:t>
            </a:fld>
            <a:endParaRPr lang="en-US" dirty="0"/>
          </a:p>
        </p:txBody>
      </p:sp>
    </p:spTree>
    <p:extLst>
      <p:ext uri="{BB962C8B-B14F-4D97-AF65-F5344CB8AC3E}">
        <p14:creationId xmlns:p14="http://schemas.microsoft.com/office/powerpoint/2010/main" val="352809057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image" Target="../media/image1.jpg"/><Relationship Id="rId2" Type="http://schemas.openxmlformats.org/officeDocument/2006/relationships/slideLayout" Target="../slideLayouts/slideLayout3.xml"/><Relationship Id="rId16"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2" name="Picture 1" descr="Pearson Logo">
            <a:extLst>
              <a:ext uri="{FF2B5EF4-FFF2-40B4-BE49-F238E27FC236}">
                <a16:creationId xmlns:a16="http://schemas.microsoft.com/office/drawing/2014/main" id="{90C90D87-E20D-3631-6346-54F2941C0DDB}"/>
              </a:ext>
            </a:extLst>
          </p:cNvPr>
          <p:cNvPicPr>
            <a:picLocks noChangeAspect="1"/>
          </p:cNvPicPr>
          <p:nvPr userDrawn="1"/>
        </p:nvPicPr>
        <p:blipFill>
          <a:blip r:embed="rId17"/>
          <a:stretch>
            <a:fillRect/>
          </a:stretch>
        </p:blipFill>
        <p:spPr>
          <a:xfrm>
            <a:off x="440466" y="6405372"/>
            <a:ext cx="986560" cy="310866"/>
          </a:xfrm>
          <a:prstGeom prst="rect">
            <a:avLst/>
          </a:prstGeom>
        </p:spPr>
      </p:pic>
      <p:sp>
        <p:nvSpPr>
          <p:cNvPr id="4" name="Content Placeholder 7">
            <a:extLst>
              <a:ext uri="{FF2B5EF4-FFF2-40B4-BE49-F238E27FC236}">
                <a16:creationId xmlns:a16="http://schemas.microsoft.com/office/drawing/2014/main" id="{8638E144-7881-1F30-D517-68A2850620F0}"/>
              </a:ext>
              <a:ext uri="{C183D7F6-B498-43B3-948B-1728B52AA6E4}">
                <adec:decorative xmlns:adec="http://schemas.microsoft.com/office/drawing/2017/decorative" val="0"/>
              </a:ext>
            </a:extLst>
          </p:cNvPr>
          <p:cNvSpPr txBox="1">
            <a:spLocks/>
          </p:cNvSpPr>
          <p:nvPr userDrawn="1"/>
        </p:nvSpPr>
        <p:spPr>
          <a:xfrm>
            <a:off x="2106112" y="6458779"/>
            <a:ext cx="6589712" cy="221018"/>
          </a:xfrm>
          <a:prstGeom prst="rect">
            <a:avLst/>
          </a:prstGeom>
        </p:spPr>
        <p:txBody>
          <a:bodyPr lIns="0" tIns="18000" rIns="0" bIns="180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dirty="0">
                <a:latin typeface="Verdana"/>
                <a:ea typeface="Verdana" panose="020B0604030504040204" pitchFamily="34" charset="0"/>
                <a:cs typeface="Verdana" panose="020B0604030504040204" pitchFamily="34" charset="0"/>
              </a:rPr>
              <a:t>Copyright © 2024, 2018, 2015 Pearson Education, Inc. All Rights Reserved</a:t>
            </a:r>
          </a:p>
        </p:txBody>
      </p:sp>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76" r:id="rId4"/>
    <p:sldLayoutId id="2147483677" r:id="rId5"/>
    <p:sldLayoutId id="2147483678" r:id="rId6"/>
    <p:sldLayoutId id="2147483679" r:id="rId7"/>
    <p:sldLayoutId id="2147483680" r:id="rId8"/>
    <p:sldLayoutId id="2147483681" r:id="rId9"/>
    <p:sldLayoutId id="2147483671" r:id="rId10"/>
    <p:sldLayoutId id="2147483673" r:id="rId11"/>
    <p:sldLayoutId id="2147483670" r:id="rId12"/>
    <p:sldLayoutId id="2147483669" r:id="rId13"/>
    <p:sldLayoutId id="2147483655" r:id="rId14"/>
    <p:sldLayoutId id="2147483683"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csrc.nist.gov/publications/fips/fips199/FIPS-PUB-199-final.pdf"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www.vice.com/en_us/article/vbqax3/hackers-sim-swapping-steal-phone-numbers-instagram-bitcoin"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hyperlink" Target="http://www.schneier.com/" TargetMode="External"/><Relationship Id="rId7"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hyperlink" Target="https://www.schneier.com/blog/archives/2020/12/russias-solarwinds-attack.html" TargetMode="External"/><Relationship Id="rId4" Type="http://schemas.openxmlformats.org/officeDocument/2006/relationships/hyperlink" Target="https://www.youtube.com/watch?v=AnjLjIbeu8s&amp;t=1s" TargetMode="External"/><Relationship Id="rId9" Type="http://schemas.openxmlformats.org/officeDocument/2006/relationships/hyperlink" Target="https://www.nsa.gov/Signals-Intelligence/EO-12333/"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hyperlink" Target="https://www.schneier.com/blog/archives/2004/12/safe_personal_c.html" TargetMode="External"/><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9.xml"/><Relationship Id="rId5" Type="http://schemas.openxmlformats.org/officeDocument/2006/relationships/hyperlink" Target="https://www.nist.gov/cyberframework/online-learning/five-functions" TargetMode="External"/><Relationship Id="rId4" Type="http://schemas.openxmlformats.org/officeDocument/2006/relationships/hyperlink" Target="https://www.nist.gov/video/cybersecurity-framework-0"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hyperlink" Target="https://csrc.nist.gov/pubs/fips/200/final" TargetMode="Externa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hyperlink" Target="https://people.duke.edu/~tkb13/courses/ece590-sec-2019fa/slides/02-overview.pdf" TargetMode="External"/><Relationship Id="rId2" Type="http://schemas.openxmlformats.org/officeDocument/2006/relationships/image" Target="../media/image13.png"/><Relationship Id="rId1" Type="http://schemas.openxmlformats.org/officeDocument/2006/relationships/slideLayout" Target="../slideLayouts/slideLayout16.xml"/><Relationship Id="rId4" Type="http://schemas.openxmlformats.org/officeDocument/2006/relationships/image" Target="../media/image14.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hyperlink" Target="http://ieeexplore.ieee.org/stamp/stamp.jsp?arnumber=7478490" TargetMode="External"/><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hyperlink" Target="https://people.duke.edu/~tkb13/courses/ece590-sec-2019fa/slides/02-overview.pdf" TargetMode="External"/><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hyperlink" Target="https://people.duke.edu/~tkb13/courses/ece590-sec-2019fa/slides/02-overview.pdf" TargetMode="External"/><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hyperlink" Target="https://people.duke.edu/~tkb13/courses/ece590-sec-2019fa/slides/02-overview.pdf" TargetMode="External"/><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2" Type="http://schemas.openxmlformats.org/officeDocument/2006/relationships/hyperlink" Target="https://people.duke.edu/~tkb13/courses/ece590-sec-2019fa/slides/02-overview.pdf" TargetMode="External"/><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1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val="1"/>
              </a:ext>
            </a:extLst>
          </p:cNvPr>
          <p:cNvSpPr>
            <a:spLocks noGrp="1"/>
          </p:cNvSpPr>
          <p:nvPr>
            <p:ph type="title"/>
          </p:nvPr>
        </p:nvSpPr>
        <p:spPr>
          <a:xfrm>
            <a:off x="447772" y="158683"/>
            <a:ext cx="8253316" cy="1144347"/>
          </a:xfrm>
        </p:spPr>
        <p:txBody>
          <a:bodyPr wrap="square" lIns="0" tIns="18000" rIns="0" bIns="18000" anchor="ctr" anchorCtr="0">
            <a:spAutoFit/>
          </a:bodyPr>
          <a:lstStyle/>
          <a:p>
            <a:r>
              <a:rPr lang="en-US" noProof="0" dirty="0"/>
              <a:t>Computer Security: Principles and Practice</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val="1"/>
              </a:ext>
            </a:extLst>
          </p:cNvPr>
          <p:cNvSpPr>
            <a:spLocks noGrp="1"/>
          </p:cNvSpPr>
          <p:nvPr>
            <p:ph type="body" idx="1"/>
          </p:nvPr>
        </p:nvSpPr>
        <p:spPr>
          <a:xfrm>
            <a:off x="438346" y="1381232"/>
            <a:ext cx="8262742" cy="344128"/>
          </a:xfrm>
        </p:spPr>
        <p:txBody>
          <a:bodyPr wrap="square" lIns="0" tIns="18000" rIns="0" bIns="18000" anchor="ctr" anchorCtr="0">
            <a:spAutoFit/>
          </a:bodyPr>
          <a:lstStyle/>
          <a:p>
            <a:r>
              <a:rPr lang="en-US" noProof="0" dirty="0">
                <a:latin typeface="Arial" panose="020B0604020202020204" pitchFamily="34" charset="0"/>
                <a:cs typeface="Arial" panose="020B0604020202020204" pitchFamily="34" charset="0"/>
              </a:rPr>
              <a:t>Fifth</a:t>
            </a:r>
            <a:r>
              <a:rPr lang="en-US" noProof="0" dirty="0">
                <a:solidFill>
                  <a:schemeClr val="tx2"/>
                </a:solidFill>
                <a:latin typeface="Arial" panose="020B0604020202020204" pitchFamily="34" charset="0"/>
                <a:cs typeface="Arial" panose="020B0604020202020204" pitchFamily="34" charset="0"/>
              </a:rPr>
              <a:t> Edition</a:t>
            </a:r>
          </a:p>
        </p:txBody>
      </p:sp>
      <p:pic>
        <p:nvPicPr>
          <p:cNvPr id="4" name="Picture 3" descr="Front Cover: Computer Security Principles and Practice Fifth Edition by Stallings and Brown&#10;">
            <a:extLst>
              <a:ext uri="{FF2B5EF4-FFF2-40B4-BE49-F238E27FC236}">
                <a16:creationId xmlns:a16="http://schemas.microsoft.com/office/drawing/2014/main" id="{C8D45C13-2F00-1364-C3DD-24D2A4845725}"/>
              </a:ext>
            </a:extLst>
          </p:cNvPr>
          <p:cNvPicPr>
            <a:picLocks noChangeAspect="1"/>
          </p:cNvPicPr>
          <p:nvPr/>
        </p:nvPicPr>
        <p:blipFill>
          <a:blip r:embed="rId3"/>
          <a:stretch>
            <a:fillRect/>
          </a:stretch>
        </p:blipFill>
        <p:spPr>
          <a:xfrm>
            <a:off x="467474" y="1863766"/>
            <a:ext cx="3245916" cy="4426465"/>
          </a:xfrm>
          <a:prstGeom prst="rect">
            <a:avLst/>
          </a:prstGeom>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val="0"/>
              </a:ext>
            </a:extLst>
          </p:cNvPr>
          <p:cNvSpPr>
            <a:spLocks noGrp="1"/>
          </p:cNvSpPr>
          <p:nvPr>
            <p:ph sz="quarter" idx="14"/>
          </p:nvPr>
        </p:nvSpPr>
        <p:spPr>
          <a:xfrm>
            <a:off x="4587498" y="2940944"/>
            <a:ext cx="3657600" cy="498016"/>
          </a:xfrm>
        </p:spPr>
        <p:txBody>
          <a:bodyPr lIns="0" tIns="18000" rIns="0" bIns="18000" anchor="ctr" anchorCtr="0">
            <a:spAutoFit/>
          </a:bodyPr>
          <a:lstStyle/>
          <a:p>
            <a:pPr marL="0" algn="l"/>
            <a:r>
              <a:rPr lang="en-US" b="0" noProof="0" dirty="0">
                <a:latin typeface="Arial" panose="020B0604020202020204" pitchFamily="34" charset="0"/>
                <a:cs typeface="Arial" panose="020B0604020202020204" pitchFamily="34" charset="0"/>
              </a:rPr>
              <a:t>Chapter 1</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val="0"/>
              </a:ext>
            </a:extLst>
          </p:cNvPr>
          <p:cNvSpPr>
            <a:spLocks noGrp="1"/>
          </p:cNvSpPr>
          <p:nvPr>
            <p:ph sz="quarter" idx="15"/>
          </p:nvPr>
        </p:nvSpPr>
        <p:spPr>
          <a:xfrm>
            <a:off x="4587498" y="3739874"/>
            <a:ext cx="3657600" cy="374906"/>
          </a:xfrm>
        </p:spPr>
        <p:txBody>
          <a:bodyPr lIns="0" tIns="18000" rIns="0" bIns="18000" anchor="ctr" anchorCtr="0">
            <a:spAutoFit/>
          </a:bodyPr>
          <a:lstStyle/>
          <a:p>
            <a:pPr lvl="0" algn="l">
              <a:buSzPct val="25000"/>
            </a:pPr>
            <a:r>
              <a:rPr lang="en-US" dirty="0">
                <a:latin typeface="Arial" panose="020B0604020202020204" pitchFamily="34" charset="0"/>
                <a:cs typeface="Arial" panose="020B0604020202020204" pitchFamily="34" charset="0"/>
              </a:rPr>
              <a:t>Overview</a:t>
            </a:r>
            <a:endParaRPr lang="en-US" noProof="0" dirty="0">
              <a:latin typeface="Arial" panose="020B0604020202020204" pitchFamily="34" charset="0"/>
              <a:cs typeface="Arial" panose="020B0604020202020204" pitchFamily="34" charset="0"/>
            </a:endParaRPr>
          </a:p>
        </p:txBody>
      </p:sp>
      <p:pic>
        <p:nvPicPr>
          <p:cNvPr id="11" name="Picture 10" descr="Pearson Logo">
            <a:extLst>
              <a:ext uri="{FF2B5EF4-FFF2-40B4-BE49-F238E27FC236}">
                <a16:creationId xmlns:a16="http://schemas.microsoft.com/office/drawing/2014/main" id="{8E4BA36A-233F-83A1-4E2E-56A6C775E54D}"/>
              </a:ext>
            </a:extLst>
          </p:cNvPr>
          <p:cNvPicPr>
            <a:picLocks noChangeAspect="1"/>
          </p:cNvPicPr>
          <p:nvPr/>
        </p:nvPicPr>
        <p:blipFill>
          <a:blip r:embed="rId4"/>
          <a:stretch>
            <a:fillRect/>
          </a:stretch>
        </p:blipFill>
        <p:spPr>
          <a:xfrm>
            <a:off x="440466" y="6405372"/>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val="0"/>
              </a:ext>
            </a:extLst>
          </p:cNvPr>
          <p:cNvSpPr>
            <a:spLocks noGrp="1"/>
          </p:cNvSpPr>
          <p:nvPr>
            <p:ph sz="quarter" idx="17"/>
          </p:nvPr>
        </p:nvSpPr>
        <p:spPr>
          <a:xfrm>
            <a:off x="2106112" y="6458779"/>
            <a:ext cx="6589712" cy="221018"/>
          </a:xfrm>
        </p:spPr>
        <p:txBody>
          <a:bodyPr lIns="0" tIns="18000" rIns="0" bIns="18000" anchor="ctr" anchorCtr="0">
            <a:spAutoFit/>
          </a:bodyPr>
          <a:lstStyle/>
          <a:p>
            <a:r>
              <a:rPr lang="en-US" altLang="en-US" sz="1200" b="0" noProof="0" dirty="0">
                <a:latin typeface="Verdana"/>
                <a:ea typeface="Verdana" panose="020B0604030504040204" pitchFamily="34" charset="0"/>
                <a:cs typeface="Verdana" panose="020B0604030504040204" pitchFamily="34" charset="0"/>
              </a:rPr>
              <a:t>Copyright © 2024, 2018, 2015 Pearson Education, Inc. All Rights Reserved</a:t>
            </a:r>
          </a:p>
        </p:txBody>
      </p:sp>
      <p:sp>
        <p:nvSpPr>
          <p:cNvPr id="7" name="Slide Number Placeholder 6">
            <a:extLst>
              <a:ext uri="{FF2B5EF4-FFF2-40B4-BE49-F238E27FC236}">
                <a16:creationId xmlns:a16="http://schemas.microsoft.com/office/drawing/2014/main" id="{FBA26BC4-F8E8-F9A6-01B0-754C60A76A4C}"/>
              </a:ext>
            </a:extLst>
          </p:cNvPr>
          <p:cNvSpPr>
            <a:spLocks noGrp="1"/>
          </p:cNvSpPr>
          <p:nvPr>
            <p:ph type="sldNum" idx="12"/>
          </p:nvPr>
        </p:nvSpPr>
        <p:spPr/>
        <p:txBody>
          <a:bodyPr/>
          <a:lstStyle/>
          <a:p>
            <a:pPr algn="r">
              <a:buSzPct val="25000"/>
              <a:defRPr/>
            </a:pPr>
            <a:fld id="{00000000-1234-1234-1234-123412341234}" type="slidenum">
              <a:rPr lang="en-US" sz="900" smtClean="0"/>
              <a:pPr algn="r">
                <a:buSzPct val="25000"/>
                <a:defRPr/>
              </a:pPr>
              <a:t>1</a:t>
            </a:fld>
            <a:endParaRPr lang="en-US" sz="900" dirty="0"/>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ADB15-F949-9936-24A0-611F77C7F0C6}"/>
              </a:ext>
            </a:extLst>
          </p:cNvPr>
          <p:cNvSpPr>
            <a:spLocks noGrp="1"/>
          </p:cNvSpPr>
          <p:nvPr>
            <p:ph type="title"/>
          </p:nvPr>
        </p:nvSpPr>
        <p:spPr/>
        <p:txBody>
          <a:bodyPr/>
          <a:lstStyle/>
          <a:p>
            <a:r>
              <a:rPr lang="en-US" dirty="0"/>
              <a:t>Focus</a:t>
            </a:r>
          </a:p>
        </p:txBody>
      </p:sp>
      <p:sp>
        <p:nvSpPr>
          <p:cNvPr id="3" name="Content Placeholder 2">
            <a:extLst>
              <a:ext uri="{FF2B5EF4-FFF2-40B4-BE49-F238E27FC236}">
                <a16:creationId xmlns:a16="http://schemas.microsoft.com/office/drawing/2014/main" id="{74D71172-DA67-7EA2-B774-8059EFB54D53}"/>
              </a:ext>
            </a:extLst>
          </p:cNvPr>
          <p:cNvSpPr>
            <a:spLocks noGrp="1"/>
          </p:cNvSpPr>
          <p:nvPr>
            <p:ph idx="1"/>
          </p:nvPr>
        </p:nvSpPr>
        <p:spPr/>
        <p:txBody>
          <a:bodyPr/>
          <a:lstStyle/>
          <a:p>
            <a:pPr marL="0" indent="0">
              <a:buNone/>
            </a:pPr>
            <a:r>
              <a:rPr lang="en-US" sz="2400" dirty="0"/>
              <a:t>The focus of this chapter and this book is on three fundamental questions:</a:t>
            </a:r>
          </a:p>
          <a:p>
            <a:r>
              <a:rPr lang="en-US" sz="2400" dirty="0"/>
              <a:t>What assets do we need to protect?</a:t>
            </a:r>
          </a:p>
          <a:p>
            <a:r>
              <a:rPr lang="en-US" sz="2400" dirty="0"/>
              <a:t>How are those assets threatened?</a:t>
            </a:r>
          </a:p>
          <a:p>
            <a:r>
              <a:rPr lang="en-US" sz="2400" dirty="0"/>
              <a:t>What can we do to counter those threats?</a:t>
            </a:r>
          </a:p>
        </p:txBody>
      </p:sp>
      <p:sp>
        <p:nvSpPr>
          <p:cNvPr id="4" name="TextBox 3">
            <a:extLst>
              <a:ext uri="{FF2B5EF4-FFF2-40B4-BE49-F238E27FC236}">
                <a16:creationId xmlns:a16="http://schemas.microsoft.com/office/drawing/2014/main" id="{DC5DAC37-B78C-4C75-E5CC-EB8842F7BD24}"/>
              </a:ext>
            </a:extLst>
          </p:cNvPr>
          <p:cNvSpPr txBox="1"/>
          <p:nvPr/>
        </p:nvSpPr>
        <p:spPr>
          <a:xfrm>
            <a:off x="7907277" y="6146884"/>
            <a:ext cx="617477" cy="338554"/>
          </a:xfrm>
          <a:prstGeom prst="rect">
            <a:avLst/>
          </a:prstGeom>
          <a:noFill/>
        </p:spPr>
        <p:txBody>
          <a:bodyPr wrap="none" rtlCol="0">
            <a:spAutoFit/>
          </a:bodyPr>
          <a:lstStyle/>
          <a:p>
            <a:r>
              <a:rPr lang="en-US" sz="1600" dirty="0"/>
              <a:t>SJW</a:t>
            </a:r>
          </a:p>
        </p:txBody>
      </p:sp>
      <p:sp>
        <p:nvSpPr>
          <p:cNvPr id="5" name="Slide Number Placeholder 4">
            <a:extLst>
              <a:ext uri="{FF2B5EF4-FFF2-40B4-BE49-F238E27FC236}">
                <a16:creationId xmlns:a16="http://schemas.microsoft.com/office/drawing/2014/main" id="{491FC1F5-F4AD-83E8-F73A-DF2E12544D27}"/>
              </a:ext>
            </a:extLst>
          </p:cNvPr>
          <p:cNvSpPr>
            <a:spLocks noGrp="1"/>
          </p:cNvSpPr>
          <p:nvPr>
            <p:ph type="sldNum" sz="quarter" idx="12"/>
          </p:nvPr>
        </p:nvSpPr>
        <p:spPr/>
        <p:txBody>
          <a:bodyPr/>
          <a:lstStyle/>
          <a:p>
            <a:fld id="{5F36C9FC-DA22-1F47-8722-58727A1D436E}" type="slidenum">
              <a:rPr lang="en-US" smtClean="0"/>
              <a:pPr/>
              <a:t>2</a:t>
            </a:fld>
            <a:endParaRPr lang="en-US" dirty="0"/>
          </a:p>
        </p:txBody>
      </p:sp>
    </p:spTree>
    <p:extLst>
      <p:ext uri="{BB962C8B-B14F-4D97-AF65-F5344CB8AC3E}">
        <p14:creationId xmlns:p14="http://schemas.microsoft.com/office/powerpoint/2010/main" val="1880666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9851B-CD23-B48B-26DD-4CF1BFC8CFE8}"/>
              </a:ext>
            </a:extLst>
          </p:cNvPr>
          <p:cNvSpPr>
            <a:spLocks noGrp="1"/>
          </p:cNvSpPr>
          <p:nvPr>
            <p:ph type="title"/>
          </p:nvPr>
        </p:nvSpPr>
        <p:spPr>
          <a:noFill/>
          <a:ln>
            <a:noFill/>
          </a:ln>
        </p:spPr>
        <p:txBody>
          <a:bodyPr lIns="91425" tIns="91425" rIns="91425" bIns="91425" anchor="b" anchorCtr="0"/>
          <a:lstStyle/>
          <a:p>
            <a:r>
              <a:rPr lang="en-US" dirty="0"/>
              <a:t>Learning Objectives</a:t>
            </a:r>
          </a:p>
        </p:txBody>
      </p:sp>
      <p:sp>
        <p:nvSpPr>
          <p:cNvPr id="3" name="Content Placeholder 2">
            <a:extLst>
              <a:ext uri="{FF2B5EF4-FFF2-40B4-BE49-F238E27FC236}">
                <a16:creationId xmlns:a16="http://schemas.microsoft.com/office/drawing/2014/main" id="{834D685E-9D67-3813-DC99-3F3576463F9F}"/>
              </a:ext>
            </a:extLst>
          </p:cNvPr>
          <p:cNvSpPr>
            <a:spLocks noGrp="1"/>
          </p:cNvSpPr>
          <p:nvPr>
            <p:ph idx="1"/>
          </p:nvPr>
        </p:nvSpPr>
        <p:spPr/>
        <p:txBody>
          <a:bodyPr>
            <a:normAutofit/>
          </a:bodyPr>
          <a:lstStyle/>
          <a:p>
            <a:r>
              <a:rPr lang="en-US" sz="2000" dirty="0"/>
              <a:t>Describe the key security requirements of confidentiality, integrity, and availability</a:t>
            </a:r>
          </a:p>
          <a:p>
            <a:r>
              <a:rPr lang="en-US" sz="2000" dirty="0"/>
              <a:t>Discuss the types of security threats and attacks that must be dealt with and give examples of the types of threats and attacks that apply to different categories of computer and network assets.</a:t>
            </a:r>
          </a:p>
          <a:p>
            <a:r>
              <a:rPr lang="en-US" sz="2000" dirty="0"/>
              <a:t>Summarize the functional requirements for computer security.</a:t>
            </a:r>
          </a:p>
          <a:p>
            <a:r>
              <a:rPr lang="en-US" sz="2000" dirty="0"/>
              <a:t>Explain the fundamental security design principles.</a:t>
            </a:r>
          </a:p>
          <a:p>
            <a:r>
              <a:rPr lang="en-US" sz="2000" dirty="0"/>
              <a:t>Understand the principal aspects of a comprehensive security strategy.</a:t>
            </a:r>
          </a:p>
        </p:txBody>
      </p:sp>
    </p:spTree>
    <p:extLst>
      <p:ext uri="{BB962C8B-B14F-4D97-AF65-F5344CB8AC3E}">
        <p14:creationId xmlns:p14="http://schemas.microsoft.com/office/powerpoint/2010/main" val="248484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E8C06-C138-4637-8BFB-2EC99E273295}"/>
              </a:ext>
            </a:extLst>
          </p:cNvPr>
          <p:cNvSpPr>
            <a:spLocks noGrp="1"/>
          </p:cNvSpPr>
          <p:nvPr>
            <p:ph type="title"/>
          </p:nvPr>
        </p:nvSpPr>
        <p:spPr>
          <a:xfrm>
            <a:off x="439269" y="222960"/>
            <a:ext cx="8261819" cy="1883011"/>
          </a:xfrm>
        </p:spPr>
        <p:txBody>
          <a:bodyPr wrap="square" lIns="0" tIns="18000" rIns="0" bIns="18000" anchor="ctr" anchorCtr="0">
            <a:spAutoFit/>
          </a:bodyPr>
          <a:lstStyle/>
          <a:p>
            <a:r>
              <a:rPr lang="en-US" sz="3000" dirty="0"/>
              <a:t>The </a:t>
            </a:r>
            <a:r>
              <a:rPr lang="en-US" sz="3000" spc="-350" dirty="0"/>
              <a:t>N I S </a:t>
            </a:r>
            <a:r>
              <a:rPr lang="en-US" sz="3000" dirty="0"/>
              <a:t>T Internal/Interagency Report </a:t>
            </a:r>
            <a:r>
              <a:rPr lang="en-US" sz="3000" spc="-350" dirty="0"/>
              <a:t>N I S T I </a:t>
            </a:r>
            <a:r>
              <a:rPr lang="en-US" sz="3000" dirty="0"/>
              <a:t>R 7298 (Glossary of Key Information Security Terms, July 2019) Defines the Term Computer Security as Follows:</a:t>
            </a:r>
            <a:endParaRPr lang="en-US" sz="3000" noProof="0" dirty="0"/>
          </a:p>
        </p:txBody>
      </p:sp>
      <p:sp>
        <p:nvSpPr>
          <p:cNvPr id="3" name="Content Placeholder 2">
            <a:extLst>
              <a:ext uri="{FF2B5EF4-FFF2-40B4-BE49-F238E27FC236}">
                <a16:creationId xmlns:a16="http://schemas.microsoft.com/office/drawing/2014/main" id="{03402491-3191-4920-A741-16A10A21D1AC}"/>
              </a:ext>
            </a:extLst>
          </p:cNvPr>
          <p:cNvSpPr>
            <a:spLocks noGrp="1"/>
          </p:cNvSpPr>
          <p:nvPr>
            <p:ph sz="quarter" idx="13"/>
          </p:nvPr>
        </p:nvSpPr>
        <p:spPr>
          <a:xfrm>
            <a:off x="439270" y="2206186"/>
            <a:ext cx="8261818" cy="1513679"/>
          </a:xfrm>
        </p:spPr>
        <p:txBody>
          <a:bodyPr wrap="square" lIns="0" tIns="18000" rIns="0" bIns="18000" anchor="ctr" anchorCtr="0">
            <a:spAutoFit/>
          </a:bodyPr>
          <a:lstStyle/>
          <a:p>
            <a:pPr marL="432" indent="0">
              <a:buNone/>
            </a:pPr>
            <a:r>
              <a:rPr lang="en-US" dirty="0">
                <a:latin typeface="Arial" panose="020B0604020202020204" pitchFamily="34" charset="0"/>
                <a:cs typeface="Arial" panose="020B0604020202020204" pitchFamily="34" charset="0"/>
              </a:rPr>
              <a:t>“ </a:t>
            </a:r>
            <a:r>
              <a:rPr lang="en-US" kern="1200" dirty="0">
                <a:solidFill>
                  <a:schemeClr val="tx1"/>
                </a:solidFill>
                <a:latin typeface="Arial" panose="020B0604020202020204" pitchFamily="34" charset="0"/>
                <a:cs typeface="Arial" panose="020B0604020202020204" pitchFamily="34" charset="0"/>
              </a:rPr>
              <a:t>Measures and controls that ensure confidentiality, integrity, and availability of information processed and stored by a computer, including hardware, software, firmware, information data, and telecommunications</a:t>
            </a:r>
            <a:r>
              <a:rPr lang="en-US" dirty="0">
                <a:latin typeface="Arial" panose="020B0604020202020204" pitchFamily="34" charset="0"/>
                <a:cs typeface="Arial" panose="020B0604020202020204" pitchFamily="34" charset="0"/>
              </a:rPr>
              <a:t>.”</a:t>
            </a:r>
            <a:endParaRPr lang="en-US"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9EE73E9-F00F-1EB1-20EF-B8DA4DEE48F6}"/>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4</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212305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E8C06-C138-4637-8BFB-2EC99E273295}"/>
              </a:ext>
            </a:extLst>
          </p:cNvPr>
          <p:cNvSpPr>
            <a:spLocks noGrp="1"/>
          </p:cNvSpPr>
          <p:nvPr>
            <p:ph type="title"/>
          </p:nvPr>
        </p:nvSpPr>
        <p:spPr>
          <a:xfrm>
            <a:off x="439269" y="160166"/>
            <a:ext cx="8261819" cy="590349"/>
          </a:xfrm>
        </p:spPr>
        <p:txBody>
          <a:bodyPr wrap="square" lIns="0" tIns="18000" rIns="0" bIns="18000" anchor="ctr" anchorCtr="0">
            <a:spAutoFit/>
          </a:bodyPr>
          <a:lstStyle/>
          <a:p>
            <a:r>
              <a:rPr lang="en-US" dirty="0"/>
              <a:t>Figure 1.1</a:t>
            </a:r>
            <a:endParaRPr lang="en-US" noProof="0" dirty="0"/>
          </a:p>
        </p:txBody>
      </p:sp>
      <p:sp>
        <p:nvSpPr>
          <p:cNvPr id="3" name="Content Placeholder 2">
            <a:extLst>
              <a:ext uri="{FF2B5EF4-FFF2-40B4-BE49-F238E27FC236}">
                <a16:creationId xmlns:a16="http://schemas.microsoft.com/office/drawing/2014/main" id="{03402491-3191-4920-A741-16A10A21D1AC}"/>
              </a:ext>
            </a:extLst>
          </p:cNvPr>
          <p:cNvSpPr>
            <a:spLocks noGrp="1"/>
          </p:cNvSpPr>
          <p:nvPr>
            <p:ph sz="quarter" idx="13"/>
          </p:nvPr>
        </p:nvSpPr>
        <p:spPr>
          <a:xfrm>
            <a:off x="439270" y="987368"/>
            <a:ext cx="8261818" cy="405683"/>
          </a:xfrm>
        </p:spPr>
        <p:txBody>
          <a:bodyPr wrap="square" lIns="0" tIns="18000" rIns="0" bIns="18000" anchor="ctr" anchorCtr="0">
            <a:spAutoFit/>
          </a:bodyPr>
          <a:lstStyle/>
          <a:p>
            <a:pPr marL="432" indent="0">
              <a:buNone/>
            </a:pPr>
            <a:r>
              <a:rPr lang="en-US" dirty="0">
                <a:latin typeface="Arial" panose="020B0604020202020204" pitchFamily="34" charset="0"/>
                <a:cs typeface="Arial" panose="020B0604020202020204" pitchFamily="34" charset="0"/>
              </a:rPr>
              <a:t>Essential Network and Computer Security Requirements</a:t>
            </a:r>
            <a:endParaRPr lang="en-US" noProof="0" dirty="0">
              <a:latin typeface="Arial" panose="020B0604020202020204" pitchFamily="34" charset="0"/>
              <a:cs typeface="Arial" panose="020B0604020202020204" pitchFamily="34" charset="0"/>
            </a:endParaRPr>
          </a:p>
        </p:txBody>
      </p:sp>
      <p:pic>
        <p:nvPicPr>
          <p:cNvPr id="5" name="Picture 4" descr="The figure illustrates a pentagonal-shaped diagram listing the five essential objectives of data and services.&#10;Long description is available in notes, Press F6.">
            <a:extLst>
              <a:ext uri="{FF2B5EF4-FFF2-40B4-BE49-F238E27FC236}">
                <a16:creationId xmlns:a16="http://schemas.microsoft.com/office/drawing/2014/main" id="{3BB429D2-795A-B1F6-3944-8C1CBD4DAF1F}"/>
              </a:ext>
            </a:extLst>
          </p:cNvPr>
          <p:cNvPicPr>
            <a:picLocks noChangeAspect="1"/>
          </p:cNvPicPr>
          <p:nvPr/>
        </p:nvPicPr>
        <p:blipFill>
          <a:blip r:embed="rId3"/>
          <a:stretch>
            <a:fillRect/>
          </a:stretch>
        </p:blipFill>
        <p:spPr>
          <a:xfrm>
            <a:off x="2424326" y="1859502"/>
            <a:ext cx="4295348" cy="4109376"/>
          </a:xfrm>
          <a:prstGeom prst="rect">
            <a:avLst/>
          </a:prstGeom>
        </p:spPr>
      </p:pic>
      <p:sp>
        <p:nvSpPr>
          <p:cNvPr id="4" name="Slide Number Placeholder 3">
            <a:extLst>
              <a:ext uri="{FF2B5EF4-FFF2-40B4-BE49-F238E27FC236}">
                <a16:creationId xmlns:a16="http://schemas.microsoft.com/office/drawing/2014/main" id="{699EB3BE-7F3D-7997-056A-B5A78B964C07}"/>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5</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8841618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E8C06-C138-4637-8BFB-2EC99E273295}"/>
              </a:ext>
            </a:extLst>
          </p:cNvPr>
          <p:cNvSpPr>
            <a:spLocks noGrp="1"/>
          </p:cNvSpPr>
          <p:nvPr>
            <p:ph type="title"/>
          </p:nvPr>
        </p:nvSpPr>
        <p:spPr>
          <a:xfrm>
            <a:off x="439269" y="160166"/>
            <a:ext cx="8261819" cy="590349"/>
          </a:xfrm>
        </p:spPr>
        <p:txBody>
          <a:bodyPr wrap="square" lIns="0" tIns="18000" rIns="0" bIns="18000" anchor="ctr" anchorCtr="0">
            <a:spAutoFit/>
          </a:bodyPr>
          <a:lstStyle/>
          <a:p>
            <a:r>
              <a:rPr lang="en-US" dirty="0"/>
              <a:t>Key Security Concepts</a:t>
            </a:r>
            <a:endParaRPr lang="en-US" noProof="0" dirty="0"/>
          </a:p>
        </p:txBody>
      </p:sp>
      <p:sp>
        <p:nvSpPr>
          <p:cNvPr id="3" name="Content Placeholder 2">
            <a:extLst>
              <a:ext uri="{FF2B5EF4-FFF2-40B4-BE49-F238E27FC236}">
                <a16:creationId xmlns:a16="http://schemas.microsoft.com/office/drawing/2014/main" id="{03402491-3191-4920-A741-16A10A21D1AC}"/>
              </a:ext>
            </a:extLst>
          </p:cNvPr>
          <p:cNvSpPr>
            <a:spLocks noGrp="1"/>
          </p:cNvSpPr>
          <p:nvPr>
            <p:ph sz="quarter" idx="13"/>
          </p:nvPr>
        </p:nvSpPr>
        <p:spPr>
          <a:xfrm>
            <a:off x="439270" y="973679"/>
            <a:ext cx="8261818" cy="4463879"/>
          </a:xfrm>
        </p:spPr>
        <p:txBody>
          <a:bodyPr wrap="square" lIns="0" tIns="18000" rIns="0" bIns="18000" anchor="ctr" anchorCtr="0">
            <a:spAutoFit/>
          </a:bodyPr>
          <a:lstStyle/>
          <a:p>
            <a:pPr marL="342900" indent="-342900">
              <a:spcBef>
                <a:spcPts val="600"/>
              </a:spcBef>
            </a:pPr>
            <a:r>
              <a:rPr lang="en-US" dirty="0">
                <a:latin typeface="Arial" panose="020B0604020202020204" pitchFamily="34" charset="0"/>
                <a:cs typeface="Arial" panose="020B0604020202020204" pitchFamily="34" charset="0"/>
              </a:rPr>
              <a:t>Confidentiality</a:t>
            </a:r>
          </a:p>
          <a:p>
            <a:pPr marL="829818" lvl="1" indent="-342900"/>
            <a:r>
              <a:rPr lang="en-US" dirty="0">
                <a:latin typeface="Arial" panose="020B0604020202020204" pitchFamily="34" charset="0"/>
                <a:cs typeface="Arial" panose="020B0604020202020204" pitchFamily="34" charset="0"/>
              </a:rPr>
              <a:t>Preserving authorized restrictions on information access and disclosure, including means for protecting personal privacy and proprietary information</a:t>
            </a:r>
          </a:p>
          <a:p>
            <a:pPr marL="342900" indent="-342900">
              <a:spcBef>
                <a:spcPts val="600"/>
              </a:spcBef>
            </a:pPr>
            <a:r>
              <a:rPr lang="en-US" dirty="0">
                <a:latin typeface="Arial" panose="020B0604020202020204" pitchFamily="34" charset="0"/>
                <a:cs typeface="Arial" panose="020B0604020202020204" pitchFamily="34" charset="0"/>
              </a:rPr>
              <a:t>Integrity</a:t>
            </a:r>
          </a:p>
          <a:p>
            <a:pPr marL="829818" lvl="1" indent="-342900"/>
            <a:r>
              <a:rPr lang="en-US" dirty="0">
                <a:latin typeface="Arial" panose="020B0604020202020204" pitchFamily="34" charset="0"/>
                <a:cs typeface="Arial" panose="020B0604020202020204" pitchFamily="34" charset="0"/>
              </a:rPr>
              <a:t>Guarding against improper information modification or destruction, including ensuring information nonrepudiation and authenticity</a:t>
            </a:r>
          </a:p>
          <a:p>
            <a:pPr marL="342900" indent="-342900">
              <a:spcBef>
                <a:spcPts val="600"/>
              </a:spcBef>
            </a:pPr>
            <a:r>
              <a:rPr lang="en-US" dirty="0">
                <a:latin typeface="Arial" panose="020B0604020202020204" pitchFamily="34" charset="0"/>
                <a:cs typeface="Arial" panose="020B0604020202020204" pitchFamily="34" charset="0"/>
              </a:rPr>
              <a:t>Availability</a:t>
            </a:r>
          </a:p>
          <a:p>
            <a:pPr marL="829818" lvl="1" indent="-342900"/>
            <a:r>
              <a:rPr lang="en-US" dirty="0">
                <a:latin typeface="Arial" panose="020B0604020202020204" pitchFamily="34" charset="0"/>
                <a:cs typeface="Arial" panose="020B0604020202020204" pitchFamily="34" charset="0"/>
              </a:rPr>
              <a:t>Ensuring timely and reliable access to and use of information</a:t>
            </a:r>
            <a:endParaRPr lang="en-US"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D349693-C9F8-3434-CEB1-2E1F11D5B83F}"/>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6</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187872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E8C06-C138-4637-8BFB-2EC99E273295}"/>
              </a:ext>
            </a:extLst>
          </p:cNvPr>
          <p:cNvSpPr>
            <a:spLocks noGrp="1"/>
          </p:cNvSpPr>
          <p:nvPr>
            <p:ph type="title"/>
          </p:nvPr>
        </p:nvSpPr>
        <p:spPr>
          <a:xfrm>
            <a:off x="439269" y="160166"/>
            <a:ext cx="8261819" cy="590349"/>
          </a:xfrm>
        </p:spPr>
        <p:txBody>
          <a:bodyPr wrap="square" lIns="0" tIns="18000" rIns="0" bIns="18000" anchor="ctr" anchorCtr="0">
            <a:spAutoFit/>
          </a:bodyPr>
          <a:lstStyle/>
          <a:p>
            <a:r>
              <a:rPr lang="en-US" dirty="0"/>
              <a:t>Levels of Impact</a:t>
            </a:r>
            <a:endParaRPr lang="en-US" noProof="0" dirty="0"/>
          </a:p>
        </p:txBody>
      </p:sp>
      <p:sp>
        <p:nvSpPr>
          <p:cNvPr id="3" name="Content Placeholder 2">
            <a:extLst>
              <a:ext uri="{FF2B5EF4-FFF2-40B4-BE49-F238E27FC236}">
                <a16:creationId xmlns:a16="http://schemas.microsoft.com/office/drawing/2014/main" id="{03402491-3191-4920-A741-16A10A21D1AC}"/>
              </a:ext>
            </a:extLst>
          </p:cNvPr>
          <p:cNvSpPr>
            <a:spLocks noGrp="1"/>
          </p:cNvSpPr>
          <p:nvPr>
            <p:ph sz="quarter" idx="13"/>
          </p:nvPr>
        </p:nvSpPr>
        <p:spPr>
          <a:xfrm>
            <a:off x="439270" y="965704"/>
            <a:ext cx="8261818" cy="4853055"/>
          </a:xfrm>
        </p:spPr>
        <p:txBody>
          <a:bodyPr wrap="square" lIns="0" tIns="18000" rIns="0" bIns="18000" anchor="ctr" anchorCtr="0">
            <a:spAutoFit/>
          </a:bodyPr>
          <a:lstStyle/>
          <a:p>
            <a:pPr marL="342900" indent="-342900">
              <a:spcBef>
                <a:spcPts val="600"/>
              </a:spcBef>
            </a:pPr>
            <a:r>
              <a:rPr lang="en-US" noProof="0" dirty="0">
                <a:latin typeface="Arial" panose="020B0604020202020204" pitchFamily="34" charset="0"/>
                <a:cs typeface="Arial" panose="020B0604020202020204" pitchFamily="34" charset="0"/>
              </a:rPr>
              <a:t>Low</a:t>
            </a:r>
          </a:p>
          <a:p>
            <a:pPr marL="829818" lvl="1" indent="-342900"/>
            <a:r>
              <a:rPr lang="en-US" noProof="0" dirty="0">
                <a:latin typeface="Arial" panose="020B0604020202020204" pitchFamily="34" charset="0"/>
                <a:cs typeface="Arial" panose="020B0604020202020204" pitchFamily="34" charset="0"/>
              </a:rPr>
              <a:t>The loss could be expected to have a limited adverse effect on organizational operations, organizational assets, or individuals</a:t>
            </a:r>
          </a:p>
          <a:p>
            <a:pPr marL="342900" indent="-342900">
              <a:spcBef>
                <a:spcPts val="600"/>
              </a:spcBef>
            </a:pPr>
            <a:r>
              <a:rPr lang="en-US" noProof="0" dirty="0">
                <a:latin typeface="Arial" panose="020B0604020202020204" pitchFamily="34" charset="0"/>
                <a:cs typeface="Arial" panose="020B0604020202020204" pitchFamily="34" charset="0"/>
              </a:rPr>
              <a:t>Moderate</a:t>
            </a:r>
          </a:p>
          <a:p>
            <a:pPr marL="829818" lvl="1" indent="-342900"/>
            <a:r>
              <a:rPr lang="en-US" noProof="0" dirty="0">
                <a:latin typeface="Arial" panose="020B0604020202020204" pitchFamily="34" charset="0"/>
                <a:cs typeface="Arial" panose="020B0604020202020204" pitchFamily="34" charset="0"/>
              </a:rPr>
              <a:t>The loss could be expected to have a serious adverse effect on organizational operations, organizational assets, or individuals</a:t>
            </a:r>
          </a:p>
          <a:p>
            <a:pPr marL="342900" indent="-342900">
              <a:spcBef>
                <a:spcPts val="600"/>
              </a:spcBef>
            </a:pPr>
            <a:r>
              <a:rPr lang="en-US" noProof="0" dirty="0">
                <a:latin typeface="Arial" panose="020B0604020202020204" pitchFamily="34" charset="0"/>
                <a:cs typeface="Arial" panose="020B0604020202020204" pitchFamily="34" charset="0"/>
              </a:rPr>
              <a:t>High</a:t>
            </a:r>
          </a:p>
          <a:p>
            <a:pPr marL="829818" lvl="1" indent="-342900"/>
            <a:r>
              <a:rPr lang="en-US" noProof="0" dirty="0">
                <a:latin typeface="Arial" panose="020B0604020202020204" pitchFamily="34" charset="0"/>
                <a:cs typeface="Arial" panose="020B0604020202020204" pitchFamily="34" charset="0"/>
              </a:rPr>
              <a:t>The loss could be expected to have a severe or catastrophic adverse effect on organizational operations, organizational assets, or individuals</a:t>
            </a:r>
          </a:p>
        </p:txBody>
      </p:sp>
      <p:sp>
        <p:nvSpPr>
          <p:cNvPr id="4" name="TextBox 3">
            <a:extLst>
              <a:ext uri="{FF2B5EF4-FFF2-40B4-BE49-F238E27FC236}">
                <a16:creationId xmlns:a16="http://schemas.microsoft.com/office/drawing/2014/main" id="{84E175D8-3EBC-B829-6336-DC2EFD8E1A3A}"/>
              </a:ext>
            </a:extLst>
          </p:cNvPr>
          <p:cNvSpPr txBox="1"/>
          <p:nvPr/>
        </p:nvSpPr>
        <p:spPr>
          <a:xfrm>
            <a:off x="1227975" y="6098587"/>
            <a:ext cx="6688049" cy="261610"/>
          </a:xfrm>
          <a:prstGeom prst="rect">
            <a:avLst/>
          </a:prstGeom>
          <a:noFill/>
        </p:spPr>
        <p:txBody>
          <a:bodyPr wrap="none" rtlCol="0">
            <a:spAutoFit/>
          </a:bodyPr>
          <a:lstStyle/>
          <a:p>
            <a:r>
              <a:rPr lang="en-US" sz="1100" dirty="0"/>
              <a:t>Source: </a:t>
            </a:r>
            <a:r>
              <a:rPr lang="en-US" sz="1100" dirty="0">
                <a:hlinkClick r:id="rId3"/>
              </a:rPr>
              <a:t>FIPS 199</a:t>
            </a:r>
            <a:r>
              <a:rPr lang="en-US" sz="1100" dirty="0"/>
              <a:t> Standards for Security Categorization of Federal Information and Information Systems</a:t>
            </a:r>
          </a:p>
        </p:txBody>
      </p:sp>
      <p:sp>
        <p:nvSpPr>
          <p:cNvPr id="5" name="Slide Number Placeholder 4">
            <a:extLst>
              <a:ext uri="{FF2B5EF4-FFF2-40B4-BE49-F238E27FC236}">
                <a16:creationId xmlns:a16="http://schemas.microsoft.com/office/drawing/2014/main" id="{90D3170F-25AC-3976-A8CB-DB0A687B0D05}"/>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7</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327373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E8C06-C138-4637-8BFB-2EC99E273295}"/>
              </a:ext>
            </a:extLst>
          </p:cNvPr>
          <p:cNvSpPr>
            <a:spLocks noGrp="1"/>
          </p:cNvSpPr>
          <p:nvPr>
            <p:ph type="title"/>
          </p:nvPr>
        </p:nvSpPr>
        <p:spPr>
          <a:xfrm>
            <a:off x="439269" y="160166"/>
            <a:ext cx="8261819" cy="590349"/>
          </a:xfrm>
        </p:spPr>
        <p:txBody>
          <a:bodyPr wrap="square" lIns="0" tIns="18000" rIns="0" bIns="18000" anchor="ctr" anchorCtr="0">
            <a:spAutoFit/>
          </a:bodyPr>
          <a:lstStyle/>
          <a:p>
            <a:r>
              <a:rPr lang="en-US" dirty="0"/>
              <a:t>Computer Security Challenges </a:t>
            </a:r>
            <a:r>
              <a:rPr lang="en-US" sz="2800" dirty="0"/>
              <a:t>(1 of 2)</a:t>
            </a:r>
            <a:endParaRPr lang="en-US" sz="4400" noProof="0" dirty="0"/>
          </a:p>
        </p:txBody>
      </p:sp>
      <p:sp>
        <p:nvSpPr>
          <p:cNvPr id="3" name="Content Placeholder 2">
            <a:extLst>
              <a:ext uri="{FF2B5EF4-FFF2-40B4-BE49-F238E27FC236}">
                <a16:creationId xmlns:a16="http://schemas.microsoft.com/office/drawing/2014/main" id="{03402491-3191-4920-A741-16A10A21D1AC}"/>
              </a:ext>
            </a:extLst>
          </p:cNvPr>
          <p:cNvSpPr>
            <a:spLocks noGrp="1"/>
          </p:cNvSpPr>
          <p:nvPr>
            <p:ph sz="quarter" idx="13"/>
          </p:nvPr>
        </p:nvSpPr>
        <p:spPr>
          <a:xfrm>
            <a:off x="439270" y="1061000"/>
            <a:ext cx="8261818" cy="4345223"/>
          </a:xfrm>
        </p:spPr>
        <p:txBody>
          <a:bodyPr wrap="square" lIns="0" tIns="18000" rIns="0" bIns="18000" anchor="ctr" anchorCtr="0">
            <a:spAutoFit/>
          </a:bodyPr>
          <a:lstStyle/>
          <a:p>
            <a:pPr marL="432000" indent="-432000">
              <a:spcBef>
                <a:spcPts val="600"/>
              </a:spcBef>
              <a:buFont typeface="+mj-lt"/>
              <a:buAutoNum type="arabicPeriod"/>
            </a:pPr>
            <a:r>
              <a:rPr lang="en-US" sz="2000" dirty="0">
                <a:latin typeface="Arial" panose="020B0604020202020204" pitchFamily="34" charset="0"/>
                <a:cs typeface="Arial" panose="020B0604020202020204" pitchFamily="34" charset="0"/>
              </a:rPr>
              <a:t>Computer security is not as simple as it might first appear to the novice  Example: m</a:t>
            </a:r>
            <a:r>
              <a:rPr lang="en-US" sz="2000" dirty="0"/>
              <a:t>echanisms for CIA triad?</a:t>
            </a:r>
            <a:endParaRPr lang="en-US" sz="2000" dirty="0">
              <a:latin typeface="Arial" panose="020B0604020202020204" pitchFamily="34" charset="0"/>
              <a:cs typeface="Arial" panose="020B0604020202020204" pitchFamily="34" charset="0"/>
            </a:endParaRPr>
          </a:p>
          <a:p>
            <a:pPr marL="432000" indent="-432000">
              <a:spcBef>
                <a:spcPts val="600"/>
              </a:spcBef>
              <a:buFont typeface="+mj-lt"/>
              <a:buAutoNum type="arabicPeriod"/>
            </a:pPr>
            <a:r>
              <a:rPr lang="en-US" sz="2000" dirty="0">
                <a:latin typeface="Arial" panose="020B0604020202020204" pitchFamily="34" charset="0"/>
                <a:cs typeface="Arial" panose="020B0604020202020204" pitchFamily="34" charset="0"/>
              </a:rPr>
              <a:t>In developing a particular security mechanism or algorithm, one must always consider potential attacks on those security features  </a:t>
            </a:r>
            <a:r>
              <a:rPr lang="en-US" sz="2000" dirty="0"/>
              <a:t>Example: </a:t>
            </a:r>
            <a:r>
              <a:rPr lang="en-US" sz="2000" dirty="0">
                <a:hlinkClick r:id="rId3">
                  <a:extLst>
                    <a:ext uri="{A12FA001-AC4F-418D-AE19-62706E023703}">
                      <ahyp:hlinkClr xmlns:ahyp="http://schemas.microsoft.com/office/drawing/2018/hyperlinkcolor" val="tx"/>
                    </a:ext>
                  </a:extLst>
                </a:hlinkClick>
              </a:rPr>
              <a:t>SIM Hijacking Attack and Two-Factor Authentication</a:t>
            </a:r>
            <a:endParaRPr lang="en-US" sz="2000" dirty="0">
              <a:latin typeface="Arial" panose="020B0604020202020204" pitchFamily="34" charset="0"/>
              <a:cs typeface="Arial" panose="020B0604020202020204" pitchFamily="34" charset="0"/>
            </a:endParaRPr>
          </a:p>
          <a:p>
            <a:pPr marL="432000" indent="-432000">
              <a:spcBef>
                <a:spcPts val="600"/>
              </a:spcBef>
              <a:buFont typeface="+mj-lt"/>
              <a:buAutoNum type="arabicPeriod"/>
            </a:pPr>
            <a:r>
              <a:rPr lang="en-US" sz="2000" dirty="0">
                <a:latin typeface="Arial" panose="020B0604020202020204" pitchFamily="34" charset="0"/>
                <a:cs typeface="Arial" panose="020B0604020202020204" pitchFamily="34" charset="0"/>
              </a:rPr>
              <a:t>Procedures used to provide particular services are often counterintuitive</a:t>
            </a:r>
          </a:p>
          <a:p>
            <a:pPr marL="432000" indent="-432000">
              <a:spcBef>
                <a:spcPts val="600"/>
              </a:spcBef>
              <a:buFont typeface="+mj-lt"/>
              <a:buAutoNum type="arabicPeriod"/>
            </a:pPr>
            <a:r>
              <a:rPr lang="en-US" sz="2000" dirty="0">
                <a:latin typeface="Arial" panose="020B0604020202020204" pitchFamily="34" charset="0"/>
                <a:cs typeface="Arial" panose="020B0604020202020204" pitchFamily="34" charset="0"/>
              </a:rPr>
              <a:t>Physical (where in network) and logical (TCP model) placement needs to be determined</a:t>
            </a:r>
          </a:p>
          <a:p>
            <a:pPr marL="432000" indent="-432000">
              <a:spcBef>
                <a:spcPts val="600"/>
              </a:spcBef>
              <a:buFont typeface="+mj-lt"/>
              <a:buAutoNum type="arabicPeriod"/>
            </a:pPr>
            <a:r>
              <a:rPr lang="en-US" sz="2000" dirty="0">
                <a:latin typeface="Arial" panose="020B0604020202020204" pitchFamily="34" charset="0"/>
                <a:cs typeface="Arial" panose="020B0604020202020204" pitchFamily="34" charset="0"/>
              </a:rPr>
              <a:t>Security mechanisms typically involve more than a particular algorithm or protocol and also require that participants possess some secret information which raises questions about the creation, distribution, and protection of that secret information</a:t>
            </a:r>
            <a:endParaRPr lang="en-US" sz="200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DCF4BAD-BE2A-7D05-566A-BCCE667E461A}"/>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8</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172483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E8C06-C138-4637-8BFB-2EC99E273295}"/>
              </a:ext>
            </a:extLst>
          </p:cNvPr>
          <p:cNvSpPr>
            <a:spLocks noGrp="1"/>
          </p:cNvSpPr>
          <p:nvPr>
            <p:ph type="title"/>
          </p:nvPr>
        </p:nvSpPr>
        <p:spPr>
          <a:xfrm>
            <a:off x="439269" y="160166"/>
            <a:ext cx="8261819" cy="590349"/>
          </a:xfrm>
        </p:spPr>
        <p:txBody>
          <a:bodyPr wrap="square" lIns="0" tIns="18000" rIns="0" bIns="18000" anchor="ctr" anchorCtr="0">
            <a:spAutoFit/>
          </a:bodyPr>
          <a:lstStyle/>
          <a:p>
            <a:r>
              <a:rPr lang="en-US" dirty="0"/>
              <a:t>Computer Security Challenges </a:t>
            </a:r>
            <a:r>
              <a:rPr lang="en-US" sz="2800" dirty="0"/>
              <a:t>(2 of 2)</a:t>
            </a:r>
            <a:endParaRPr lang="en-US" sz="4400" noProof="0" dirty="0"/>
          </a:p>
        </p:txBody>
      </p:sp>
      <p:sp>
        <p:nvSpPr>
          <p:cNvPr id="3" name="Content Placeholder 2">
            <a:extLst>
              <a:ext uri="{FF2B5EF4-FFF2-40B4-BE49-F238E27FC236}">
                <a16:creationId xmlns:a16="http://schemas.microsoft.com/office/drawing/2014/main" id="{03402491-3191-4920-A741-16A10A21D1AC}"/>
              </a:ext>
            </a:extLst>
          </p:cNvPr>
          <p:cNvSpPr>
            <a:spLocks noGrp="1"/>
          </p:cNvSpPr>
          <p:nvPr>
            <p:ph sz="quarter" idx="13"/>
          </p:nvPr>
        </p:nvSpPr>
        <p:spPr>
          <a:xfrm>
            <a:off x="439270" y="1014498"/>
            <a:ext cx="8261818" cy="4499112"/>
          </a:xfrm>
        </p:spPr>
        <p:txBody>
          <a:bodyPr wrap="square" lIns="0" tIns="18000" rIns="0" bIns="18000" anchor="ctr" anchorCtr="0">
            <a:spAutoFit/>
          </a:bodyPr>
          <a:lstStyle/>
          <a:p>
            <a:pPr marL="457200" indent="-457200">
              <a:buFont typeface="+mj-lt"/>
              <a:buAutoNum type="arabicPeriod" startAt="6"/>
            </a:pPr>
            <a:r>
              <a:rPr lang="en-US" sz="2000" dirty="0">
                <a:latin typeface="Arial" panose="020B0604020202020204" pitchFamily="34" charset="0"/>
                <a:cs typeface="Arial" panose="020B0604020202020204" pitchFamily="34" charset="0"/>
              </a:rPr>
              <a:t>Attackers only need to find a single weakness, while the designer must find and eliminate all weaknesses to achieve perfect security </a:t>
            </a:r>
          </a:p>
          <a:p>
            <a:pPr marL="457200" indent="-457200">
              <a:buFont typeface="+mj-lt"/>
              <a:buAutoNum type="arabicPeriod" startAt="6"/>
            </a:pPr>
            <a:r>
              <a:rPr lang="en-US" sz="2000" dirty="0">
                <a:latin typeface="Arial" panose="020B0604020202020204" pitchFamily="34" charset="0"/>
                <a:cs typeface="Arial" panose="020B0604020202020204" pitchFamily="34" charset="0"/>
              </a:rPr>
              <a:t>There is a natural tendency on the part of users and system managers to perceive little benefit from security investment until a security failure occurs  Example: </a:t>
            </a:r>
            <a:r>
              <a:rPr lang="en-US" sz="2000" dirty="0"/>
              <a:t>Home Depot: “We sell hammers”</a:t>
            </a:r>
          </a:p>
          <a:p>
            <a:pPr marL="457200" indent="-457200">
              <a:buFont typeface="+mj-lt"/>
              <a:buAutoNum type="arabicPeriod" startAt="6"/>
            </a:pPr>
            <a:r>
              <a:rPr lang="en-US" sz="2000" dirty="0">
                <a:latin typeface="Arial" panose="020B0604020202020204" pitchFamily="34" charset="0"/>
                <a:cs typeface="Arial" panose="020B0604020202020204" pitchFamily="34" charset="0"/>
              </a:rPr>
              <a:t>Security requires regular and constant monitoring</a:t>
            </a:r>
          </a:p>
          <a:p>
            <a:pPr marL="457200" indent="-457200">
              <a:buFont typeface="+mj-lt"/>
              <a:buAutoNum type="arabicPeriod" startAt="6"/>
            </a:pPr>
            <a:r>
              <a:rPr lang="en-US" sz="2000" dirty="0">
                <a:latin typeface="Arial" panose="020B0604020202020204" pitchFamily="34" charset="0"/>
                <a:cs typeface="Arial" panose="020B0604020202020204" pitchFamily="34" charset="0"/>
              </a:rPr>
              <a:t>Security is still too often an afterthought and is incorporated into a system after the design is complete, rather than being an integral part of the design process</a:t>
            </a:r>
          </a:p>
          <a:p>
            <a:pPr marL="457200" indent="-457200">
              <a:buFont typeface="+mj-lt"/>
              <a:buAutoNum type="arabicPeriod" startAt="6"/>
            </a:pPr>
            <a:r>
              <a:rPr lang="en-US" sz="2000" dirty="0">
                <a:latin typeface="Arial" panose="020B0604020202020204" pitchFamily="34" charset="0"/>
                <a:cs typeface="Arial" panose="020B0604020202020204" pitchFamily="34" charset="0"/>
              </a:rPr>
              <a:t>Many users and even security administrators view strong security as an impediment to efficient and user-friendly operation of an information system or use of information</a:t>
            </a:r>
            <a:endParaRPr lang="en-US" sz="200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CE6C2B-0640-2BE5-9F88-7E50826E5B4E}"/>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9</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3322412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50B46-859F-ADEF-733C-09F016AF3641}"/>
              </a:ext>
            </a:extLst>
          </p:cNvPr>
          <p:cNvSpPr>
            <a:spLocks noGrp="1"/>
          </p:cNvSpPr>
          <p:nvPr>
            <p:ph type="title"/>
          </p:nvPr>
        </p:nvSpPr>
        <p:spPr/>
        <p:txBody>
          <a:bodyPr/>
          <a:lstStyle/>
          <a:p>
            <a:r>
              <a:rPr lang="en-US" dirty="0"/>
              <a:t>Computer Security Challenges</a:t>
            </a:r>
          </a:p>
        </p:txBody>
      </p:sp>
      <p:sp>
        <p:nvSpPr>
          <p:cNvPr id="4" name="Content Placeholder 3">
            <a:extLst>
              <a:ext uri="{FF2B5EF4-FFF2-40B4-BE49-F238E27FC236}">
                <a16:creationId xmlns:a16="http://schemas.microsoft.com/office/drawing/2014/main" id="{0C5F5E82-30B2-7168-3D79-55D0E3689D76}"/>
              </a:ext>
            </a:extLst>
          </p:cNvPr>
          <p:cNvSpPr txBox="1">
            <a:spLocks noGrp="1" noChangeArrowheads="1"/>
          </p:cNvSpPr>
          <p:nvPr>
            <p:ph sz="quarter" idx="13"/>
          </p:nvPr>
        </p:nvSpPr>
        <p:spPr bwMode="auto">
          <a:xfrm>
            <a:off x="457200" y="1555750"/>
            <a:ext cx="8229600" cy="210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2400" dirty="0">
                <a:hlinkClick r:id="rId3"/>
              </a:rPr>
              <a:t>Bruce </a:t>
            </a:r>
            <a:r>
              <a:rPr lang="en-US" sz="2400" dirty="0" err="1">
                <a:hlinkClick r:id="rId3"/>
              </a:rPr>
              <a:t>Schneier</a:t>
            </a:r>
            <a:r>
              <a:rPr lang="en-US" sz="2400" dirty="0"/>
              <a:t>: "There is an old saying inside the US National Security Agency (</a:t>
            </a:r>
            <a:r>
              <a:rPr lang="en-US" sz="2400" dirty="0">
                <a:hlinkClick r:id="rId4"/>
              </a:rPr>
              <a:t>NSA</a:t>
            </a:r>
            <a:r>
              <a:rPr lang="en-US" sz="2400" dirty="0"/>
              <a:t>): Attacks always get better; they never get worse.“</a:t>
            </a:r>
          </a:p>
          <a:p>
            <a:pPr lvl="1" eaLnBrk="1" hangingPunct="1"/>
            <a:r>
              <a:rPr lang="en-US" dirty="0"/>
              <a:t>As demonstrated in </a:t>
            </a:r>
            <a:r>
              <a:rPr lang="en-US" dirty="0">
                <a:hlinkClick r:id="rId5"/>
              </a:rPr>
              <a:t>Russia’s SolarWinds Attac</a:t>
            </a:r>
            <a:r>
              <a:rPr lang="en-US" dirty="0"/>
              <a:t>k</a:t>
            </a:r>
          </a:p>
          <a:p>
            <a:pPr lvl="1" eaLnBrk="1" hangingPunct="1"/>
            <a:r>
              <a:rPr lang="en-US" sz="2000" dirty="0"/>
              <a:t>a “supply chain” attack</a:t>
            </a:r>
            <a:endParaRPr lang="en-US" sz="2400" dirty="0"/>
          </a:p>
        </p:txBody>
      </p:sp>
      <p:pic>
        <p:nvPicPr>
          <p:cNvPr id="5" name="Picture 2">
            <a:hlinkClick r:id="rId4"/>
            <a:extLst>
              <a:ext uri="{FF2B5EF4-FFF2-40B4-BE49-F238E27FC236}">
                <a16:creationId xmlns:a16="http://schemas.microsoft.com/office/drawing/2014/main" id="{B1A80BC4-90DD-8068-C059-A99D909C2A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9194" y="3684115"/>
            <a:ext cx="1611880" cy="1611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descr="five eyes alliance.png">
            <a:extLst>
              <a:ext uri="{FF2B5EF4-FFF2-40B4-BE49-F238E27FC236}">
                <a16:creationId xmlns:a16="http://schemas.microsoft.com/office/drawing/2014/main" id="{7E7569AE-6361-DEB3-7B4D-77814918220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84636" y="3690370"/>
            <a:ext cx="3755254" cy="161337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Edward Snowden-2.jpg">
            <a:extLst>
              <a:ext uri="{FF2B5EF4-FFF2-40B4-BE49-F238E27FC236}">
                <a16:creationId xmlns:a16="http://schemas.microsoft.com/office/drawing/2014/main" id="{564F2F6A-E0E1-A3A3-5C67-992219F234A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56056" y="3523669"/>
            <a:ext cx="1357934" cy="1635694"/>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A929777E-F4D9-EE34-F6C8-32385C927F52}"/>
              </a:ext>
            </a:extLst>
          </p:cNvPr>
          <p:cNvSpPr txBox="1"/>
          <p:nvPr/>
        </p:nvSpPr>
        <p:spPr>
          <a:xfrm>
            <a:off x="6927413" y="5216145"/>
            <a:ext cx="1475878" cy="461665"/>
          </a:xfrm>
          <a:prstGeom prst="rect">
            <a:avLst/>
          </a:prstGeom>
          <a:noFill/>
        </p:spPr>
        <p:txBody>
          <a:bodyPr wrap="square" rtlCol="0">
            <a:spAutoFit/>
          </a:bodyPr>
          <a:lstStyle/>
          <a:p>
            <a:r>
              <a:rPr lang="en-US" sz="1200" dirty="0"/>
              <a:t>NSA whistleblower Edward Snowden  </a:t>
            </a:r>
          </a:p>
        </p:txBody>
      </p:sp>
      <p:sp>
        <p:nvSpPr>
          <p:cNvPr id="13" name="TextBox 12">
            <a:extLst>
              <a:ext uri="{FF2B5EF4-FFF2-40B4-BE49-F238E27FC236}">
                <a16:creationId xmlns:a16="http://schemas.microsoft.com/office/drawing/2014/main" id="{F833CD5E-85B2-577C-2E8C-4ED927B6B1F2}"/>
              </a:ext>
            </a:extLst>
          </p:cNvPr>
          <p:cNvSpPr txBox="1"/>
          <p:nvPr/>
        </p:nvSpPr>
        <p:spPr>
          <a:xfrm>
            <a:off x="2607215" y="5216145"/>
            <a:ext cx="3755254" cy="523220"/>
          </a:xfrm>
          <a:prstGeom prst="rect">
            <a:avLst/>
          </a:prstGeom>
          <a:noFill/>
        </p:spPr>
        <p:txBody>
          <a:bodyPr wrap="square" rtlCol="0">
            <a:spAutoFit/>
          </a:bodyPr>
          <a:lstStyle/>
          <a:p>
            <a:r>
              <a:rPr lang="en-US" sz="1400" dirty="0"/>
              <a:t>Which five countries are highlighted on this map and why? </a:t>
            </a:r>
          </a:p>
        </p:txBody>
      </p:sp>
      <p:sp>
        <p:nvSpPr>
          <p:cNvPr id="14" name="TextBox 13">
            <a:extLst>
              <a:ext uri="{FF2B5EF4-FFF2-40B4-BE49-F238E27FC236}">
                <a16:creationId xmlns:a16="http://schemas.microsoft.com/office/drawing/2014/main" id="{D9D46D25-1F27-2219-05BD-DA95EEDC674B}"/>
              </a:ext>
            </a:extLst>
          </p:cNvPr>
          <p:cNvSpPr txBox="1"/>
          <p:nvPr/>
        </p:nvSpPr>
        <p:spPr>
          <a:xfrm>
            <a:off x="873947" y="5323866"/>
            <a:ext cx="2210294" cy="307777"/>
          </a:xfrm>
          <a:prstGeom prst="rect">
            <a:avLst/>
          </a:prstGeom>
          <a:noFill/>
        </p:spPr>
        <p:txBody>
          <a:bodyPr wrap="square" rtlCol="0">
            <a:spAutoFit/>
          </a:bodyPr>
          <a:lstStyle/>
          <a:p>
            <a:r>
              <a:rPr lang="en-US" dirty="0">
                <a:solidFill>
                  <a:schemeClr val="tx1"/>
                </a:solidFill>
                <a:hlinkClick r:id="rId4">
                  <a:extLst>
                    <a:ext uri="{A12FA001-AC4F-418D-AE19-62706E023703}">
                      <ahyp:hlinkClr xmlns:ahyp="http://schemas.microsoft.com/office/drawing/2018/hyperlinkcolor" val="tx"/>
                    </a:ext>
                  </a:extLst>
                </a:hlinkClick>
              </a:rPr>
              <a:t>NSA Overview</a:t>
            </a:r>
            <a:r>
              <a:rPr lang="en-US" dirty="0">
                <a:solidFill>
                  <a:schemeClr val="tx1"/>
                </a:solidFill>
              </a:rPr>
              <a:t> (3:42)</a:t>
            </a:r>
          </a:p>
        </p:txBody>
      </p:sp>
      <p:sp>
        <p:nvSpPr>
          <p:cNvPr id="17" name="TextBox 16">
            <a:hlinkClick r:id="rId9"/>
            <a:extLst>
              <a:ext uri="{FF2B5EF4-FFF2-40B4-BE49-F238E27FC236}">
                <a16:creationId xmlns:a16="http://schemas.microsoft.com/office/drawing/2014/main" id="{FA6E49BE-3CA8-DE70-F658-ACBF1B155858}"/>
              </a:ext>
            </a:extLst>
          </p:cNvPr>
          <p:cNvSpPr txBox="1"/>
          <p:nvPr/>
        </p:nvSpPr>
        <p:spPr>
          <a:xfrm>
            <a:off x="164599" y="3907089"/>
            <a:ext cx="842016" cy="646331"/>
          </a:xfrm>
          <a:prstGeom prst="rect">
            <a:avLst/>
          </a:prstGeom>
          <a:noFill/>
        </p:spPr>
        <p:txBody>
          <a:bodyPr wrap="square" rtlCol="0">
            <a:spAutoFit/>
          </a:bodyPr>
          <a:lstStyle/>
          <a:p>
            <a:r>
              <a:rPr lang="en-US" sz="1200" dirty="0"/>
              <a:t>Executive Order 12333</a:t>
            </a:r>
          </a:p>
        </p:txBody>
      </p:sp>
      <p:sp>
        <p:nvSpPr>
          <p:cNvPr id="20" name="TextBox 19">
            <a:extLst>
              <a:ext uri="{FF2B5EF4-FFF2-40B4-BE49-F238E27FC236}">
                <a16:creationId xmlns:a16="http://schemas.microsoft.com/office/drawing/2014/main" id="{B04A2AC8-9364-8E62-7676-54BE955E8AE2}"/>
              </a:ext>
            </a:extLst>
          </p:cNvPr>
          <p:cNvSpPr txBox="1"/>
          <p:nvPr/>
        </p:nvSpPr>
        <p:spPr>
          <a:xfrm>
            <a:off x="7907277" y="6159584"/>
            <a:ext cx="617477" cy="338554"/>
          </a:xfrm>
          <a:prstGeom prst="rect">
            <a:avLst/>
          </a:prstGeom>
          <a:noFill/>
        </p:spPr>
        <p:txBody>
          <a:bodyPr wrap="none" rtlCol="0">
            <a:spAutoFit/>
          </a:bodyPr>
          <a:lstStyle/>
          <a:p>
            <a:r>
              <a:rPr lang="en-US" sz="1600" dirty="0"/>
              <a:t>SJW</a:t>
            </a:r>
          </a:p>
        </p:txBody>
      </p:sp>
      <p:sp>
        <p:nvSpPr>
          <p:cNvPr id="3" name="Slide Number Placeholder 2">
            <a:extLst>
              <a:ext uri="{FF2B5EF4-FFF2-40B4-BE49-F238E27FC236}">
                <a16:creationId xmlns:a16="http://schemas.microsoft.com/office/drawing/2014/main" id="{AE93ED8B-CE94-3911-2656-85CFEDB4C1D1}"/>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10</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5937504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B5CC0A-09AB-6554-B823-BF5F16A7B44B}"/>
              </a:ext>
            </a:extLst>
          </p:cNvPr>
          <p:cNvSpPr>
            <a:spLocks noGrp="1"/>
          </p:cNvSpPr>
          <p:nvPr>
            <p:ph type="title"/>
          </p:nvPr>
        </p:nvSpPr>
        <p:spPr>
          <a:xfrm>
            <a:off x="438538" y="160926"/>
            <a:ext cx="8262550" cy="590349"/>
          </a:xfrm>
        </p:spPr>
        <p:txBody>
          <a:bodyPr wrap="square" lIns="0" tIns="18000" rIns="0" bIns="18000" anchor="ctr" anchorCtr="0">
            <a:spAutoFit/>
          </a:bodyPr>
          <a:lstStyle/>
          <a:p>
            <a:r>
              <a:rPr lang="en-US" dirty="0"/>
              <a:t>Table 1.1 </a:t>
            </a:r>
            <a:r>
              <a:rPr lang="en-US" sz="2800" dirty="0"/>
              <a:t>(1 of 3)</a:t>
            </a:r>
            <a:endParaRPr lang="en-US" dirty="0"/>
          </a:p>
        </p:txBody>
      </p:sp>
      <p:sp>
        <p:nvSpPr>
          <p:cNvPr id="5" name="Content Placeholder 4">
            <a:extLst>
              <a:ext uri="{FF2B5EF4-FFF2-40B4-BE49-F238E27FC236}">
                <a16:creationId xmlns:a16="http://schemas.microsoft.com/office/drawing/2014/main" id="{C908D160-6E9C-1973-CD1D-E5BE85825442}"/>
              </a:ext>
            </a:extLst>
          </p:cNvPr>
          <p:cNvSpPr>
            <a:spLocks noGrp="1"/>
          </p:cNvSpPr>
          <p:nvPr>
            <p:ph sz="quarter" idx="13"/>
          </p:nvPr>
        </p:nvSpPr>
        <p:spPr>
          <a:xfrm>
            <a:off x="438538" y="1011994"/>
            <a:ext cx="8262550" cy="374906"/>
          </a:xfrm>
        </p:spPr>
        <p:txBody>
          <a:bodyPr wrap="square" lIns="0" tIns="18000" rIns="0" bIns="18000" anchor="ctr" anchorCtr="0">
            <a:spAutoFit/>
          </a:bodyPr>
          <a:lstStyle/>
          <a:p>
            <a:pPr marL="0" indent="0">
              <a:buNone/>
            </a:pPr>
            <a:r>
              <a:rPr lang="en-US" sz="2200" dirty="0">
                <a:latin typeface="Arial" panose="020B0604020202020204" pitchFamily="34" charset="0"/>
                <a:cs typeface="Arial" panose="020B0604020202020204" pitchFamily="34" charset="0"/>
              </a:rPr>
              <a:t>Computer Security Terminology</a:t>
            </a:r>
          </a:p>
        </p:txBody>
      </p:sp>
      <p:sp>
        <p:nvSpPr>
          <p:cNvPr id="6" name="Content Placeholder 5">
            <a:extLst>
              <a:ext uri="{FF2B5EF4-FFF2-40B4-BE49-F238E27FC236}">
                <a16:creationId xmlns:a16="http://schemas.microsoft.com/office/drawing/2014/main" id="{2A968DFC-62BE-A287-1946-9B8249F8E852}"/>
              </a:ext>
            </a:extLst>
          </p:cNvPr>
          <p:cNvSpPr>
            <a:spLocks noGrp="1"/>
          </p:cNvSpPr>
          <p:nvPr>
            <p:ph sz="quarter" idx="14"/>
          </p:nvPr>
        </p:nvSpPr>
        <p:spPr>
          <a:xfrm>
            <a:off x="438538" y="1547956"/>
            <a:ext cx="8262550" cy="4483723"/>
          </a:xfrm>
        </p:spPr>
        <p:txBody>
          <a:bodyPr wrap="square" lIns="0" tIns="18000" rIns="0" bIns="18000" anchor="ctr" anchorCtr="0">
            <a:spAutoFit/>
          </a:bodyPr>
          <a:lstStyle/>
          <a:p>
            <a:pPr marL="432" indent="0">
              <a:spcBef>
                <a:spcPts val="600"/>
              </a:spcBef>
              <a:buNone/>
            </a:pPr>
            <a:r>
              <a:rPr lang="en-US" sz="2200" b="1" dirty="0">
                <a:latin typeface="Arial" panose="020B0604020202020204" pitchFamily="34" charset="0"/>
                <a:cs typeface="Arial" panose="020B0604020202020204" pitchFamily="34" charset="0"/>
              </a:rPr>
              <a:t>Adversary (threat agent)</a:t>
            </a:r>
            <a:r>
              <a:rPr lang="en-US" sz="2200" dirty="0">
                <a:latin typeface="Arial" panose="020B0604020202020204" pitchFamily="34" charset="0"/>
                <a:cs typeface="Arial" panose="020B0604020202020204" pitchFamily="34" charset="0"/>
              </a:rPr>
              <a:t> </a:t>
            </a:r>
          </a:p>
          <a:p>
            <a:pPr marL="432" indent="0">
              <a:spcBef>
                <a:spcPts val="600"/>
              </a:spcBef>
              <a:buNone/>
            </a:pPr>
            <a:r>
              <a:rPr lang="en-US" sz="2200" dirty="0">
                <a:latin typeface="Arial" panose="020B0604020202020204" pitchFamily="34" charset="0"/>
                <a:cs typeface="Arial" panose="020B0604020202020204" pitchFamily="34" charset="0"/>
              </a:rPr>
              <a:t>Individual, group, organization, or government that conducts or has the intent to conduct detrimental activities. </a:t>
            </a:r>
          </a:p>
          <a:p>
            <a:pPr marL="432" indent="0">
              <a:spcBef>
                <a:spcPts val="600"/>
              </a:spcBef>
              <a:buNone/>
            </a:pPr>
            <a:r>
              <a:rPr lang="en-US" sz="2200" b="1" dirty="0">
                <a:latin typeface="Arial" panose="020B0604020202020204" pitchFamily="34" charset="0"/>
                <a:cs typeface="Arial" panose="020B0604020202020204" pitchFamily="34" charset="0"/>
              </a:rPr>
              <a:t>Attack</a:t>
            </a:r>
          </a:p>
          <a:p>
            <a:pPr marL="432" indent="0">
              <a:spcBef>
                <a:spcPts val="600"/>
              </a:spcBef>
              <a:buNone/>
            </a:pPr>
            <a:r>
              <a:rPr lang="en-US" sz="2200" dirty="0">
                <a:latin typeface="Arial" panose="020B0604020202020204" pitchFamily="34" charset="0"/>
                <a:cs typeface="Arial" panose="020B0604020202020204" pitchFamily="34" charset="0"/>
              </a:rPr>
              <a:t>Any kind of malicious activity that attempts to collect, disrupt, deny, degrade, or destroy information system resources or the information itself. </a:t>
            </a:r>
          </a:p>
          <a:p>
            <a:pPr marL="432" indent="0">
              <a:spcBef>
                <a:spcPts val="600"/>
              </a:spcBef>
              <a:buNone/>
            </a:pPr>
            <a:r>
              <a:rPr lang="en-US" sz="2200" b="1" dirty="0">
                <a:latin typeface="Arial" panose="020B0604020202020204" pitchFamily="34" charset="0"/>
                <a:cs typeface="Arial" panose="020B0604020202020204" pitchFamily="34" charset="0"/>
              </a:rPr>
              <a:t>Countermeasure</a:t>
            </a:r>
          </a:p>
          <a:p>
            <a:pPr marL="432" indent="0">
              <a:spcBef>
                <a:spcPts val="600"/>
              </a:spcBef>
              <a:buNone/>
            </a:pPr>
            <a:r>
              <a:rPr lang="en-US" sz="2200" dirty="0">
                <a:latin typeface="Arial" panose="020B0604020202020204" pitchFamily="34" charset="0"/>
                <a:cs typeface="Arial" panose="020B0604020202020204" pitchFamily="34" charset="0"/>
              </a:rPr>
              <a:t>A device or technique that has as its objective the impairment of the operational effectiveness of undesirable or adversarial activity, or the prevention of espionage, sabotage, theft, or unauthorized access to or use of sensitive information or information systems.</a:t>
            </a:r>
          </a:p>
        </p:txBody>
      </p:sp>
      <p:sp>
        <p:nvSpPr>
          <p:cNvPr id="2" name="Slide Number Placeholder 1">
            <a:extLst>
              <a:ext uri="{FF2B5EF4-FFF2-40B4-BE49-F238E27FC236}">
                <a16:creationId xmlns:a16="http://schemas.microsoft.com/office/drawing/2014/main" id="{04A0EBB2-5236-912B-651E-CA9A0E24FD6C}"/>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11</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50005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B5CC0A-09AB-6554-B823-BF5F16A7B44B}"/>
              </a:ext>
            </a:extLst>
          </p:cNvPr>
          <p:cNvSpPr>
            <a:spLocks noGrp="1"/>
          </p:cNvSpPr>
          <p:nvPr>
            <p:ph type="title"/>
          </p:nvPr>
        </p:nvSpPr>
        <p:spPr>
          <a:xfrm>
            <a:off x="438538" y="160926"/>
            <a:ext cx="8262550" cy="590349"/>
          </a:xfrm>
        </p:spPr>
        <p:txBody>
          <a:bodyPr wrap="square" lIns="0" tIns="18000" rIns="0" bIns="18000" anchor="ctr" anchorCtr="0">
            <a:spAutoFit/>
          </a:bodyPr>
          <a:lstStyle/>
          <a:p>
            <a:r>
              <a:rPr lang="en-US" dirty="0"/>
              <a:t>Table 1.1 </a:t>
            </a:r>
            <a:r>
              <a:rPr lang="en-US" sz="2800" dirty="0"/>
              <a:t>(2 of 3)</a:t>
            </a:r>
            <a:endParaRPr lang="en-US" dirty="0"/>
          </a:p>
        </p:txBody>
      </p:sp>
      <p:sp>
        <p:nvSpPr>
          <p:cNvPr id="5" name="Content Placeholder 4">
            <a:extLst>
              <a:ext uri="{FF2B5EF4-FFF2-40B4-BE49-F238E27FC236}">
                <a16:creationId xmlns:a16="http://schemas.microsoft.com/office/drawing/2014/main" id="{C908D160-6E9C-1973-CD1D-E5BE85825442}"/>
              </a:ext>
            </a:extLst>
          </p:cNvPr>
          <p:cNvSpPr>
            <a:spLocks noGrp="1"/>
          </p:cNvSpPr>
          <p:nvPr>
            <p:ph sz="quarter" idx="13"/>
          </p:nvPr>
        </p:nvSpPr>
        <p:spPr>
          <a:xfrm>
            <a:off x="438538" y="1011994"/>
            <a:ext cx="8262550" cy="374906"/>
          </a:xfrm>
        </p:spPr>
        <p:txBody>
          <a:bodyPr wrap="square" lIns="0" tIns="18000" rIns="0" bIns="18000" anchor="ctr" anchorCtr="0">
            <a:spAutoFit/>
          </a:bodyPr>
          <a:lstStyle/>
          <a:p>
            <a:pPr marL="0" indent="0">
              <a:buNone/>
            </a:pPr>
            <a:r>
              <a:rPr lang="en-US" sz="2200" dirty="0">
                <a:latin typeface="Arial" panose="020B0604020202020204" pitchFamily="34" charset="0"/>
                <a:cs typeface="Arial" panose="020B0604020202020204" pitchFamily="34" charset="0"/>
              </a:rPr>
              <a:t>Computer Security Terminology</a:t>
            </a:r>
          </a:p>
        </p:txBody>
      </p:sp>
      <p:sp>
        <p:nvSpPr>
          <p:cNvPr id="6" name="Content Placeholder 5">
            <a:extLst>
              <a:ext uri="{FF2B5EF4-FFF2-40B4-BE49-F238E27FC236}">
                <a16:creationId xmlns:a16="http://schemas.microsoft.com/office/drawing/2014/main" id="{2A968DFC-62BE-A287-1946-9B8249F8E852}"/>
              </a:ext>
            </a:extLst>
          </p:cNvPr>
          <p:cNvSpPr>
            <a:spLocks noGrp="1"/>
          </p:cNvSpPr>
          <p:nvPr>
            <p:ph sz="quarter" idx="14"/>
          </p:nvPr>
        </p:nvSpPr>
        <p:spPr>
          <a:xfrm>
            <a:off x="438537" y="1537303"/>
            <a:ext cx="8262551" cy="4822277"/>
          </a:xfrm>
        </p:spPr>
        <p:txBody>
          <a:bodyPr wrap="square" lIns="0" tIns="18000" rIns="0" bIns="18000" anchor="ctr" anchorCtr="0">
            <a:spAutoFit/>
          </a:bodyPr>
          <a:lstStyle/>
          <a:p>
            <a:pPr marL="432" indent="0">
              <a:spcBef>
                <a:spcPts val="600"/>
              </a:spcBef>
              <a:buNone/>
            </a:pPr>
            <a:r>
              <a:rPr lang="en-US" sz="2200" b="1" dirty="0">
                <a:latin typeface="Arial" panose="020B0604020202020204" pitchFamily="34" charset="0"/>
                <a:cs typeface="Arial" panose="020B0604020202020204" pitchFamily="34" charset="0"/>
              </a:rPr>
              <a:t>Risk</a:t>
            </a:r>
          </a:p>
          <a:p>
            <a:pPr marL="432" indent="0">
              <a:spcBef>
                <a:spcPts val="600"/>
              </a:spcBef>
              <a:buNone/>
            </a:pPr>
            <a:r>
              <a:rPr lang="en-US" sz="2200" dirty="0">
                <a:latin typeface="Arial" panose="020B0604020202020204" pitchFamily="34" charset="0"/>
                <a:cs typeface="Arial" panose="020B0604020202020204" pitchFamily="34" charset="0"/>
              </a:rPr>
              <a:t>A measure of the extent to which an entity is threatened by a potential circumstance or event, and typically a function of 1) the adverse impacts that would arise if the circumstance or event occurs; and 2) the likelihood of occurrence.</a:t>
            </a:r>
          </a:p>
          <a:p>
            <a:pPr marL="432" indent="0">
              <a:spcBef>
                <a:spcPts val="600"/>
              </a:spcBef>
              <a:buNone/>
            </a:pPr>
            <a:r>
              <a:rPr lang="en-US" sz="2200" b="1" dirty="0">
                <a:latin typeface="Arial" panose="020B0604020202020204" pitchFamily="34" charset="0"/>
                <a:cs typeface="Arial" panose="020B0604020202020204" pitchFamily="34" charset="0"/>
              </a:rPr>
              <a:t>Security Policy</a:t>
            </a:r>
          </a:p>
          <a:p>
            <a:pPr marL="432" indent="0">
              <a:spcBef>
                <a:spcPts val="600"/>
              </a:spcBef>
              <a:buNone/>
            </a:pPr>
            <a:r>
              <a:rPr lang="en-US" sz="2200" dirty="0">
                <a:latin typeface="Arial" panose="020B0604020202020204" pitchFamily="34" charset="0"/>
                <a:cs typeface="Arial" panose="020B0604020202020204" pitchFamily="34" charset="0"/>
              </a:rPr>
              <a:t>A set of criteria for the provision of security services. It defines and constrains the activities of a data processing facility in order to maintain a condition of security for systems and data.</a:t>
            </a:r>
          </a:p>
          <a:p>
            <a:pPr marL="432" indent="0">
              <a:spcBef>
                <a:spcPts val="600"/>
              </a:spcBef>
              <a:buNone/>
            </a:pPr>
            <a:r>
              <a:rPr lang="en-US" sz="2200" b="1" dirty="0">
                <a:latin typeface="Arial" panose="020B0604020202020204" pitchFamily="34" charset="0"/>
                <a:cs typeface="Arial" panose="020B0604020202020204" pitchFamily="34" charset="0"/>
              </a:rPr>
              <a:t>System Resource (Asset)</a:t>
            </a:r>
          </a:p>
          <a:p>
            <a:pPr marL="432" indent="0">
              <a:spcBef>
                <a:spcPts val="600"/>
              </a:spcBef>
              <a:buNone/>
            </a:pPr>
            <a:r>
              <a:rPr lang="en-US" sz="2200" dirty="0">
                <a:latin typeface="Arial" panose="020B0604020202020204" pitchFamily="34" charset="0"/>
                <a:cs typeface="Arial" panose="020B0604020202020204" pitchFamily="34" charset="0"/>
              </a:rPr>
              <a:t>A major application, general support system, high impact program, physical plant, mission critical system, personnel, equipment, or a logically related group of systems.</a:t>
            </a:r>
          </a:p>
        </p:txBody>
      </p:sp>
      <p:sp>
        <p:nvSpPr>
          <p:cNvPr id="2" name="Slide Number Placeholder 1">
            <a:extLst>
              <a:ext uri="{FF2B5EF4-FFF2-40B4-BE49-F238E27FC236}">
                <a16:creationId xmlns:a16="http://schemas.microsoft.com/office/drawing/2014/main" id="{3A363BD1-398C-556D-9E25-21442CCB294E}"/>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12</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2943234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B5CC0A-09AB-6554-B823-BF5F16A7B44B}"/>
              </a:ext>
            </a:extLst>
          </p:cNvPr>
          <p:cNvSpPr>
            <a:spLocks noGrp="1"/>
          </p:cNvSpPr>
          <p:nvPr>
            <p:ph type="title"/>
          </p:nvPr>
        </p:nvSpPr>
        <p:spPr>
          <a:xfrm>
            <a:off x="438538" y="160926"/>
            <a:ext cx="8262550" cy="590349"/>
          </a:xfrm>
        </p:spPr>
        <p:txBody>
          <a:bodyPr wrap="square" lIns="0" tIns="18000" rIns="0" bIns="18000" anchor="ctr" anchorCtr="0">
            <a:spAutoFit/>
          </a:bodyPr>
          <a:lstStyle/>
          <a:p>
            <a:r>
              <a:rPr lang="en-US" dirty="0"/>
              <a:t>Table 1.1 </a:t>
            </a:r>
            <a:r>
              <a:rPr lang="en-US" sz="2800" dirty="0"/>
              <a:t>(3 of 3)</a:t>
            </a:r>
            <a:endParaRPr lang="en-US" dirty="0"/>
          </a:p>
        </p:txBody>
      </p:sp>
      <p:sp>
        <p:nvSpPr>
          <p:cNvPr id="5" name="Content Placeholder 4">
            <a:extLst>
              <a:ext uri="{FF2B5EF4-FFF2-40B4-BE49-F238E27FC236}">
                <a16:creationId xmlns:a16="http://schemas.microsoft.com/office/drawing/2014/main" id="{C908D160-6E9C-1973-CD1D-E5BE85825442}"/>
              </a:ext>
            </a:extLst>
          </p:cNvPr>
          <p:cNvSpPr>
            <a:spLocks noGrp="1"/>
          </p:cNvSpPr>
          <p:nvPr>
            <p:ph sz="quarter" idx="13"/>
          </p:nvPr>
        </p:nvSpPr>
        <p:spPr>
          <a:xfrm>
            <a:off x="438538" y="1011994"/>
            <a:ext cx="8262550" cy="374906"/>
          </a:xfrm>
        </p:spPr>
        <p:txBody>
          <a:bodyPr wrap="square" lIns="0" tIns="18000" rIns="0" bIns="18000" anchor="ctr" anchorCtr="0">
            <a:spAutoFit/>
          </a:bodyPr>
          <a:lstStyle/>
          <a:p>
            <a:pPr marL="0" indent="0">
              <a:buNone/>
            </a:pPr>
            <a:r>
              <a:rPr lang="en-US" sz="2200" dirty="0">
                <a:latin typeface="Arial" panose="020B0604020202020204" pitchFamily="34" charset="0"/>
                <a:cs typeface="Arial" panose="020B0604020202020204" pitchFamily="34" charset="0"/>
              </a:rPr>
              <a:t>Computer Security Terminology</a:t>
            </a:r>
          </a:p>
        </p:txBody>
      </p:sp>
      <p:sp>
        <p:nvSpPr>
          <p:cNvPr id="6" name="Content Placeholder 5">
            <a:extLst>
              <a:ext uri="{FF2B5EF4-FFF2-40B4-BE49-F238E27FC236}">
                <a16:creationId xmlns:a16="http://schemas.microsoft.com/office/drawing/2014/main" id="{2A968DFC-62BE-A287-1946-9B8249F8E852}"/>
              </a:ext>
            </a:extLst>
          </p:cNvPr>
          <p:cNvSpPr>
            <a:spLocks noGrp="1"/>
          </p:cNvSpPr>
          <p:nvPr>
            <p:ph sz="quarter" idx="14"/>
          </p:nvPr>
        </p:nvSpPr>
        <p:spPr>
          <a:xfrm>
            <a:off x="438537" y="1542255"/>
            <a:ext cx="8262551" cy="3991280"/>
          </a:xfrm>
        </p:spPr>
        <p:txBody>
          <a:bodyPr wrap="square" lIns="0" tIns="18000" rIns="0" bIns="18000" anchor="ctr" anchorCtr="0">
            <a:spAutoFit/>
          </a:bodyPr>
          <a:lstStyle/>
          <a:p>
            <a:pPr marL="432" indent="0">
              <a:spcBef>
                <a:spcPts val="600"/>
              </a:spcBef>
              <a:buNone/>
            </a:pPr>
            <a:r>
              <a:rPr lang="en-US" sz="2200" b="1" dirty="0">
                <a:latin typeface="Arial" panose="020B0604020202020204" pitchFamily="34" charset="0"/>
                <a:cs typeface="Arial" panose="020B0604020202020204" pitchFamily="34" charset="0"/>
              </a:rPr>
              <a:t>Threat</a:t>
            </a:r>
          </a:p>
          <a:p>
            <a:pPr marL="432" indent="0">
              <a:spcBef>
                <a:spcPts val="600"/>
              </a:spcBef>
              <a:buNone/>
            </a:pPr>
            <a:r>
              <a:rPr lang="en-US" sz="2200" dirty="0">
                <a:latin typeface="Arial" panose="020B0604020202020204" pitchFamily="34" charset="0"/>
                <a:cs typeface="Arial" panose="020B0604020202020204" pitchFamily="34" charset="0"/>
              </a:rPr>
              <a:t>Any circumstance or event with the potential to adversely impact organizational operations (including mission, functions, image, or reputation), organizational assets, individuals, other organizations, or the Nation through an information system via unauthorized access, destruction, disclosure, modification of information, and/or denial of service.</a:t>
            </a:r>
          </a:p>
          <a:p>
            <a:pPr marL="432" indent="0">
              <a:spcBef>
                <a:spcPts val="600"/>
              </a:spcBef>
              <a:buNone/>
            </a:pPr>
            <a:r>
              <a:rPr lang="en-US" sz="2200" b="1" dirty="0">
                <a:latin typeface="Arial" panose="020B0604020202020204" pitchFamily="34" charset="0"/>
                <a:cs typeface="Arial" panose="020B0604020202020204" pitchFamily="34" charset="0"/>
              </a:rPr>
              <a:t>Vulnerability</a:t>
            </a:r>
          </a:p>
          <a:p>
            <a:pPr marL="432" indent="0">
              <a:spcBef>
                <a:spcPts val="600"/>
              </a:spcBef>
              <a:buNone/>
            </a:pPr>
            <a:r>
              <a:rPr lang="en-US" sz="2200" dirty="0">
                <a:latin typeface="Arial" panose="020B0604020202020204" pitchFamily="34" charset="0"/>
                <a:cs typeface="Arial" panose="020B0604020202020204" pitchFamily="34" charset="0"/>
              </a:rPr>
              <a:t>Weakness in an information system, system security procedures, internal controls, or implementation that could be exploited or triggered by a threat source.</a:t>
            </a:r>
          </a:p>
        </p:txBody>
      </p:sp>
      <p:sp>
        <p:nvSpPr>
          <p:cNvPr id="2" name="Slide Number Placeholder 1">
            <a:extLst>
              <a:ext uri="{FF2B5EF4-FFF2-40B4-BE49-F238E27FC236}">
                <a16:creationId xmlns:a16="http://schemas.microsoft.com/office/drawing/2014/main" id="{E94E1A69-C999-8E6C-69EC-85E0B11C15C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13</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982411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B5CC0A-09AB-6554-B823-BF5F16A7B44B}"/>
              </a:ext>
            </a:extLst>
          </p:cNvPr>
          <p:cNvSpPr>
            <a:spLocks noGrp="1"/>
          </p:cNvSpPr>
          <p:nvPr>
            <p:ph type="title"/>
          </p:nvPr>
        </p:nvSpPr>
        <p:spPr>
          <a:xfrm>
            <a:off x="438538" y="160926"/>
            <a:ext cx="8262550" cy="590349"/>
          </a:xfrm>
        </p:spPr>
        <p:txBody>
          <a:bodyPr wrap="square" lIns="0" tIns="18000" rIns="0" bIns="18000" anchor="ctr" anchorCtr="0">
            <a:spAutoFit/>
          </a:bodyPr>
          <a:lstStyle/>
          <a:p>
            <a:r>
              <a:rPr lang="en-US" sz="3600" dirty="0"/>
              <a:t>Figure 1.2</a:t>
            </a:r>
            <a:endParaRPr lang="en-US" dirty="0"/>
          </a:p>
        </p:txBody>
      </p:sp>
      <p:sp>
        <p:nvSpPr>
          <p:cNvPr id="5" name="Content Placeholder 4">
            <a:extLst>
              <a:ext uri="{FF2B5EF4-FFF2-40B4-BE49-F238E27FC236}">
                <a16:creationId xmlns:a16="http://schemas.microsoft.com/office/drawing/2014/main" id="{C908D160-6E9C-1973-CD1D-E5BE85825442}"/>
              </a:ext>
            </a:extLst>
          </p:cNvPr>
          <p:cNvSpPr>
            <a:spLocks noGrp="1"/>
          </p:cNvSpPr>
          <p:nvPr>
            <p:ph sz="quarter" idx="13"/>
          </p:nvPr>
        </p:nvSpPr>
        <p:spPr>
          <a:xfrm>
            <a:off x="438538" y="996605"/>
            <a:ext cx="8262550" cy="405683"/>
          </a:xfrm>
        </p:spPr>
        <p:txBody>
          <a:bodyPr wrap="square" lIns="0" tIns="18000" rIns="0" bIns="18000" anchor="ctr" anchorCtr="0">
            <a:spAutoFit/>
          </a:bodyPr>
          <a:lstStyle/>
          <a:p>
            <a:pPr marL="0" indent="0">
              <a:buNone/>
            </a:pPr>
            <a:r>
              <a:rPr lang="en-US" dirty="0">
                <a:latin typeface="Arial" panose="020B0604020202020204" pitchFamily="34" charset="0"/>
                <a:cs typeface="Arial" panose="020B0604020202020204" pitchFamily="34" charset="0"/>
              </a:rPr>
              <a:t>Security Concepts and Relationships</a:t>
            </a:r>
          </a:p>
        </p:txBody>
      </p:sp>
      <p:pic>
        <p:nvPicPr>
          <p:cNvPr id="3" name="Picture 2" descr="The figure illustrates a flow chart representing the security concepts and relationships.&#10;Long description is available in notes, Press F6.">
            <a:extLst>
              <a:ext uri="{FF2B5EF4-FFF2-40B4-BE49-F238E27FC236}">
                <a16:creationId xmlns:a16="http://schemas.microsoft.com/office/drawing/2014/main" id="{82F2C678-E6A4-93A1-8241-E27640FABDF8}"/>
              </a:ext>
            </a:extLst>
          </p:cNvPr>
          <p:cNvPicPr>
            <a:picLocks noChangeAspect="1"/>
          </p:cNvPicPr>
          <p:nvPr/>
        </p:nvPicPr>
        <p:blipFill>
          <a:blip r:embed="rId3"/>
          <a:stretch>
            <a:fillRect/>
          </a:stretch>
        </p:blipFill>
        <p:spPr>
          <a:xfrm>
            <a:off x="1386032" y="1756912"/>
            <a:ext cx="6371936" cy="4146610"/>
          </a:xfrm>
          <a:prstGeom prst="rect">
            <a:avLst/>
          </a:prstGeom>
        </p:spPr>
      </p:pic>
      <p:sp>
        <p:nvSpPr>
          <p:cNvPr id="2" name="Slide Number Placeholder 1">
            <a:extLst>
              <a:ext uri="{FF2B5EF4-FFF2-40B4-BE49-F238E27FC236}">
                <a16:creationId xmlns:a16="http://schemas.microsoft.com/office/drawing/2014/main" id="{173C2D91-4299-B1B4-8EA4-474AB527D651}"/>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14</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2113636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B5CC0A-09AB-6554-B823-BF5F16A7B44B}"/>
              </a:ext>
            </a:extLst>
          </p:cNvPr>
          <p:cNvSpPr>
            <a:spLocks noGrp="1"/>
          </p:cNvSpPr>
          <p:nvPr>
            <p:ph type="title"/>
          </p:nvPr>
        </p:nvSpPr>
        <p:spPr>
          <a:xfrm>
            <a:off x="438538" y="160926"/>
            <a:ext cx="8262550" cy="590349"/>
          </a:xfrm>
        </p:spPr>
        <p:txBody>
          <a:bodyPr wrap="square" lIns="0" tIns="18000" rIns="0" bIns="18000" anchor="ctr" anchorCtr="0">
            <a:spAutoFit/>
          </a:bodyPr>
          <a:lstStyle/>
          <a:p>
            <a:r>
              <a:rPr lang="en-US" dirty="0"/>
              <a:t>Assets of a Computer System</a:t>
            </a:r>
          </a:p>
        </p:txBody>
      </p:sp>
      <p:sp>
        <p:nvSpPr>
          <p:cNvPr id="5" name="Content Placeholder 4">
            <a:extLst>
              <a:ext uri="{FF2B5EF4-FFF2-40B4-BE49-F238E27FC236}">
                <a16:creationId xmlns:a16="http://schemas.microsoft.com/office/drawing/2014/main" id="{C908D160-6E9C-1973-CD1D-E5BE85825442}"/>
              </a:ext>
            </a:extLst>
          </p:cNvPr>
          <p:cNvSpPr>
            <a:spLocks noGrp="1"/>
          </p:cNvSpPr>
          <p:nvPr>
            <p:ph sz="quarter" idx="13"/>
          </p:nvPr>
        </p:nvSpPr>
        <p:spPr>
          <a:xfrm>
            <a:off x="438538" y="980336"/>
            <a:ext cx="8262550" cy="1744511"/>
          </a:xfrm>
        </p:spPr>
        <p:txBody>
          <a:bodyPr wrap="square" lIns="0" tIns="18000" rIns="0" bIns="18000" anchor="ctr" anchorCtr="0">
            <a:spAutoFit/>
          </a:bodyPr>
          <a:lstStyle/>
          <a:p>
            <a:pPr marL="342900" indent="-342900">
              <a:spcBef>
                <a:spcPts val="600"/>
              </a:spcBef>
            </a:pPr>
            <a:r>
              <a:rPr lang="en-US" dirty="0">
                <a:latin typeface="Arial" panose="020B0604020202020204" pitchFamily="34" charset="0"/>
                <a:cs typeface="Arial" panose="020B0604020202020204" pitchFamily="34" charset="0"/>
              </a:rPr>
              <a:t>Hardware</a:t>
            </a:r>
          </a:p>
          <a:p>
            <a:pPr marL="342900" indent="-342900">
              <a:spcBef>
                <a:spcPts val="600"/>
              </a:spcBef>
            </a:pPr>
            <a:r>
              <a:rPr lang="en-US" dirty="0">
                <a:latin typeface="Arial" panose="020B0604020202020204" pitchFamily="34" charset="0"/>
                <a:cs typeface="Arial" panose="020B0604020202020204" pitchFamily="34" charset="0"/>
              </a:rPr>
              <a:t>Software</a:t>
            </a:r>
          </a:p>
          <a:p>
            <a:pPr marL="342900" indent="-342900">
              <a:spcBef>
                <a:spcPts val="600"/>
              </a:spcBef>
            </a:pPr>
            <a:r>
              <a:rPr lang="en-US" dirty="0">
                <a:latin typeface="Arial" panose="020B0604020202020204" pitchFamily="34" charset="0"/>
                <a:cs typeface="Arial" panose="020B0604020202020204" pitchFamily="34" charset="0"/>
              </a:rPr>
              <a:t>Data</a:t>
            </a:r>
          </a:p>
          <a:p>
            <a:pPr marL="342900" indent="-342900">
              <a:spcBef>
                <a:spcPts val="600"/>
              </a:spcBef>
            </a:pPr>
            <a:r>
              <a:rPr lang="en-US" dirty="0">
                <a:latin typeface="Arial" panose="020B0604020202020204" pitchFamily="34" charset="0"/>
                <a:cs typeface="Arial" panose="020B0604020202020204" pitchFamily="34" charset="0"/>
              </a:rPr>
              <a:t>Communication facilities and networks</a:t>
            </a:r>
          </a:p>
        </p:txBody>
      </p:sp>
      <p:sp>
        <p:nvSpPr>
          <p:cNvPr id="2" name="Slide Number Placeholder 1">
            <a:extLst>
              <a:ext uri="{FF2B5EF4-FFF2-40B4-BE49-F238E27FC236}">
                <a16:creationId xmlns:a16="http://schemas.microsoft.com/office/drawing/2014/main" id="{46961691-92EC-E03F-F354-ABD05AB8DFD3}"/>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15</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747595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B5CC0A-09AB-6554-B823-BF5F16A7B44B}"/>
              </a:ext>
            </a:extLst>
          </p:cNvPr>
          <p:cNvSpPr>
            <a:spLocks noGrp="1"/>
          </p:cNvSpPr>
          <p:nvPr>
            <p:ph type="title"/>
          </p:nvPr>
        </p:nvSpPr>
        <p:spPr>
          <a:xfrm>
            <a:off x="438538" y="160926"/>
            <a:ext cx="8262550" cy="590349"/>
          </a:xfrm>
        </p:spPr>
        <p:txBody>
          <a:bodyPr wrap="square" lIns="0" tIns="18000" rIns="0" bIns="18000" anchor="ctr" anchorCtr="0">
            <a:spAutoFit/>
          </a:bodyPr>
          <a:lstStyle/>
          <a:p>
            <a:r>
              <a:rPr lang="en-US" dirty="0"/>
              <a:t>Vulnerabilities, Threats and Attacks</a:t>
            </a:r>
          </a:p>
        </p:txBody>
      </p:sp>
      <p:sp>
        <p:nvSpPr>
          <p:cNvPr id="5" name="Content Placeholder 4">
            <a:extLst>
              <a:ext uri="{FF2B5EF4-FFF2-40B4-BE49-F238E27FC236}">
                <a16:creationId xmlns:a16="http://schemas.microsoft.com/office/drawing/2014/main" id="{C908D160-6E9C-1973-CD1D-E5BE85825442}"/>
              </a:ext>
            </a:extLst>
          </p:cNvPr>
          <p:cNvSpPr>
            <a:spLocks noGrp="1"/>
          </p:cNvSpPr>
          <p:nvPr>
            <p:ph sz="quarter" idx="13"/>
          </p:nvPr>
        </p:nvSpPr>
        <p:spPr>
          <a:xfrm>
            <a:off x="438538" y="1024871"/>
            <a:ext cx="8262550" cy="4883832"/>
          </a:xfrm>
        </p:spPr>
        <p:txBody>
          <a:bodyPr wrap="square" lIns="0" tIns="18000" rIns="0" bIns="18000" anchor="ctr" anchorCtr="0">
            <a:spAutoFit/>
          </a:bodyPr>
          <a:lstStyle/>
          <a:p>
            <a:pPr marL="342900" indent="-342900">
              <a:spcBef>
                <a:spcPts val="600"/>
              </a:spcBef>
            </a:pPr>
            <a:r>
              <a:rPr lang="en-US" sz="2000" dirty="0">
                <a:latin typeface="Arial" panose="020B0604020202020204" pitchFamily="34" charset="0"/>
                <a:cs typeface="Arial" panose="020B0604020202020204" pitchFamily="34" charset="0"/>
              </a:rPr>
              <a:t>Categories of vulnerabilities</a:t>
            </a:r>
          </a:p>
          <a:p>
            <a:pPr marL="829818" lvl="1" indent="-342900"/>
            <a:r>
              <a:rPr lang="en-US" sz="2000" dirty="0">
                <a:latin typeface="Arial" panose="020B0604020202020204" pitchFamily="34" charset="0"/>
                <a:cs typeface="Arial" panose="020B0604020202020204" pitchFamily="34" charset="0"/>
              </a:rPr>
              <a:t>Corrupted (loss of integrity)</a:t>
            </a:r>
          </a:p>
          <a:p>
            <a:pPr marL="829818" lvl="1" indent="-342900"/>
            <a:r>
              <a:rPr lang="en-US" sz="2000" dirty="0">
                <a:latin typeface="Arial" panose="020B0604020202020204" pitchFamily="34" charset="0"/>
                <a:cs typeface="Arial" panose="020B0604020202020204" pitchFamily="34" charset="0"/>
              </a:rPr>
              <a:t>Leaky (loss of confidentiality)</a:t>
            </a:r>
          </a:p>
          <a:p>
            <a:pPr marL="829818" lvl="1" indent="-342900"/>
            <a:r>
              <a:rPr lang="en-US" sz="2000" dirty="0">
                <a:latin typeface="Arial" panose="020B0604020202020204" pitchFamily="34" charset="0"/>
                <a:cs typeface="Arial" panose="020B0604020202020204" pitchFamily="34" charset="0"/>
              </a:rPr>
              <a:t>Unavailable or very slow (loss of availability)</a:t>
            </a:r>
          </a:p>
          <a:p>
            <a:pPr marL="342900" indent="-342900">
              <a:spcBef>
                <a:spcPts val="600"/>
              </a:spcBef>
            </a:pPr>
            <a:r>
              <a:rPr lang="en-US" sz="2000" dirty="0">
                <a:latin typeface="Arial" panose="020B0604020202020204" pitchFamily="34" charset="0"/>
                <a:cs typeface="Arial" panose="020B0604020202020204" pitchFamily="34" charset="0"/>
              </a:rPr>
              <a:t>Threats</a:t>
            </a:r>
          </a:p>
          <a:p>
            <a:pPr marL="829818" lvl="1" indent="-342900"/>
            <a:r>
              <a:rPr lang="en-US" sz="2000" dirty="0">
                <a:latin typeface="Arial" panose="020B0604020202020204" pitchFamily="34" charset="0"/>
                <a:cs typeface="Arial" panose="020B0604020202020204" pitchFamily="34" charset="0"/>
              </a:rPr>
              <a:t>Capable of exploiting vulnerabilities</a:t>
            </a:r>
          </a:p>
          <a:p>
            <a:pPr marL="829818" lvl="1" indent="-342900"/>
            <a:r>
              <a:rPr lang="en-US" sz="2000" dirty="0">
                <a:latin typeface="Arial" panose="020B0604020202020204" pitchFamily="34" charset="0"/>
                <a:cs typeface="Arial" panose="020B0604020202020204" pitchFamily="34" charset="0"/>
              </a:rPr>
              <a:t>Represent potential security harm to an asset</a:t>
            </a:r>
          </a:p>
          <a:p>
            <a:pPr marL="342900" indent="-342900">
              <a:spcBef>
                <a:spcPts val="600"/>
              </a:spcBef>
            </a:pPr>
            <a:r>
              <a:rPr lang="en-US" sz="2000" dirty="0">
                <a:latin typeface="Arial" panose="020B0604020202020204" pitchFamily="34" charset="0"/>
                <a:cs typeface="Arial" panose="020B0604020202020204" pitchFamily="34" charset="0"/>
              </a:rPr>
              <a:t>Attacks (threats carried out)</a:t>
            </a:r>
          </a:p>
          <a:p>
            <a:pPr marL="829818" lvl="1" indent="-342900"/>
            <a:r>
              <a:rPr lang="en-US" sz="2000" dirty="0">
                <a:latin typeface="Arial" panose="020B0604020202020204" pitchFamily="34" charset="0"/>
                <a:cs typeface="Arial" panose="020B0604020202020204" pitchFamily="34" charset="0"/>
              </a:rPr>
              <a:t>Active – attempt to alter system resources or affect their operation</a:t>
            </a:r>
          </a:p>
          <a:p>
            <a:pPr marL="829818" lvl="1" indent="-342900"/>
            <a:r>
              <a:rPr lang="en-US" sz="2000" dirty="0">
                <a:latin typeface="Arial" panose="020B0604020202020204" pitchFamily="34" charset="0"/>
                <a:cs typeface="Arial" panose="020B0604020202020204" pitchFamily="34" charset="0"/>
              </a:rPr>
              <a:t>Passive – attempt to learn or make use of system information that does not affect system resources  Example: Eavesdropping</a:t>
            </a:r>
          </a:p>
          <a:p>
            <a:pPr marL="829818" lvl="1" indent="-342900"/>
            <a:r>
              <a:rPr lang="en-US" sz="2000" dirty="0">
                <a:latin typeface="Arial" panose="020B0604020202020204" pitchFamily="34" charset="0"/>
                <a:cs typeface="Arial" panose="020B0604020202020204" pitchFamily="34" charset="0"/>
              </a:rPr>
              <a:t>Insider – initiated by an entity inside the security parameter</a:t>
            </a:r>
          </a:p>
          <a:p>
            <a:pPr marL="829818" lvl="1" indent="-342900"/>
            <a:r>
              <a:rPr lang="en-US" sz="2000" dirty="0">
                <a:latin typeface="Arial" panose="020B0604020202020204" pitchFamily="34" charset="0"/>
                <a:cs typeface="Arial" panose="020B0604020202020204" pitchFamily="34" charset="0"/>
              </a:rPr>
              <a:t>Outsider – initiated from outside the perimeter</a:t>
            </a:r>
          </a:p>
        </p:txBody>
      </p:sp>
      <p:sp>
        <p:nvSpPr>
          <p:cNvPr id="2" name="TextBox 1">
            <a:extLst>
              <a:ext uri="{FF2B5EF4-FFF2-40B4-BE49-F238E27FC236}">
                <a16:creationId xmlns:a16="http://schemas.microsoft.com/office/drawing/2014/main" id="{05EE35D1-AC8C-7CAB-49DB-647A159DE89F}"/>
              </a:ext>
            </a:extLst>
          </p:cNvPr>
          <p:cNvSpPr txBox="1"/>
          <p:nvPr/>
        </p:nvSpPr>
        <p:spPr>
          <a:xfrm>
            <a:off x="4789488" y="1212168"/>
            <a:ext cx="3911600" cy="954107"/>
          </a:xfrm>
          <a:prstGeom prst="rect">
            <a:avLst/>
          </a:prstGeom>
          <a:noFill/>
          <a:ln>
            <a:noFill/>
          </a:ln>
        </p:spPr>
        <p:txBody>
          <a:bodyPr wrap="square" rtlCol="0">
            <a:spAutoFit/>
          </a:bodyPr>
          <a:lstStyle/>
          <a:p>
            <a:r>
              <a:rPr lang="en-US" sz="1400" dirty="0"/>
              <a:t>“I am regularly asked what the average Internet user can do to ensure his security. My first answer is usually 'Nothing; you're screwed’”</a:t>
            </a:r>
          </a:p>
          <a:p>
            <a:r>
              <a:rPr lang="en-US" sz="1400" dirty="0"/>
              <a:t>- </a:t>
            </a:r>
            <a:r>
              <a:rPr lang="en-US" sz="1400" dirty="0">
                <a:hlinkClick r:id="rId3"/>
              </a:rPr>
              <a:t>Bruce </a:t>
            </a:r>
            <a:r>
              <a:rPr lang="en-US" sz="1400" dirty="0" err="1">
                <a:hlinkClick r:id="rId3"/>
              </a:rPr>
              <a:t>Schneier</a:t>
            </a:r>
            <a:endParaRPr lang="en-US" sz="1400" dirty="0"/>
          </a:p>
        </p:txBody>
      </p:sp>
      <p:sp>
        <p:nvSpPr>
          <p:cNvPr id="3" name="Slide Number Placeholder 2">
            <a:extLst>
              <a:ext uri="{FF2B5EF4-FFF2-40B4-BE49-F238E27FC236}">
                <a16:creationId xmlns:a16="http://schemas.microsoft.com/office/drawing/2014/main" id="{37DBDD82-78D7-A8E1-8251-528B0B7B6FDE}"/>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16</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3725908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B5CC0A-09AB-6554-B823-BF5F16A7B44B}"/>
              </a:ext>
            </a:extLst>
          </p:cNvPr>
          <p:cNvSpPr>
            <a:spLocks noGrp="1"/>
          </p:cNvSpPr>
          <p:nvPr>
            <p:ph type="title"/>
          </p:nvPr>
        </p:nvSpPr>
        <p:spPr>
          <a:xfrm>
            <a:off x="438538" y="160926"/>
            <a:ext cx="8262550" cy="590349"/>
          </a:xfrm>
        </p:spPr>
        <p:txBody>
          <a:bodyPr wrap="square" lIns="0" tIns="18000" rIns="0" bIns="18000" anchor="ctr" anchorCtr="0">
            <a:spAutoFit/>
          </a:bodyPr>
          <a:lstStyle/>
          <a:p>
            <a:r>
              <a:rPr lang="en-US" dirty="0"/>
              <a:t>Countermeasures</a:t>
            </a:r>
          </a:p>
        </p:txBody>
      </p:sp>
      <p:sp>
        <p:nvSpPr>
          <p:cNvPr id="5" name="Content Placeholder 4">
            <a:extLst>
              <a:ext uri="{FF2B5EF4-FFF2-40B4-BE49-F238E27FC236}">
                <a16:creationId xmlns:a16="http://schemas.microsoft.com/office/drawing/2014/main" id="{C908D160-6E9C-1973-CD1D-E5BE85825442}"/>
              </a:ext>
            </a:extLst>
          </p:cNvPr>
          <p:cNvSpPr>
            <a:spLocks noGrp="1"/>
          </p:cNvSpPr>
          <p:nvPr>
            <p:ph sz="quarter" idx="13"/>
          </p:nvPr>
        </p:nvSpPr>
        <p:spPr>
          <a:xfrm>
            <a:off x="438538" y="1141480"/>
            <a:ext cx="6216262" cy="4014364"/>
          </a:xfrm>
        </p:spPr>
        <p:txBody>
          <a:bodyPr wrap="square" lIns="0" tIns="18000" rIns="0" bIns="18000" anchor="ctr" anchorCtr="0">
            <a:spAutoFit/>
          </a:bodyPr>
          <a:lstStyle/>
          <a:p>
            <a:pPr marL="342900" indent="-342900">
              <a:spcBef>
                <a:spcPts val="600"/>
              </a:spcBef>
            </a:pPr>
            <a:r>
              <a:rPr lang="en-US" dirty="0">
                <a:latin typeface="Arial" panose="020B0604020202020204" pitchFamily="34" charset="0"/>
                <a:cs typeface="Arial" panose="020B0604020202020204" pitchFamily="34" charset="0"/>
              </a:rPr>
              <a:t>Means used to deal with security attacks</a:t>
            </a:r>
          </a:p>
          <a:p>
            <a:pPr marL="829818" lvl="1" indent="-342900"/>
            <a:r>
              <a:rPr lang="en-US" dirty="0">
                <a:latin typeface="Arial" panose="020B0604020202020204" pitchFamily="34" charset="0"/>
                <a:cs typeface="Arial" panose="020B0604020202020204" pitchFamily="34" charset="0"/>
              </a:rPr>
              <a:t>Prevent (protect)</a:t>
            </a:r>
          </a:p>
          <a:p>
            <a:pPr marL="829818" lvl="1" indent="-342900"/>
            <a:r>
              <a:rPr lang="en-US" dirty="0">
                <a:latin typeface="Arial" panose="020B0604020202020204" pitchFamily="34" charset="0"/>
                <a:cs typeface="Arial" panose="020B0604020202020204" pitchFamily="34" charset="0"/>
              </a:rPr>
              <a:t>Detect</a:t>
            </a:r>
          </a:p>
          <a:p>
            <a:pPr marL="829818" lvl="1" indent="-342900"/>
            <a:r>
              <a:rPr lang="en-US" dirty="0">
                <a:latin typeface="Arial" panose="020B0604020202020204" pitchFamily="34" charset="0"/>
                <a:cs typeface="Arial" panose="020B0604020202020204" pitchFamily="34" charset="0"/>
              </a:rPr>
              <a:t>Recover</a:t>
            </a:r>
          </a:p>
          <a:p>
            <a:pPr marL="342900" indent="-342900"/>
            <a:r>
              <a:rPr lang="en-US" dirty="0">
                <a:latin typeface="Arial" panose="020B0604020202020204" pitchFamily="34" charset="0"/>
                <a:cs typeface="Arial" panose="020B0604020202020204" pitchFamily="34" charset="0"/>
              </a:rPr>
              <a:t>Above map to NIST Framework</a:t>
            </a:r>
          </a:p>
          <a:p>
            <a:pPr marL="342900" indent="-342900">
              <a:spcBef>
                <a:spcPts val="600"/>
              </a:spcBef>
            </a:pPr>
            <a:r>
              <a:rPr lang="en-US" dirty="0">
                <a:latin typeface="Arial" panose="020B0604020202020204" pitchFamily="34" charset="0"/>
                <a:cs typeface="Arial" panose="020B0604020202020204" pitchFamily="34" charset="0"/>
              </a:rPr>
              <a:t>May itself introduce new vulnerabilities</a:t>
            </a:r>
          </a:p>
          <a:p>
            <a:pPr marL="342900" indent="-342900">
              <a:spcBef>
                <a:spcPts val="600"/>
              </a:spcBef>
            </a:pPr>
            <a:r>
              <a:rPr lang="en-US" dirty="0">
                <a:latin typeface="Arial" panose="020B0604020202020204" pitchFamily="34" charset="0"/>
                <a:cs typeface="Arial" panose="020B0604020202020204" pitchFamily="34" charset="0"/>
              </a:rPr>
              <a:t>Residual vulnerabilities may remain</a:t>
            </a:r>
          </a:p>
          <a:p>
            <a:pPr marL="342900" indent="-342900">
              <a:spcBef>
                <a:spcPts val="600"/>
              </a:spcBef>
            </a:pPr>
            <a:r>
              <a:rPr lang="en-US" dirty="0">
                <a:latin typeface="Arial" panose="020B0604020202020204" pitchFamily="34" charset="0"/>
                <a:cs typeface="Arial" panose="020B0604020202020204" pitchFamily="34" charset="0"/>
              </a:rPr>
              <a:t>Goal is to minimize residual level of risk to the assets</a:t>
            </a:r>
          </a:p>
        </p:txBody>
      </p:sp>
      <p:pic>
        <p:nvPicPr>
          <p:cNvPr id="2" name="Picture 1">
            <a:extLst>
              <a:ext uri="{FF2B5EF4-FFF2-40B4-BE49-F238E27FC236}">
                <a16:creationId xmlns:a16="http://schemas.microsoft.com/office/drawing/2014/main" id="{0C0DD940-3A37-565E-6F17-3311E3B65AB3}"/>
              </a:ext>
            </a:extLst>
          </p:cNvPr>
          <p:cNvPicPr>
            <a:picLocks noChangeAspect="1"/>
          </p:cNvPicPr>
          <p:nvPr/>
        </p:nvPicPr>
        <p:blipFill>
          <a:blip r:embed="rId3"/>
          <a:stretch>
            <a:fillRect/>
          </a:stretch>
        </p:blipFill>
        <p:spPr>
          <a:xfrm>
            <a:off x="7008955" y="788731"/>
            <a:ext cx="1228922" cy="3509942"/>
          </a:xfrm>
          <a:prstGeom prst="rect">
            <a:avLst/>
          </a:prstGeom>
        </p:spPr>
      </p:pic>
      <p:sp>
        <p:nvSpPr>
          <p:cNvPr id="3" name="TextBox 2">
            <a:extLst>
              <a:ext uri="{FF2B5EF4-FFF2-40B4-BE49-F238E27FC236}">
                <a16:creationId xmlns:a16="http://schemas.microsoft.com/office/drawing/2014/main" id="{56A9352E-8576-9AB7-2DDA-0A809032B3B7}"/>
              </a:ext>
            </a:extLst>
          </p:cNvPr>
          <p:cNvSpPr txBox="1"/>
          <p:nvPr/>
        </p:nvSpPr>
        <p:spPr>
          <a:xfrm>
            <a:off x="7003413" y="4391586"/>
            <a:ext cx="1490079" cy="1169551"/>
          </a:xfrm>
          <a:prstGeom prst="rect">
            <a:avLst/>
          </a:prstGeom>
          <a:noFill/>
        </p:spPr>
        <p:txBody>
          <a:bodyPr wrap="square" rtlCol="0">
            <a:spAutoFit/>
          </a:bodyPr>
          <a:lstStyle/>
          <a:p>
            <a:r>
              <a:rPr lang="en-US" sz="1400" dirty="0"/>
              <a:t>Core Functions of NIST </a:t>
            </a:r>
            <a:r>
              <a:rPr lang="en-US" sz="1400" dirty="0">
                <a:hlinkClick r:id="rId4"/>
              </a:rPr>
              <a:t>Cybersecurity Framework</a:t>
            </a:r>
            <a:r>
              <a:rPr lang="en-US" sz="1400" dirty="0"/>
              <a:t> (CSF) (4:34)</a:t>
            </a:r>
          </a:p>
        </p:txBody>
      </p:sp>
      <p:sp>
        <p:nvSpPr>
          <p:cNvPr id="6" name="TextBox 5">
            <a:extLst>
              <a:ext uri="{FF2B5EF4-FFF2-40B4-BE49-F238E27FC236}">
                <a16:creationId xmlns:a16="http://schemas.microsoft.com/office/drawing/2014/main" id="{9985ED8D-EB13-08AD-688B-42EB07CCA7DD}"/>
              </a:ext>
            </a:extLst>
          </p:cNvPr>
          <p:cNvSpPr txBox="1"/>
          <p:nvPr/>
        </p:nvSpPr>
        <p:spPr>
          <a:xfrm>
            <a:off x="7008955" y="5546049"/>
            <a:ext cx="1494441" cy="523220"/>
          </a:xfrm>
          <a:prstGeom prst="rect">
            <a:avLst/>
          </a:prstGeom>
          <a:noFill/>
        </p:spPr>
        <p:txBody>
          <a:bodyPr wrap="square" rtlCol="0">
            <a:spAutoFit/>
          </a:bodyPr>
          <a:lstStyle/>
          <a:p>
            <a:r>
              <a:rPr lang="en-US" dirty="0"/>
              <a:t>See </a:t>
            </a:r>
            <a:r>
              <a:rPr lang="en-US" dirty="0">
                <a:hlinkClick r:id="rId5"/>
              </a:rPr>
              <a:t>The Five Functions</a:t>
            </a:r>
            <a:endParaRPr lang="en-US" dirty="0"/>
          </a:p>
        </p:txBody>
      </p:sp>
      <p:sp>
        <p:nvSpPr>
          <p:cNvPr id="7" name="TextBox 6">
            <a:extLst>
              <a:ext uri="{FF2B5EF4-FFF2-40B4-BE49-F238E27FC236}">
                <a16:creationId xmlns:a16="http://schemas.microsoft.com/office/drawing/2014/main" id="{EBEE794D-B017-9260-DC31-F7A0DFDAF473}"/>
              </a:ext>
            </a:extLst>
          </p:cNvPr>
          <p:cNvSpPr txBox="1"/>
          <p:nvPr/>
        </p:nvSpPr>
        <p:spPr>
          <a:xfrm rot="5400000">
            <a:off x="7063453" y="2444071"/>
            <a:ext cx="2860078" cy="307777"/>
          </a:xfrm>
          <a:prstGeom prst="rect">
            <a:avLst/>
          </a:prstGeom>
          <a:noFill/>
        </p:spPr>
        <p:txBody>
          <a:bodyPr wrap="none" rtlCol="0">
            <a:spAutoFit/>
          </a:bodyPr>
          <a:lstStyle/>
          <a:p>
            <a:r>
              <a:rPr lang="en-US" sz="1400" dirty="0"/>
              <a:t>Core of Cybersecurity Framework</a:t>
            </a:r>
          </a:p>
        </p:txBody>
      </p:sp>
      <p:sp>
        <p:nvSpPr>
          <p:cNvPr id="8" name="TextBox 7">
            <a:extLst>
              <a:ext uri="{FF2B5EF4-FFF2-40B4-BE49-F238E27FC236}">
                <a16:creationId xmlns:a16="http://schemas.microsoft.com/office/drawing/2014/main" id="{B0CEEBB2-E274-0B41-63CD-8B5A807EEA4A}"/>
              </a:ext>
            </a:extLst>
          </p:cNvPr>
          <p:cNvSpPr txBox="1"/>
          <p:nvPr/>
        </p:nvSpPr>
        <p:spPr>
          <a:xfrm>
            <a:off x="7907277" y="6146884"/>
            <a:ext cx="617477" cy="338554"/>
          </a:xfrm>
          <a:prstGeom prst="rect">
            <a:avLst/>
          </a:prstGeom>
          <a:noFill/>
        </p:spPr>
        <p:txBody>
          <a:bodyPr wrap="none" rtlCol="0">
            <a:spAutoFit/>
          </a:bodyPr>
          <a:lstStyle/>
          <a:p>
            <a:r>
              <a:rPr lang="en-US" sz="1600" dirty="0"/>
              <a:t>SJW</a:t>
            </a:r>
          </a:p>
        </p:txBody>
      </p:sp>
      <p:sp>
        <p:nvSpPr>
          <p:cNvPr id="9" name="Slide Number Placeholder 8">
            <a:extLst>
              <a:ext uri="{FF2B5EF4-FFF2-40B4-BE49-F238E27FC236}">
                <a16:creationId xmlns:a16="http://schemas.microsoft.com/office/drawing/2014/main" id="{E60346A6-664F-AA79-A561-699CABB4FC5F}"/>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17</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1921451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noFill/>
          <a:ln>
            <a:noFill/>
          </a:ln>
        </p:spPr>
        <p:txBody>
          <a:bodyPr wrap="square" lIns="0" tIns="18000" rIns="0" bIns="18000" anchor="ctr" anchorCtr="0">
            <a:spAutoFit/>
          </a:bodyPr>
          <a:lstStyle/>
          <a:p>
            <a:r>
              <a:rPr lang="en-US" sz="3600" dirty="0">
                <a:latin typeface="+mj-lt"/>
              </a:rPr>
              <a:t>Key Framework Attributes</a:t>
            </a:r>
          </a:p>
        </p:txBody>
      </p:sp>
      <p:sp>
        <p:nvSpPr>
          <p:cNvPr id="215043" name="Rectangle 3"/>
          <p:cNvSpPr>
            <a:spLocks noGrp="1" noChangeArrowheads="1"/>
          </p:cNvSpPr>
          <p:nvPr>
            <p:ph idx="1"/>
          </p:nvPr>
        </p:nvSpPr>
        <p:spPr>
          <a:xfrm>
            <a:off x="467544" y="1905000"/>
            <a:ext cx="5040560" cy="4953000"/>
          </a:xfrm>
        </p:spPr>
        <p:txBody>
          <a:bodyPr>
            <a:normAutofit/>
          </a:bodyPr>
          <a:lstStyle/>
          <a:p>
            <a:pPr>
              <a:buClr>
                <a:schemeClr val="accent3">
                  <a:lumMod val="60000"/>
                  <a:lumOff val="40000"/>
                </a:schemeClr>
              </a:buClr>
              <a:buSzPct val="130000"/>
            </a:pPr>
            <a:r>
              <a:rPr lang="en-US" sz="2000" dirty="0"/>
              <a:t>Common and accessible language</a:t>
            </a:r>
          </a:p>
          <a:p>
            <a:pPr marL="342900" lvl="1" indent="-342900">
              <a:buClr>
                <a:schemeClr val="accent3">
                  <a:lumMod val="60000"/>
                  <a:lumOff val="40000"/>
                </a:schemeClr>
              </a:buClr>
              <a:buSzPct val="130000"/>
              <a:buFont typeface="Arial" pitchFamily="34" charset="0"/>
              <a:buChar char="•"/>
            </a:pPr>
            <a:r>
              <a:rPr lang="en-US" sz="2000" dirty="0"/>
              <a:t>Adaptable to many technologies, lifecycle phases (SDLC slide), sectors and uses</a:t>
            </a:r>
          </a:p>
          <a:p>
            <a:pPr marL="342900" lvl="1" indent="-342900">
              <a:buClr>
                <a:schemeClr val="accent3">
                  <a:lumMod val="60000"/>
                  <a:lumOff val="40000"/>
                </a:schemeClr>
              </a:buClr>
              <a:buSzPct val="130000"/>
              <a:buFont typeface="Arial" pitchFamily="34" charset="0"/>
              <a:buChar char="•"/>
            </a:pPr>
            <a:r>
              <a:rPr lang="en-US" sz="2000" dirty="0"/>
              <a:t>Risk-based</a:t>
            </a:r>
          </a:p>
          <a:p>
            <a:pPr marL="342900" lvl="1" indent="-342900">
              <a:buClr>
                <a:schemeClr val="accent3">
                  <a:lumMod val="60000"/>
                  <a:lumOff val="40000"/>
                </a:schemeClr>
              </a:buClr>
              <a:buSzPct val="130000"/>
              <a:buFont typeface="Arial" pitchFamily="34" charset="0"/>
              <a:buChar char="•"/>
            </a:pPr>
            <a:r>
              <a:rPr lang="en-US" sz="2000" dirty="0"/>
              <a:t>Based on international standards</a:t>
            </a:r>
          </a:p>
          <a:p>
            <a:pPr marL="342900" lvl="1" indent="-342900">
              <a:buClr>
                <a:schemeClr val="accent3">
                  <a:lumMod val="60000"/>
                  <a:lumOff val="40000"/>
                </a:schemeClr>
              </a:buClr>
              <a:buSzPct val="130000"/>
              <a:buFont typeface="Arial" pitchFamily="34" charset="0"/>
              <a:buChar char="•"/>
            </a:pPr>
            <a:r>
              <a:rPr lang="en-US" sz="2000" dirty="0"/>
              <a:t>Living document</a:t>
            </a:r>
          </a:p>
          <a:p>
            <a:pPr marL="342900" lvl="1" indent="-342900">
              <a:buClr>
                <a:schemeClr val="accent3">
                  <a:lumMod val="60000"/>
                  <a:lumOff val="40000"/>
                </a:schemeClr>
              </a:buClr>
              <a:buSzPct val="130000"/>
              <a:buFont typeface="Arial" pitchFamily="34" charset="0"/>
              <a:buChar char="•"/>
            </a:pPr>
            <a:r>
              <a:rPr lang="en-US" sz="2000" dirty="0"/>
              <a:t>Guided by many perspectives – private sector, academia, public sector</a:t>
            </a:r>
          </a:p>
          <a:p>
            <a:pPr marL="342900" lvl="1" indent="-342900">
              <a:buClr>
                <a:schemeClr val="accent3">
                  <a:lumMod val="60000"/>
                  <a:lumOff val="40000"/>
                </a:schemeClr>
              </a:buClr>
              <a:buSzPct val="130000"/>
              <a:buFont typeface="Arial" pitchFamily="34" charset="0"/>
              <a:buChar char="•"/>
            </a:pPr>
            <a:r>
              <a:rPr lang="en-US" sz="2000" dirty="0"/>
              <a:t>More on this in Chapter 14 </a:t>
            </a:r>
            <a:endParaRPr lang="en-US" sz="1400" dirty="0"/>
          </a:p>
        </p:txBody>
      </p:sp>
      <p:pic>
        <p:nvPicPr>
          <p:cNvPr id="6" name="Picture 5">
            <a:extLst>
              <a:ext uri="{FF2B5EF4-FFF2-40B4-BE49-F238E27FC236}">
                <a16:creationId xmlns:a16="http://schemas.microsoft.com/office/drawing/2014/main" id="{CF234990-2955-446E-A298-770EC3CE9670}"/>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5477070" y="1958798"/>
            <a:ext cx="2996944" cy="2940404"/>
          </a:xfrm>
          <a:prstGeom prst="rect">
            <a:avLst/>
          </a:prstGeom>
        </p:spPr>
      </p:pic>
      <p:sp>
        <p:nvSpPr>
          <p:cNvPr id="2" name="TextBox 1">
            <a:extLst>
              <a:ext uri="{FF2B5EF4-FFF2-40B4-BE49-F238E27FC236}">
                <a16:creationId xmlns:a16="http://schemas.microsoft.com/office/drawing/2014/main" id="{CAF43C4E-9585-36FD-134A-260CA2062316}"/>
              </a:ext>
            </a:extLst>
          </p:cNvPr>
          <p:cNvSpPr txBox="1"/>
          <p:nvPr/>
        </p:nvSpPr>
        <p:spPr>
          <a:xfrm>
            <a:off x="7907277" y="6146884"/>
            <a:ext cx="617477" cy="338554"/>
          </a:xfrm>
          <a:prstGeom prst="rect">
            <a:avLst/>
          </a:prstGeom>
          <a:noFill/>
        </p:spPr>
        <p:txBody>
          <a:bodyPr wrap="none" rtlCol="0">
            <a:spAutoFit/>
          </a:bodyPr>
          <a:lstStyle/>
          <a:p>
            <a:r>
              <a:rPr lang="en-US" sz="1600" dirty="0"/>
              <a:t>SJW</a:t>
            </a:r>
          </a:p>
        </p:txBody>
      </p:sp>
      <p:sp>
        <p:nvSpPr>
          <p:cNvPr id="3" name="Slide Number Placeholder 2">
            <a:extLst>
              <a:ext uri="{FF2B5EF4-FFF2-40B4-BE49-F238E27FC236}">
                <a16:creationId xmlns:a16="http://schemas.microsoft.com/office/drawing/2014/main" id="{44AF7FD3-AD48-E63C-50BA-A7F8EBE27EA0}"/>
              </a:ext>
            </a:extLst>
          </p:cNvPr>
          <p:cNvSpPr>
            <a:spLocks noGrp="1"/>
          </p:cNvSpPr>
          <p:nvPr>
            <p:ph type="sldNum" sz="quarter" idx="12"/>
          </p:nvPr>
        </p:nvSpPr>
        <p:spPr/>
        <p:txBody>
          <a:bodyPr/>
          <a:lstStyle/>
          <a:p>
            <a:fld id="{5F36C9FC-DA22-1F47-8722-58727A1D436E}" type="slidenum">
              <a:rPr lang="en-US" smtClean="0"/>
              <a:pPr/>
              <a:t>18</a:t>
            </a:fld>
            <a:endParaRPr lang="en-US" dirty="0"/>
          </a:p>
        </p:txBody>
      </p:sp>
    </p:spTree>
    <p:extLst>
      <p:ext uri="{BB962C8B-B14F-4D97-AF65-F5344CB8AC3E}">
        <p14:creationId xmlns:p14="http://schemas.microsoft.com/office/powerpoint/2010/main" val="1621940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50000" decel="50000" fill="hold" grpId="0" nodeType="withEffect">
                                  <p:stCondLst>
                                    <p:cond delay="0"/>
                                  </p:stCondLst>
                                  <p:childTnLst>
                                    <p:set>
                                      <p:cBhvr>
                                        <p:cTn id="6" dur="1" fill="hold">
                                          <p:stCondLst>
                                            <p:cond delay="0"/>
                                          </p:stCondLst>
                                        </p:cTn>
                                        <p:tgtEl>
                                          <p:spTgt spid="215043">
                                            <p:txEl>
                                              <p:pRg st="0" end="0"/>
                                            </p:txEl>
                                          </p:spTgt>
                                        </p:tgtEl>
                                        <p:attrNameLst>
                                          <p:attrName>style.visibility</p:attrName>
                                        </p:attrNameLst>
                                      </p:cBhvr>
                                      <p:to>
                                        <p:strVal val="visible"/>
                                      </p:to>
                                    </p:set>
                                    <p:anim calcmode="lin" valueType="num">
                                      <p:cBhvr additive="base">
                                        <p:cTn id="7" dur="3000" fill="hold"/>
                                        <p:tgtEl>
                                          <p:spTgt spid="215043">
                                            <p:txEl>
                                              <p:pRg st="0" end="0"/>
                                            </p:txEl>
                                          </p:spTgt>
                                        </p:tgtEl>
                                        <p:attrNameLst>
                                          <p:attrName>ppt_x</p:attrName>
                                        </p:attrNameLst>
                                      </p:cBhvr>
                                      <p:tavLst>
                                        <p:tav tm="0">
                                          <p:val>
                                            <p:strVal val="#ppt_x"/>
                                          </p:val>
                                        </p:tav>
                                        <p:tav tm="100000">
                                          <p:val>
                                            <p:strVal val="#ppt_x"/>
                                          </p:val>
                                        </p:tav>
                                      </p:tavLst>
                                    </p:anim>
                                    <p:anim calcmode="lin" valueType="num">
                                      <p:cBhvr additive="base">
                                        <p:cTn id="8" dur="3000" fill="hold"/>
                                        <p:tgtEl>
                                          <p:spTgt spid="21504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accel="50000" decel="50000" fill="hold" grpId="0" nodeType="withEffect">
                                  <p:stCondLst>
                                    <p:cond delay="0"/>
                                  </p:stCondLst>
                                  <p:childTnLst>
                                    <p:set>
                                      <p:cBhvr>
                                        <p:cTn id="10" dur="1" fill="hold">
                                          <p:stCondLst>
                                            <p:cond delay="0"/>
                                          </p:stCondLst>
                                        </p:cTn>
                                        <p:tgtEl>
                                          <p:spTgt spid="215043">
                                            <p:txEl>
                                              <p:pRg st="1" end="1"/>
                                            </p:txEl>
                                          </p:spTgt>
                                        </p:tgtEl>
                                        <p:attrNameLst>
                                          <p:attrName>style.visibility</p:attrName>
                                        </p:attrNameLst>
                                      </p:cBhvr>
                                      <p:to>
                                        <p:strVal val="visible"/>
                                      </p:to>
                                    </p:set>
                                    <p:anim calcmode="lin" valueType="num">
                                      <p:cBhvr additive="base">
                                        <p:cTn id="11" dur="3000" fill="hold"/>
                                        <p:tgtEl>
                                          <p:spTgt spid="215043">
                                            <p:txEl>
                                              <p:pRg st="1" end="1"/>
                                            </p:txEl>
                                          </p:spTgt>
                                        </p:tgtEl>
                                        <p:attrNameLst>
                                          <p:attrName>ppt_x</p:attrName>
                                        </p:attrNameLst>
                                      </p:cBhvr>
                                      <p:tavLst>
                                        <p:tav tm="0">
                                          <p:val>
                                            <p:strVal val="#ppt_x"/>
                                          </p:val>
                                        </p:tav>
                                        <p:tav tm="100000">
                                          <p:val>
                                            <p:strVal val="#ppt_x"/>
                                          </p:val>
                                        </p:tav>
                                      </p:tavLst>
                                    </p:anim>
                                    <p:anim calcmode="lin" valueType="num">
                                      <p:cBhvr additive="base">
                                        <p:cTn id="12" dur="3000" fill="hold"/>
                                        <p:tgtEl>
                                          <p:spTgt spid="21504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accel="50000" decel="50000" fill="hold" grpId="0" nodeType="withEffect">
                                  <p:stCondLst>
                                    <p:cond delay="0"/>
                                  </p:stCondLst>
                                  <p:childTnLst>
                                    <p:set>
                                      <p:cBhvr>
                                        <p:cTn id="14" dur="1" fill="hold">
                                          <p:stCondLst>
                                            <p:cond delay="0"/>
                                          </p:stCondLst>
                                        </p:cTn>
                                        <p:tgtEl>
                                          <p:spTgt spid="215043">
                                            <p:txEl>
                                              <p:pRg st="2" end="2"/>
                                            </p:txEl>
                                          </p:spTgt>
                                        </p:tgtEl>
                                        <p:attrNameLst>
                                          <p:attrName>style.visibility</p:attrName>
                                        </p:attrNameLst>
                                      </p:cBhvr>
                                      <p:to>
                                        <p:strVal val="visible"/>
                                      </p:to>
                                    </p:set>
                                    <p:anim calcmode="lin" valueType="num">
                                      <p:cBhvr additive="base">
                                        <p:cTn id="15" dur="3000" fill="hold"/>
                                        <p:tgtEl>
                                          <p:spTgt spid="215043">
                                            <p:txEl>
                                              <p:pRg st="2" end="2"/>
                                            </p:txEl>
                                          </p:spTgt>
                                        </p:tgtEl>
                                        <p:attrNameLst>
                                          <p:attrName>ppt_x</p:attrName>
                                        </p:attrNameLst>
                                      </p:cBhvr>
                                      <p:tavLst>
                                        <p:tav tm="0">
                                          <p:val>
                                            <p:strVal val="#ppt_x"/>
                                          </p:val>
                                        </p:tav>
                                        <p:tav tm="100000">
                                          <p:val>
                                            <p:strVal val="#ppt_x"/>
                                          </p:val>
                                        </p:tav>
                                      </p:tavLst>
                                    </p:anim>
                                    <p:anim calcmode="lin" valueType="num">
                                      <p:cBhvr additive="base">
                                        <p:cTn id="16" dur="3000" fill="hold"/>
                                        <p:tgtEl>
                                          <p:spTgt spid="21504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accel="50000" decel="50000" fill="hold" grpId="0" nodeType="withEffect">
                                  <p:stCondLst>
                                    <p:cond delay="0"/>
                                  </p:stCondLst>
                                  <p:childTnLst>
                                    <p:set>
                                      <p:cBhvr>
                                        <p:cTn id="18" dur="1" fill="hold">
                                          <p:stCondLst>
                                            <p:cond delay="0"/>
                                          </p:stCondLst>
                                        </p:cTn>
                                        <p:tgtEl>
                                          <p:spTgt spid="215043">
                                            <p:txEl>
                                              <p:pRg st="3" end="3"/>
                                            </p:txEl>
                                          </p:spTgt>
                                        </p:tgtEl>
                                        <p:attrNameLst>
                                          <p:attrName>style.visibility</p:attrName>
                                        </p:attrNameLst>
                                      </p:cBhvr>
                                      <p:to>
                                        <p:strVal val="visible"/>
                                      </p:to>
                                    </p:set>
                                    <p:anim calcmode="lin" valueType="num">
                                      <p:cBhvr additive="base">
                                        <p:cTn id="19" dur="3000" fill="hold"/>
                                        <p:tgtEl>
                                          <p:spTgt spid="215043">
                                            <p:txEl>
                                              <p:pRg st="3" end="3"/>
                                            </p:txEl>
                                          </p:spTgt>
                                        </p:tgtEl>
                                        <p:attrNameLst>
                                          <p:attrName>ppt_x</p:attrName>
                                        </p:attrNameLst>
                                      </p:cBhvr>
                                      <p:tavLst>
                                        <p:tav tm="0">
                                          <p:val>
                                            <p:strVal val="#ppt_x"/>
                                          </p:val>
                                        </p:tav>
                                        <p:tav tm="100000">
                                          <p:val>
                                            <p:strVal val="#ppt_x"/>
                                          </p:val>
                                        </p:tav>
                                      </p:tavLst>
                                    </p:anim>
                                    <p:anim calcmode="lin" valueType="num">
                                      <p:cBhvr additive="base">
                                        <p:cTn id="20" dur="3000" fill="hold"/>
                                        <p:tgtEl>
                                          <p:spTgt spid="21504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accel="50000" decel="50000" fill="hold" grpId="0" nodeType="withEffect">
                                  <p:stCondLst>
                                    <p:cond delay="0"/>
                                  </p:stCondLst>
                                  <p:childTnLst>
                                    <p:set>
                                      <p:cBhvr>
                                        <p:cTn id="22" dur="1" fill="hold">
                                          <p:stCondLst>
                                            <p:cond delay="0"/>
                                          </p:stCondLst>
                                        </p:cTn>
                                        <p:tgtEl>
                                          <p:spTgt spid="215043">
                                            <p:txEl>
                                              <p:pRg st="4" end="4"/>
                                            </p:txEl>
                                          </p:spTgt>
                                        </p:tgtEl>
                                        <p:attrNameLst>
                                          <p:attrName>style.visibility</p:attrName>
                                        </p:attrNameLst>
                                      </p:cBhvr>
                                      <p:to>
                                        <p:strVal val="visible"/>
                                      </p:to>
                                    </p:set>
                                    <p:anim calcmode="lin" valueType="num">
                                      <p:cBhvr additive="base">
                                        <p:cTn id="23" dur="3000" fill="hold"/>
                                        <p:tgtEl>
                                          <p:spTgt spid="215043">
                                            <p:txEl>
                                              <p:pRg st="4" end="4"/>
                                            </p:txEl>
                                          </p:spTgt>
                                        </p:tgtEl>
                                        <p:attrNameLst>
                                          <p:attrName>ppt_x</p:attrName>
                                        </p:attrNameLst>
                                      </p:cBhvr>
                                      <p:tavLst>
                                        <p:tav tm="0">
                                          <p:val>
                                            <p:strVal val="#ppt_x"/>
                                          </p:val>
                                        </p:tav>
                                        <p:tav tm="100000">
                                          <p:val>
                                            <p:strVal val="#ppt_x"/>
                                          </p:val>
                                        </p:tav>
                                      </p:tavLst>
                                    </p:anim>
                                    <p:anim calcmode="lin" valueType="num">
                                      <p:cBhvr additive="base">
                                        <p:cTn id="24" dur="3000" fill="hold"/>
                                        <p:tgtEl>
                                          <p:spTgt spid="21504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accel="50000" decel="50000" fill="hold" grpId="0" nodeType="withEffect">
                                  <p:stCondLst>
                                    <p:cond delay="0"/>
                                  </p:stCondLst>
                                  <p:childTnLst>
                                    <p:set>
                                      <p:cBhvr>
                                        <p:cTn id="26" dur="1" fill="hold">
                                          <p:stCondLst>
                                            <p:cond delay="0"/>
                                          </p:stCondLst>
                                        </p:cTn>
                                        <p:tgtEl>
                                          <p:spTgt spid="215043">
                                            <p:txEl>
                                              <p:pRg st="5" end="5"/>
                                            </p:txEl>
                                          </p:spTgt>
                                        </p:tgtEl>
                                        <p:attrNameLst>
                                          <p:attrName>style.visibility</p:attrName>
                                        </p:attrNameLst>
                                      </p:cBhvr>
                                      <p:to>
                                        <p:strVal val="visible"/>
                                      </p:to>
                                    </p:set>
                                    <p:anim calcmode="lin" valueType="num">
                                      <p:cBhvr additive="base">
                                        <p:cTn id="27" dur="3000" fill="hold"/>
                                        <p:tgtEl>
                                          <p:spTgt spid="215043">
                                            <p:txEl>
                                              <p:pRg st="5" end="5"/>
                                            </p:txEl>
                                          </p:spTgt>
                                        </p:tgtEl>
                                        <p:attrNameLst>
                                          <p:attrName>ppt_x</p:attrName>
                                        </p:attrNameLst>
                                      </p:cBhvr>
                                      <p:tavLst>
                                        <p:tav tm="0">
                                          <p:val>
                                            <p:strVal val="#ppt_x"/>
                                          </p:val>
                                        </p:tav>
                                        <p:tav tm="100000">
                                          <p:val>
                                            <p:strVal val="#ppt_x"/>
                                          </p:val>
                                        </p:tav>
                                      </p:tavLst>
                                    </p:anim>
                                    <p:anim calcmode="lin" valueType="num">
                                      <p:cBhvr additive="base">
                                        <p:cTn id="28" dur="3000" fill="hold"/>
                                        <p:tgtEl>
                                          <p:spTgt spid="21504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accel="50000" decel="50000" fill="hold" grpId="0" nodeType="withEffect">
                                  <p:stCondLst>
                                    <p:cond delay="0"/>
                                  </p:stCondLst>
                                  <p:childTnLst>
                                    <p:set>
                                      <p:cBhvr>
                                        <p:cTn id="30" dur="1" fill="hold">
                                          <p:stCondLst>
                                            <p:cond delay="0"/>
                                          </p:stCondLst>
                                        </p:cTn>
                                        <p:tgtEl>
                                          <p:spTgt spid="215043">
                                            <p:txEl>
                                              <p:pRg st="6" end="6"/>
                                            </p:txEl>
                                          </p:spTgt>
                                        </p:tgtEl>
                                        <p:attrNameLst>
                                          <p:attrName>style.visibility</p:attrName>
                                        </p:attrNameLst>
                                      </p:cBhvr>
                                      <p:to>
                                        <p:strVal val="visible"/>
                                      </p:to>
                                    </p:set>
                                    <p:anim calcmode="lin" valueType="num">
                                      <p:cBhvr additive="base">
                                        <p:cTn id="31" dur="3000" fill="hold"/>
                                        <p:tgtEl>
                                          <p:spTgt spid="215043">
                                            <p:txEl>
                                              <p:pRg st="6" end="6"/>
                                            </p:txEl>
                                          </p:spTgt>
                                        </p:tgtEl>
                                        <p:attrNameLst>
                                          <p:attrName>ppt_x</p:attrName>
                                        </p:attrNameLst>
                                      </p:cBhvr>
                                      <p:tavLst>
                                        <p:tav tm="0">
                                          <p:val>
                                            <p:strVal val="#ppt_x"/>
                                          </p:val>
                                        </p:tav>
                                        <p:tav tm="100000">
                                          <p:val>
                                            <p:strVal val="#ppt_x"/>
                                          </p:val>
                                        </p:tav>
                                      </p:tavLst>
                                    </p:anim>
                                    <p:anim calcmode="lin" valueType="num">
                                      <p:cBhvr additive="base">
                                        <p:cTn id="32" dur="3000" fill="hold"/>
                                        <p:tgtEl>
                                          <p:spTgt spid="21504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ounded Rectangle 12">
            <a:extLst>
              <a:ext uri="{FF2B5EF4-FFF2-40B4-BE49-F238E27FC236}">
                <a16:creationId xmlns:a16="http://schemas.microsoft.com/office/drawing/2014/main" id="{8EF6A9B4-E14A-184F-B417-7BD44C9EEE5A}"/>
              </a:ext>
            </a:extLst>
          </p:cNvPr>
          <p:cNvSpPr/>
          <p:nvPr/>
        </p:nvSpPr>
        <p:spPr>
          <a:xfrm>
            <a:off x="336557" y="1179528"/>
            <a:ext cx="3140236" cy="3065432"/>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marL="11113" lvl="2" indent="-11113">
              <a:lnSpc>
                <a:spcPct val="100000"/>
              </a:lnSpc>
            </a:pPr>
            <a:r>
              <a:rPr lang="en-US" dirty="0">
                <a:solidFill>
                  <a:srgbClr val="595959"/>
                </a:solidFill>
                <a:latin typeface="Arial"/>
                <a:cs typeface="Arial"/>
              </a:rPr>
              <a:t>Cybersecurity outcomes and informative references</a:t>
            </a:r>
          </a:p>
          <a:p>
            <a:pPr marL="11113" lvl="2">
              <a:lnSpc>
                <a:spcPct val="100000"/>
              </a:lnSpc>
            </a:pPr>
            <a:endParaRPr lang="en-US" dirty="0">
              <a:solidFill>
                <a:srgbClr val="595959"/>
              </a:solidFill>
              <a:latin typeface="Arial"/>
              <a:cs typeface="Arial"/>
            </a:endParaRPr>
          </a:p>
          <a:p>
            <a:pPr marL="11113" lvl="2" defTabSz="906463">
              <a:lnSpc>
                <a:spcPct val="100000"/>
              </a:lnSpc>
            </a:pPr>
            <a:r>
              <a:rPr lang="en-US" dirty="0">
                <a:solidFill>
                  <a:srgbClr val="595959"/>
                </a:solidFill>
                <a:latin typeface="Arial"/>
                <a:cs typeface="Arial"/>
              </a:rPr>
              <a:t>Enables</a:t>
            </a:r>
          </a:p>
          <a:p>
            <a:pPr marL="11113" lvl="2" defTabSz="906463">
              <a:lnSpc>
                <a:spcPct val="100000"/>
              </a:lnSpc>
            </a:pPr>
            <a:r>
              <a:rPr lang="en-US" dirty="0">
                <a:solidFill>
                  <a:srgbClr val="595959"/>
                </a:solidFill>
                <a:latin typeface="Arial"/>
                <a:cs typeface="Arial"/>
              </a:rPr>
              <a:t>communication</a:t>
            </a:r>
          </a:p>
          <a:p>
            <a:pPr marL="11113" lvl="2" defTabSz="906463">
              <a:lnSpc>
                <a:spcPct val="100000"/>
              </a:lnSpc>
            </a:pPr>
            <a:r>
              <a:rPr lang="en-US" dirty="0">
                <a:solidFill>
                  <a:srgbClr val="595959"/>
                </a:solidFill>
                <a:latin typeface="Arial"/>
                <a:cs typeface="Arial"/>
              </a:rPr>
              <a:t>of cyber risk across</a:t>
            </a:r>
          </a:p>
          <a:p>
            <a:pPr marL="11113" lvl="2" defTabSz="906463">
              <a:lnSpc>
                <a:spcPct val="100000"/>
              </a:lnSpc>
            </a:pPr>
            <a:r>
              <a:rPr lang="en-US" dirty="0">
                <a:solidFill>
                  <a:srgbClr val="595959"/>
                </a:solidFill>
                <a:latin typeface="Arial"/>
                <a:cs typeface="Arial"/>
              </a:rPr>
              <a:t>an organization </a:t>
            </a:r>
          </a:p>
        </p:txBody>
      </p:sp>
      <p:sp>
        <p:nvSpPr>
          <p:cNvPr id="14" name="Rounded Rectangle 13">
            <a:extLst>
              <a:ext uri="{FF2B5EF4-FFF2-40B4-BE49-F238E27FC236}">
                <a16:creationId xmlns:a16="http://schemas.microsoft.com/office/drawing/2014/main" id="{F6632254-6A4A-ED44-9DE4-B6F02DC1DE09}"/>
              </a:ext>
            </a:extLst>
          </p:cNvPr>
          <p:cNvSpPr/>
          <p:nvPr/>
        </p:nvSpPr>
        <p:spPr>
          <a:xfrm>
            <a:off x="5931779" y="1179528"/>
            <a:ext cx="3136392" cy="3065432"/>
          </a:xfrm>
          <a:prstGeom prst="roundRect">
            <a:avLst/>
          </a:prstGeom>
        </p:spPr>
        <p:style>
          <a:lnRef idx="1">
            <a:schemeClr val="accent5"/>
          </a:lnRef>
          <a:fillRef idx="2">
            <a:schemeClr val="accent5"/>
          </a:fillRef>
          <a:effectRef idx="1">
            <a:schemeClr val="accent5"/>
          </a:effectRef>
          <a:fontRef idx="minor">
            <a:schemeClr val="dk1"/>
          </a:fontRef>
        </p:style>
        <p:txBody>
          <a:bodyPr rtlCol="0" anchor="t"/>
          <a:lstStyle/>
          <a:p>
            <a:pPr marL="168275" lvl="2" algn="r">
              <a:lnSpc>
                <a:spcPct val="100000"/>
              </a:lnSpc>
            </a:pPr>
            <a:r>
              <a:rPr lang="en-US" dirty="0">
                <a:solidFill>
                  <a:srgbClr val="595959"/>
                </a:solidFill>
                <a:latin typeface="Arial"/>
                <a:cs typeface="Arial"/>
              </a:rPr>
              <a:t>Four tiers describing how cybersecurity risk is managed by an organization and</a:t>
            </a:r>
          </a:p>
          <a:p>
            <a:pPr marL="168275" lvl="2" algn="r">
              <a:lnSpc>
                <a:spcPct val="100000"/>
              </a:lnSpc>
            </a:pPr>
            <a:r>
              <a:rPr lang="en-US" dirty="0">
                <a:solidFill>
                  <a:srgbClr val="595959"/>
                </a:solidFill>
                <a:latin typeface="Arial"/>
                <a:cs typeface="Arial"/>
              </a:rPr>
              <a:t>degree the risk management</a:t>
            </a:r>
          </a:p>
          <a:p>
            <a:pPr marL="168275" lvl="2" algn="r">
              <a:lnSpc>
                <a:spcPct val="100000"/>
              </a:lnSpc>
            </a:pPr>
            <a:r>
              <a:rPr lang="en-US" dirty="0">
                <a:solidFill>
                  <a:srgbClr val="595959"/>
                </a:solidFill>
                <a:latin typeface="Arial"/>
                <a:cs typeface="Arial"/>
              </a:rPr>
              <a:t>practices</a:t>
            </a:r>
          </a:p>
          <a:p>
            <a:pPr marL="168275" lvl="2" algn="r">
              <a:lnSpc>
                <a:spcPct val="100000"/>
              </a:lnSpc>
            </a:pPr>
            <a:r>
              <a:rPr lang="en-US" dirty="0">
                <a:solidFill>
                  <a:srgbClr val="595959"/>
                </a:solidFill>
                <a:latin typeface="Arial"/>
                <a:cs typeface="Arial"/>
              </a:rPr>
              <a:t>exhibit key characteristics</a:t>
            </a:r>
          </a:p>
        </p:txBody>
      </p:sp>
      <p:sp>
        <p:nvSpPr>
          <p:cNvPr id="6" name="Title 5"/>
          <p:cNvSpPr>
            <a:spLocks noGrp="1"/>
          </p:cNvSpPr>
          <p:nvPr>
            <p:ph type="title"/>
          </p:nvPr>
        </p:nvSpPr>
        <p:spPr>
          <a:xfrm>
            <a:off x="269668" y="228600"/>
            <a:ext cx="8458200" cy="762000"/>
          </a:xfrm>
          <a:noFill/>
          <a:ln>
            <a:noFill/>
          </a:ln>
        </p:spPr>
        <p:txBody>
          <a:bodyPr wrap="square" lIns="0" tIns="18000" rIns="0" bIns="18000" anchor="ctr" anchorCtr="0">
            <a:spAutoFit/>
          </a:bodyPr>
          <a:lstStyle/>
          <a:p>
            <a:r>
              <a:rPr lang="en-US" sz="3600" dirty="0">
                <a:latin typeface="+mj-lt"/>
              </a:rPr>
              <a:t>Cybersecurity Framework</a:t>
            </a:r>
          </a:p>
        </p:txBody>
      </p:sp>
      <p:sp>
        <p:nvSpPr>
          <p:cNvPr id="9" name="Rounded Rectangle 8"/>
          <p:cNvSpPr/>
          <p:nvPr/>
        </p:nvSpPr>
        <p:spPr>
          <a:xfrm>
            <a:off x="1468755" y="4872037"/>
            <a:ext cx="6252210" cy="1894523"/>
          </a:xfrm>
          <a:prstGeom prst="roundRect">
            <a:avLst/>
          </a:prstGeom>
        </p:spPr>
        <p:style>
          <a:lnRef idx="1">
            <a:schemeClr val="accent3"/>
          </a:lnRef>
          <a:fillRef idx="2">
            <a:schemeClr val="accent3"/>
          </a:fillRef>
          <a:effectRef idx="1">
            <a:schemeClr val="accent3"/>
          </a:effectRef>
          <a:fontRef idx="minor">
            <a:schemeClr val="dk1"/>
          </a:fontRef>
        </p:style>
        <p:txBody>
          <a:bodyPr rtlCol="0" anchor="b"/>
          <a:lstStyle/>
          <a:p>
            <a:pPr marL="55563" lvl="2" algn="ctr">
              <a:lnSpc>
                <a:spcPct val="100000"/>
              </a:lnSpc>
            </a:pPr>
            <a:r>
              <a:rPr lang="en-US" dirty="0">
                <a:solidFill>
                  <a:srgbClr val="595959"/>
                </a:solidFill>
                <a:latin typeface="Arial"/>
                <a:cs typeface="Arial"/>
              </a:rPr>
              <a:t>Aligns industry standards and best practices to the Framework Core in an implementation scenario</a:t>
            </a:r>
          </a:p>
          <a:p>
            <a:pPr marL="0" lvl="2" algn="ctr" defTabSz="906463">
              <a:lnSpc>
                <a:spcPct val="100000"/>
              </a:lnSpc>
            </a:pPr>
            <a:r>
              <a:rPr lang="en-US" dirty="0">
                <a:solidFill>
                  <a:srgbClr val="595959"/>
                </a:solidFill>
                <a:latin typeface="Arial"/>
                <a:cs typeface="Arial"/>
              </a:rPr>
              <a:t>Supports prioritization and measurement while factoring in business needs</a:t>
            </a:r>
          </a:p>
        </p:txBody>
      </p:sp>
      <p:sp>
        <p:nvSpPr>
          <p:cNvPr id="12" name="Slide Number Placeholder 4"/>
          <p:cNvSpPr>
            <a:spLocks noGrp="1"/>
          </p:cNvSpPr>
          <p:nvPr>
            <p:ph type="sldNum" sz="quarter" idx="12"/>
          </p:nvPr>
        </p:nvSpPr>
        <p:spPr>
          <a:xfrm>
            <a:off x="6553200" y="6356351"/>
            <a:ext cx="2133600" cy="365125"/>
          </a:xfrm>
        </p:spPr>
        <p:txBody>
          <a:bodyPr/>
          <a:lstStyle/>
          <a:p>
            <a:pPr defTabSz="914400"/>
            <a:fld id="{C90B5FB4-1AE6-4CC4-B374-7CA8E5916470}" type="slidenum">
              <a:rPr lang="en-US" smtClean="0">
                <a:solidFill>
                  <a:prstClr val="black">
                    <a:tint val="75000"/>
                  </a:prstClr>
                </a:solidFill>
              </a:rPr>
              <a:pPr defTabSz="914400"/>
              <a:t>19</a:t>
            </a:fld>
            <a:endParaRPr lang="en-US" dirty="0">
              <a:solidFill>
                <a:prstClr val="black">
                  <a:tint val="75000"/>
                </a:prstClr>
              </a:solidFill>
            </a:endParaRPr>
          </a:p>
        </p:txBody>
      </p:sp>
      <p:pic>
        <p:nvPicPr>
          <p:cNvPr id="3" name="Picture 2">
            <a:extLst>
              <a:ext uri="{FF2B5EF4-FFF2-40B4-BE49-F238E27FC236}">
                <a16:creationId xmlns:a16="http://schemas.microsoft.com/office/drawing/2014/main" id="{32AE96D8-03AB-A641-8F87-3AEAEDCD6E50}"/>
              </a:ext>
            </a:extLst>
          </p:cNvPr>
          <p:cNvPicPr>
            <a:picLocks noChangeAspect="1"/>
          </p:cNvPicPr>
          <p:nvPr/>
        </p:nvPicPr>
        <p:blipFill>
          <a:blip r:embed="rId3"/>
          <a:stretch>
            <a:fillRect/>
          </a:stretch>
        </p:blipFill>
        <p:spPr>
          <a:xfrm>
            <a:off x="1727578" y="1223834"/>
            <a:ext cx="5972432" cy="4603750"/>
          </a:xfrm>
          <a:prstGeom prst="rect">
            <a:avLst/>
          </a:prstGeom>
        </p:spPr>
      </p:pic>
      <p:sp>
        <p:nvSpPr>
          <p:cNvPr id="10" name="TextBox 9">
            <a:extLst>
              <a:ext uri="{FF2B5EF4-FFF2-40B4-BE49-F238E27FC236}">
                <a16:creationId xmlns:a16="http://schemas.microsoft.com/office/drawing/2014/main" id="{8EEBA05C-DA30-4EE7-9B4A-F491307EE6F1}"/>
              </a:ext>
            </a:extLst>
          </p:cNvPr>
          <p:cNvSpPr txBox="1"/>
          <p:nvPr/>
        </p:nvSpPr>
        <p:spPr>
          <a:xfrm>
            <a:off x="6732240" y="4229139"/>
            <a:ext cx="2232248" cy="461665"/>
          </a:xfrm>
          <a:prstGeom prst="rect">
            <a:avLst/>
          </a:prstGeom>
          <a:noFill/>
        </p:spPr>
        <p:txBody>
          <a:bodyPr wrap="square" rtlCol="0">
            <a:spAutoFit/>
          </a:bodyPr>
          <a:lstStyle/>
          <a:p>
            <a:r>
              <a:rPr lang="en-US" sz="1200" dirty="0"/>
              <a:t>Some similarity to Capability Maturity Model (CMM)</a:t>
            </a:r>
          </a:p>
        </p:txBody>
      </p:sp>
      <p:sp>
        <p:nvSpPr>
          <p:cNvPr id="2" name="TextBox 1">
            <a:extLst>
              <a:ext uri="{FF2B5EF4-FFF2-40B4-BE49-F238E27FC236}">
                <a16:creationId xmlns:a16="http://schemas.microsoft.com/office/drawing/2014/main" id="{AEA7DBBF-81B4-CD50-F012-CB2900A07302}"/>
              </a:ext>
            </a:extLst>
          </p:cNvPr>
          <p:cNvSpPr txBox="1"/>
          <p:nvPr/>
        </p:nvSpPr>
        <p:spPr>
          <a:xfrm>
            <a:off x="7907277" y="6146884"/>
            <a:ext cx="617477" cy="338554"/>
          </a:xfrm>
          <a:prstGeom prst="rect">
            <a:avLst/>
          </a:prstGeom>
          <a:noFill/>
        </p:spPr>
        <p:txBody>
          <a:bodyPr wrap="none" rtlCol="0">
            <a:spAutoFit/>
          </a:bodyPr>
          <a:lstStyle/>
          <a:p>
            <a:r>
              <a:rPr lang="en-US" sz="1600" dirty="0"/>
              <a:t>SJW</a:t>
            </a:r>
          </a:p>
        </p:txBody>
      </p:sp>
      <p:sp>
        <p:nvSpPr>
          <p:cNvPr id="4" name="TextBox 3">
            <a:extLst>
              <a:ext uri="{FF2B5EF4-FFF2-40B4-BE49-F238E27FC236}">
                <a16:creationId xmlns:a16="http://schemas.microsoft.com/office/drawing/2014/main" id="{6B4033DE-AEFE-8A42-212D-DF608F73B602}"/>
              </a:ext>
            </a:extLst>
          </p:cNvPr>
          <p:cNvSpPr txBox="1"/>
          <p:nvPr/>
        </p:nvSpPr>
        <p:spPr>
          <a:xfrm>
            <a:off x="6667659" y="2650437"/>
            <a:ext cx="1497526" cy="2246769"/>
          </a:xfrm>
          <a:prstGeom prst="rect">
            <a:avLst/>
          </a:prstGeom>
          <a:noFill/>
        </p:spPr>
        <p:txBody>
          <a:bodyPr wrap="none" rtlCol="0">
            <a:spAutoFit/>
          </a:bodyPr>
          <a:lstStyle/>
          <a:p>
            <a:r>
              <a:rPr lang="en-US" dirty="0"/>
              <a:t>Tiers:</a:t>
            </a:r>
          </a:p>
          <a:p>
            <a:r>
              <a:rPr lang="en-US" dirty="0"/>
              <a:t>1: Partial</a:t>
            </a:r>
          </a:p>
          <a:p>
            <a:r>
              <a:rPr lang="en-US" dirty="0"/>
              <a:t>2: Risk-Informed</a:t>
            </a:r>
          </a:p>
          <a:p>
            <a:r>
              <a:rPr lang="en-US" dirty="0"/>
              <a:t>3: Repeatable</a:t>
            </a:r>
          </a:p>
          <a:p>
            <a:r>
              <a:rPr lang="en-US" dirty="0"/>
              <a:t>4:Adaptive</a:t>
            </a:r>
          </a:p>
          <a:p>
            <a:endParaRPr lang="en-US" dirty="0"/>
          </a:p>
          <a:p>
            <a:r>
              <a:rPr lang="en-US" dirty="0"/>
              <a:t>See slide notes</a:t>
            </a:r>
          </a:p>
          <a:p>
            <a:endParaRPr lang="en-US" dirty="0"/>
          </a:p>
          <a:p>
            <a:endParaRPr lang="en-US" dirty="0"/>
          </a:p>
          <a:p>
            <a:endParaRPr lang="en-US" dirty="0"/>
          </a:p>
        </p:txBody>
      </p:sp>
    </p:spTree>
    <p:extLst>
      <p:ext uri="{BB962C8B-B14F-4D97-AF65-F5344CB8AC3E}">
        <p14:creationId xmlns:p14="http://schemas.microsoft.com/office/powerpoint/2010/main" val="1802439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19815-A479-4FAF-A7BC-88BFA6A3A107}"/>
              </a:ext>
            </a:extLst>
          </p:cNvPr>
          <p:cNvSpPr>
            <a:spLocks noGrp="1"/>
          </p:cNvSpPr>
          <p:nvPr>
            <p:ph type="title"/>
          </p:nvPr>
        </p:nvSpPr>
        <p:spPr>
          <a:noFill/>
          <a:ln>
            <a:noFill/>
          </a:ln>
        </p:spPr>
        <p:txBody>
          <a:bodyPr wrap="square" lIns="0" tIns="18000" rIns="0" bIns="18000" anchor="ctr" anchorCtr="0">
            <a:spAutoFit/>
          </a:bodyPr>
          <a:lstStyle/>
          <a:p>
            <a:r>
              <a:rPr lang="en-US" sz="3600" dirty="0">
                <a:latin typeface="+mj-lt"/>
              </a:rPr>
              <a:t>Systems Development Life Cycle (SDLC) </a:t>
            </a:r>
          </a:p>
        </p:txBody>
      </p:sp>
      <p:pic>
        <p:nvPicPr>
          <p:cNvPr id="5" name="Picture 4">
            <a:extLst>
              <a:ext uri="{FF2B5EF4-FFF2-40B4-BE49-F238E27FC236}">
                <a16:creationId xmlns:a16="http://schemas.microsoft.com/office/drawing/2014/main" id="{EE38714B-331F-4B0B-AC3C-ED4671F11189}"/>
              </a:ext>
            </a:extLst>
          </p:cNvPr>
          <p:cNvPicPr>
            <a:picLocks noChangeAspect="1"/>
          </p:cNvPicPr>
          <p:nvPr/>
        </p:nvPicPr>
        <p:blipFill>
          <a:blip r:embed="rId2"/>
          <a:stretch>
            <a:fillRect/>
          </a:stretch>
        </p:blipFill>
        <p:spPr>
          <a:xfrm>
            <a:off x="2043391" y="1772816"/>
            <a:ext cx="5057217" cy="4601190"/>
          </a:xfrm>
          <a:prstGeom prst="rect">
            <a:avLst/>
          </a:prstGeom>
        </p:spPr>
      </p:pic>
      <p:sp>
        <p:nvSpPr>
          <p:cNvPr id="3" name="TextBox 2">
            <a:extLst>
              <a:ext uri="{FF2B5EF4-FFF2-40B4-BE49-F238E27FC236}">
                <a16:creationId xmlns:a16="http://schemas.microsoft.com/office/drawing/2014/main" id="{5B0F38C9-D91A-4FCD-BA9F-08BCECA16E9F}"/>
              </a:ext>
            </a:extLst>
          </p:cNvPr>
          <p:cNvSpPr txBox="1"/>
          <p:nvPr/>
        </p:nvSpPr>
        <p:spPr>
          <a:xfrm>
            <a:off x="7380312" y="2420888"/>
            <a:ext cx="1656185" cy="1754326"/>
          </a:xfrm>
          <a:prstGeom prst="rect">
            <a:avLst/>
          </a:prstGeom>
          <a:noFill/>
        </p:spPr>
        <p:txBody>
          <a:bodyPr wrap="square" rtlCol="0">
            <a:spAutoFit/>
          </a:bodyPr>
          <a:lstStyle/>
          <a:p>
            <a:r>
              <a:rPr lang="en-US" dirty="0"/>
              <a:t>The SDLC must incorporate information security considerations</a:t>
            </a:r>
          </a:p>
        </p:txBody>
      </p:sp>
      <p:sp>
        <p:nvSpPr>
          <p:cNvPr id="4" name="TextBox 3">
            <a:extLst>
              <a:ext uri="{FF2B5EF4-FFF2-40B4-BE49-F238E27FC236}">
                <a16:creationId xmlns:a16="http://schemas.microsoft.com/office/drawing/2014/main" id="{F98D488C-70EC-2540-B34F-EEAB18E8DBEC}"/>
              </a:ext>
            </a:extLst>
          </p:cNvPr>
          <p:cNvSpPr txBox="1"/>
          <p:nvPr/>
        </p:nvSpPr>
        <p:spPr>
          <a:xfrm>
            <a:off x="7907277" y="6146884"/>
            <a:ext cx="617477" cy="338554"/>
          </a:xfrm>
          <a:prstGeom prst="rect">
            <a:avLst/>
          </a:prstGeom>
          <a:noFill/>
        </p:spPr>
        <p:txBody>
          <a:bodyPr wrap="none" rtlCol="0">
            <a:spAutoFit/>
          </a:bodyPr>
          <a:lstStyle/>
          <a:p>
            <a:r>
              <a:rPr lang="en-US" sz="1600" dirty="0"/>
              <a:t>SJW</a:t>
            </a:r>
          </a:p>
        </p:txBody>
      </p:sp>
      <p:sp>
        <p:nvSpPr>
          <p:cNvPr id="6" name="Slide Number Placeholder 5">
            <a:extLst>
              <a:ext uri="{FF2B5EF4-FFF2-40B4-BE49-F238E27FC236}">
                <a16:creationId xmlns:a16="http://schemas.microsoft.com/office/drawing/2014/main" id="{887EE527-D03E-CF10-3B04-0453B0578966}"/>
              </a:ext>
            </a:extLst>
          </p:cNvPr>
          <p:cNvSpPr>
            <a:spLocks noGrp="1"/>
          </p:cNvSpPr>
          <p:nvPr>
            <p:ph type="sldNum" sz="quarter" idx="12"/>
          </p:nvPr>
        </p:nvSpPr>
        <p:spPr/>
        <p:txBody>
          <a:bodyPr/>
          <a:lstStyle/>
          <a:p>
            <a:fld id="{5F36C9FC-DA22-1F47-8722-58727A1D436E}" type="slidenum">
              <a:rPr lang="en-US" smtClean="0"/>
              <a:pPr/>
              <a:t>20</a:t>
            </a:fld>
            <a:endParaRPr lang="en-US" dirty="0"/>
          </a:p>
        </p:txBody>
      </p:sp>
    </p:spTree>
    <p:extLst>
      <p:ext uri="{BB962C8B-B14F-4D97-AF65-F5344CB8AC3E}">
        <p14:creationId xmlns:p14="http://schemas.microsoft.com/office/powerpoint/2010/main" val="14835008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B5CC0A-09AB-6554-B823-BF5F16A7B44B}"/>
              </a:ext>
            </a:extLst>
          </p:cNvPr>
          <p:cNvSpPr>
            <a:spLocks noGrp="1"/>
          </p:cNvSpPr>
          <p:nvPr>
            <p:ph type="title"/>
          </p:nvPr>
        </p:nvSpPr>
        <p:spPr>
          <a:xfrm>
            <a:off x="438538" y="160926"/>
            <a:ext cx="8262550" cy="590349"/>
          </a:xfrm>
        </p:spPr>
        <p:txBody>
          <a:bodyPr wrap="square" lIns="0" tIns="18000" rIns="0" bIns="18000" anchor="ctr" anchorCtr="0">
            <a:spAutoFit/>
          </a:bodyPr>
          <a:lstStyle/>
          <a:p>
            <a:r>
              <a:rPr lang="en-US" sz="3600" dirty="0"/>
              <a:t>Table 1.2 </a:t>
            </a:r>
            <a:r>
              <a:rPr lang="en-US" sz="2800" dirty="0"/>
              <a:t>(1 of 2)</a:t>
            </a:r>
            <a:endParaRPr lang="en-US" dirty="0"/>
          </a:p>
        </p:txBody>
      </p:sp>
      <p:sp>
        <p:nvSpPr>
          <p:cNvPr id="5" name="Content Placeholder 4">
            <a:extLst>
              <a:ext uri="{FF2B5EF4-FFF2-40B4-BE49-F238E27FC236}">
                <a16:creationId xmlns:a16="http://schemas.microsoft.com/office/drawing/2014/main" id="{C908D160-6E9C-1973-CD1D-E5BE85825442}"/>
              </a:ext>
            </a:extLst>
          </p:cNvPr>
          <p:cNvSpPr>
            <a:spLocks noGrp="1"/>
          </p:cNvSpPr>
          <p:nvPr>
            <p:ph sz="quarter" idx="13"/>
          </p:nvPr>
        </p:nvSpPr>
        <p:spPr>
          <a:xfrm>
            <a:off x="438538" y="989221"/>
            <a:ext cx="8262550" cy="775015"/>
          </a:xfrm>
        </p:spPr>
        <p:txBody>
          <a:bodyPr wrap="square" lIns="0" tIns="18000" rIns="0" bIns="18000" anchor="ctr" anchorCtr="0">
            <a:spAutoFit/>
          </a:bodyPr>
          <a:lstStyle/>
          <a:p>
            <a:pPr marL="0" indent="0">
              <a:spcBef>
                <a:spcPts val="600"/>
              </a:spcBef>
              <a:buNone/>
            </a:pPr>
            <a:r>
              <a:rPr lang="en-US" dirty="0">
                <a:latin typeface="Arial" panose="020B0604020202020204" pitchFamily="34" charset="0"/>
                <a:cs typeface="Arial" panose="020B0604020202020204" pitchFamily="34" charset="0"/>
              </a:rPr>
              <a:t>Threat Consequences and the Types of Threat Actions that Cause Each Consequence</a:t>
            </a:r>
          </a:p>
        </p:txBody>
      </p:sp>
      <p:graphicFrame>
        <p:nvGraphicFramePr>
          <p:cNvPr id="2" name="Table 1">
            <a:extLst>
              <a:ext uri="{FF2B5EF4-FFF2-40B4-BE49-F238E27FC236}">
                <a16:creationId xmlns:a16="http://schemas.microsoft.com/office/drawing/2014/main" id="{425E8A3E-49A1-A6BD-FC8B-0D39869EE4CF}"/>
              </a:ext>
            </a:extLst>
          </p:cNvPr>
          <p:cNvGraphicFramePr>
            <a:graphicFrameLocks noGrp="1"/>
          </p:cNvGraphicFramePr>
          <p:nvPr>
            <p:extLst>
              <p:ext uri="{D42A27DB-BD31-4B8C-83A1-F6EECF244321}">
                <p14:modId xmlns:p14="http://schemas.microsoft.com/office/powerpoint/2010/main" val="3015584010"/>
              </p:ext>
            </p:extLst>
          </p:nvPr>
        </p:nvGraphicFramePr>
        <p:xfrm>
          <a:off x="505896" y="2010748"/>
          <a:ext cx="8141106" cy="3754120"/>
        </p:xfrm>
        <a:graphic>
          <a:graphicData uri="http://schemas.openxmlformats.org/drawingml/2006/table">
            <a:tbl>
              <a:tblPr firstRow="1" bandRow="1">
                <a:tableStyleId>{2D5ABB26-0587-4C30-8999-92F81FD0307C}</a:tableStyleId>
              </a:tblPr>
              <a:tblGrid>
                <a:gridCol w="2502822">
                  <a:extLst>
                    <a:ext uri="{9D8B030D-6E8A-4147-A177-3AD203B41FA5}">
                      <a16:colId xmlns:a16="http://schemas.microsoft.com/office/drawing/2014/main" val="1672273647"/>
                    </a:ext>
                  </a:extLst>
                </a:gridCol>
                <a:gridCol w="5638284">
                  <a:extLst>
                    <a:ext uri="{9D8B030D-6E8A-4147-A177-3AD203B41FA5}">
                      <a16:colId xmlns:a16="http://schemas.microsoft.com/office/drawing/2014/main" val="437245304"/>
                    </a:ext>
                  </a:extLst>
                </a:gridCol>
              </a:tblGrid>
              <a:tr h="370840">
                <a:tc>
                  <a:txBody>
                    <a:bodyPr/>
                    <a:lstStyle/>
                    <a:p>
                      <a:r>
                        <a:rPr lang="en-US" b="1" noProof="0" dirty="0">
                          <a:solidFill>
                            <a:schemeClr val="bg1"/>
                          </a:solidFill>
                          <a:latin typeface="Arial" panose="020B0604020202020204" pitchFamily="34" charset="0"/>
                          <a:cs typeface="Arial" panose="020B0604020202020204" pitchFamily="34" charset="0"/>
                        </a:rPr>
                        <a:t>Threat Consequence</a:t>
                      </a: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b="1" noProof="0" dirty="0">
                          <a:solidFill>
                            <a:schemeClr val="bg1"/>
                          </a:solidFill>
                          <a:latin typeface="Arial" panose="020B0604020202020204" pitchFamily="34" charset="0"/>
                          <a:cs typeface="Arial" panose="020B0604020202020204" pitchFamily="34" charset="0"/>
                        </a:rPr>
                        <a:t>Threat Action (Attack)</a:t>
                      </a: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536784669"/>
                  </a:ext>
                </a:extLst>
              </a:tr>
              <a:tr h="370840">
                <a:tc>
                  <a:txBody>
                    <a:bodyPr/>
                    <a:lstStyle/>
                    <a:p>
                      <a:r>
                        <a:rPr lang="en-US" b="1" dirty="0">
                          <a:latin typeface="Arial" panose="020B0604020202020204" pitchFamily="34" charset="0"/>
                          <a:cs typeface="Arial" panose="020B0604020202020204" pitchFamily="34" charset="0"/>
                        </a:rPr>
                        <a:t>Unauthorized Disclosure</a:t>
                      </a:r>
                    </a:p>
                    <a:p>
                      <a:r>
                        <a:rPr lang="en-US" dirty="0">
                          <a:latin typeface="Arial" panose="020B0604020202020204" pitchFamily="34" charset="0"/>
                          <a:cs typeface="Arial" panose="020B0604020202020204" pitchFamily="34" charset="0"/>
                        </a:rPr>
                        <a:t>A circumstance or event whereby an entity gains unauthorized access to data.</a:t>
                      </a:r>
                      <a:endParaRPr lang="en-IN" dirty="0">
                        <a:latin typeface="Arial" panose="020B0604020202020204" pitchFamily="34" charset="0"/>
                        <a:cs typeface="Arial" panose="020B0604020202020204" pitchFamily="34" charset="0"/>
                      </a:endParaRP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b="1" dirty="0">
                          <a:latin typeface="Arial" panose="020B0604020202020204" pitchFamily="34" charset="0"/>
                          <a:cs typeface="Arial" panose="020B0604020202020204" pitchFamily="34" charset="0"/>
                        </a:rPr>
                        <a:t>Exposure:</a:t>
                      </a:r>
                      <a:r>
                        <a:rPr lang="en-US" dirty="0">
                          <a:latin typeface="Arial" panose="020B0604020202020204" pitchFamily="34" charset="0"/>
                          <a:cs typeface="Arial" panose="020B0604020202020204" pitchFamily="34" charset="0"/>
                        </a:rPr>
                        <a:t> Sensitive data are directly released to an unauthorized entity. </a:t>
                      </a:r>
                    </a:p>
                    <a:p>
                      <a:r>
                        <a:rPr lang="en-US" b="1" dirty="0">
                          <a:latin typeface="Arial" panose="020B0604020202020204" pitchFamily="34" charset="0"/>
                          <a:cs typeface="Arial" panose="020B0604020202020204" pitchFamily="34" charset="0"/>
                        </a:rPr>
                        <a:t>Interception:</a:t>
                      </a:r>
                      <a:r>
                        <a:rPr lang="en-US" dirty="0">
                          <a:latin typeface="Arial" panose="020B0604020202020204" pitchFamily="34" charset="0"/>
                          <a:cs typeface="Arial" panose="020B0604020202020204" pitchFamily="34" charset="0"/>
                        </a:rPr>
                        <a:t> An unauthorized entity directly accesses sensitive data traveling between authorized sources and destinations. </a:t>
                      </a:r>
                    </a:p>
                    <a:p>
                      <a:r>
                        <a:rPr lang="en-US" b="1" dirty="0">
                          <a:latin typeface="Arial" panose="020B0604020202020204" pitchFamily="34" charset="0"/>
                          <a:cs typeface="Arial" panose="020B0604020202020204" pitchFamily="34" charset="0"/>
                        </a:rPr>
                        <a:t>Inference:</a:t>
                      </a:r>
                      <a:r>
                        <a:rPr lang="en-US" dirty="0">
                          <a:latin typeface="Arial" panose="020B0604020202020204" pitchFamily="34" charset="0"/>
                          <a:cs typeface="Arial" panose="020B0604020202020204" pitchFamily="34" charset="0"/>
                        </a:rPr>
                        <a:t> A threat action whereby an unauthorized entity indirectly accesses sensitive data (but not necessarily the data contained in the communication) by reasoning from characteristics or by-products of communications.</a:t>
                      </a:r>
                    </a:p>
                    <a:p>
                      <a:r>
                        <a:rPr lang="en-US" b="1" dirty="0">
                          <a:latin typeface="Arial" panose="020B0604020202020204" pitchFamily="34" charset="0"/>
                          <a:cs typeface="Arial" panose="020B0604020202020204" pitchFamily="34" charset="0"/>
                        </a:rPr>
                        <a:t>Intrusion:</a:t>
                      </a:r>
                      <a:r>
                        <a:rPr lang="en-US" dirty="0">
                          <a:latin typeface="Arial" panose="020B0604020202020204" pitchFamily="34" charset="0"/>
                          <a:cs typeface="Arial" panose="020B0604020202020204" pitchFamily="34" charset="0"/>
                        </a:rPr>
                        <a:t> An unauthorized entity gains access to sensitive data by circumventing a system’s security protections.</a:t>
                      </a:r>
                      <a:endParaRPr lang="en-IN" dirty="0">
                        <a:latin typeface="Arial" panose="020B0604020202020204" pitchFamily="34" charset="0"/>
                        <a:cs typeface="Arial" panose="020B0604020202020204" pitchFamily="34" charset="0"/>
                      </a:endParaRP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38096676"/>
                  </a:ext>
                </a:extLst>
              </a:tr>
              <a:tr h="370840">
                <a:tc>
                  <a:txBody>
                    <a:bodyPr/>
                    <a:lstStyle/>
                    <a:p>
                      <a:r>
                        <a:rPr lang="en-US" b="1" dirty="0">
                          <a:latin typeface="Arial" panose="020B0604020202020204" pitchFamily="34" charset="0"/>
                          <a:cs typeface="Arial" panose="020B0604020202020204" pitchFamily="34" charset="0"/>
                        </a:rPr>
                        <a:t>Deception</a:t>
                      </a:r>
                    </a:p>
                    <a:p>
                      <a:r>
                        <a:rPr lang="en-US" dirty="0">
                          <a:latin typeface="Arial" panose="020B0604020202020204" pitchFamily="34" charset="0"/>
                          <a:cs typeface="Arial" panose="020B0604020202020204" pitchFamily="34" charset="0"/>
                        </a:rPr>
                        <a:t>A circumstance or event that may result in an authorized entity receiving false data and believing it to be true.</a:t>
                      </a:r>
                      <a:endParaRPr lang="en-IN" dirty="0">
                        <a:latin typeface="Arial" panose="020B0604020202020204" pitchFamily="34" charset="0"/>
                        <a:cs typeface="Arial" panose="020B0604020202020204" pitchFamily="34" charset="0"/>
                      </a:endParaRP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b="1" dirty="0">
                          <a:latin typeface="Arial" panose="020B0604020202020204" pitchFamily="34" charset="0"/>
                          <a:cs typeface="Arial" panose="020B0604020202020204" pitchFamily="34" charset="0"/>
                        </a:rPr>
                        <a:t>Masquerade: </a:t>
                      </a:r>
                      <a:r>
                        <a:rPr lang="en-US" dirty="0">
                          <a:latin typeface="Arial" panose="020B0604020202020204" pitchFamily="34" charset="0"/>
                          <a:cs typeface="Arial" panose="020B0604020202020204" pitchFamily="34" charset="0"/>
                        </a:rPr>
                        <a:t>An unauthorized entity gains access to a system or performs a malicious act by posing as an authorized entity. </a:t>
                      </a:r>
                    </a:p>
                    <a:p>
                      <a:r>
                        <a:rPr lang="en-US" b="1" dirty="0">
                          <a:latin typeface="Arial" panose="020B0604020202020204" pitchFamily="34" charset="0"/>
                          <a:cs typeface="Arial" panose="020B0604020202020204" pitchFamily="34" charset="0"/>
                        </a:rPr>
                        <a:t>Falsification:</a:t>
                      </a:r>
                      <a:r>
                        <a:rPr lang="en-US" dirty="0">
                          <a:latin typeface="Arial" panose="020B0604020202020204" pitchFamily="34" charset="0"/>
                          <a:cs typeface="Arial" panose="020B0604020202020204" pitchFamily="34" charset="0"/>
                        </a:rPr>
                        <a:t> False data deceive an authorized entity. </a:t>
                      </a:r>
                    </a:p>
                    <a:p>
                      <a:r>
                        <a:rPr lang="en-US" b="1" dirty="0">
                          <a:latin typeface="Arial" panose="020B0604020202020204" pitchFamily="34" charset="0"/>
                          <a:cs typeface="Arial" panose="020B0604020202020204" pitchFamily="34" charset="0"/>
                        </a:rPr>
                        <a:t>Repudiation:</a:t>
                      </a:r>
                      <a:r>
                        <a:rPr lang="en-US" dirty="0">
                          <a:latin typeface="Arial" panose="020B0604020202020204" pitchFamily="34" charset="0"/>
                          <a:cs typeface="Arial" panose="020B0604020202020204" pitchFamily="34" charset="0"/>
                        </a:rPr>
                        <a:t> An entity deceives another by falsely denying responsibility for an act.</a:t>
                      </a:r>
                      <a:endParaRPr lang="en-IN" dirty="0">
                        <a:latin typeface="Arial" panose="020B0604020202020204" pitchFamily="34" charset="0"/>
                        <a:cs typeface="Arial" panose="020B0604020202020204" pitchFamily="34" charset="0"/>
                      </a:endParaRP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4083979425"/>
                  </a:ext>
                </a:extLst>
              </a:tr>
            </a:tbl>
          </a:graphicData>
        </a:graphic>
      </p:graphicFrame>
      <p:sp>
        <p:nvSpPr>
          <p:cNvPr id="3" name="Slide Number Placeholder 2">
            <a:extLst>
              <a:ext uri="{FF2B5EF4-FFF2-40B4-BE49-F238E27FC236}">
                <a16:creationId xmlns:a16="http://schemas.microsoft.com/office/drawing/2014/main" id="{A1FED0A0-381C-48B7-4834-9FB2EAED4D81}"/>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21</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7085254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B5CC0A-09AB-6554-B823-BF5F16A7B44B}"/>
              </a:ext>
            </a:extLst>
          </p:cNvPr>
          <p:cNvSpPr>
            <a:spLocks noGrp="1"/>
          </p:cNvSpPr>
          <p:nvPr>
            <p:ph type="title"/>
          </p:nvPr>
        </p:nvSpPr>
        <p:spPr>
          <a:xfrm>
            <a:off x="438538" y="160927"/>
            <a:ext cx="8262550" cy="590349"/>
          </a:xfrm>
        </p:spPr>
        <p:txBody>
          <a:bodyPr wrap="square" lIns="0" tIns="18000" rIns="0" bIns="18000" anchor="ctr" anchorCtr="0">
            <a:spAutoFit/>
          </a:bodyPr>
          <a:lstStyle/>
          <a:p>
            <a:r>
              <a:rPr lang="en-US" sz="3600" dirty="0"/>
              <a:t>Table 1.2 </a:t>
            </a:r>
            <a:r>
              <a:rPr lang="en-US" sz="2800" dirty="0"/>
              <a:t>(2 of 2)</a:t>
            </a:r>
            <a:endParaRPr lang="en-US" dirty="0"/>
          </a:p>
        </p:txBody>
      </p:sp>
      <p:sp>
        <p:nvSpPr>
          <p:cNvPr id="5" name="Content Placeholder 4">
            <a:extLst>
              <a:ext uri="{FF2B5EF4-FFF2-40B4-BE49-F238E27FC236}">
                <a16:creationId xmlns:a16="http://schemas.microsoft.com/office/drawing/2014/main" id="{C908D160-6E9C-1973-CD1D-E5BE85825442}"/>
              </a:ext>
            </a:extLst>
          </p:cNvPr>
          <p:cNvSpPr>
            <a:spLocks noGrp="1"/>
          </p:cNvSpPr>
          <p:nvPr>
            <p:ph sz="quarter" idx="13"/>
          </p:nvPr>
        </p:nvSpPr>
        <p:spPr>
          <a:xfrm>
            <a:off x="438538" y="989223"/>
            <a:ext cx="8262550" cy="775015"/>
          </a:xfrm>
        </p:spPr>
        <p:txBody>
          <a:bodyPr wrap="square" lIns="0" tIns="18000" rIns="0" bIns="18000" anchor="ctr" anchorCtr="0">
            <a:spAutoFit/>
          </a:bodyPr>
          <a:lstStyle/>
          <a:p>
            <a:pPr marL="0" indent="0">
              <a:spcBef>
                <a:spcPts val="600"/>
              </a:spcBef>
              <a:buNone/>
            </a:pPr>
            <a:r>
              <a:rPr lang="en-US" dirty="0">
                <a:latin typeface="Arial" panose="020B0604020202020204" pitchFamily="34" charset="0"/>
                <a:cs typeface="Arial" panose="020B0604020202020204" pitchFamily="34" charset="0"/>
              </a:rPr>
              <a:t>Threat Consequences and the Types of Threat Actions that Cause Each Consequence</a:t>
            </a:r>
          </a:p>
        </p:txBody>
      </p:sp>
      <p:graphicFrame>
        <p:nvGraphicFramePr>
          <p:cNvPr id="2" name="Table 1">
            <a:extLst>
              <a:ext uri="{FF2B5EF4-FFF2-40B4-BE49-F238E27FC236}">
                <a16:creationId xmlns:a16="http://schemas.microsoft.com/office/drawing/2014/main" id="{425E8A3E-49A1-A6BD-FC8B-0D39869EE4CF}"/>
              </a:ext>
            </a:extLst>
          </p:cNvPr>
          <p:cNvGraphicFramePr>
            <a:graphicFrameLocks noGrp="1"/>
          </p:cNvGraphicFramePr>
          <p:nvPr>
            <p:extLst>
              <p:ext uri="{D42A27DB-BD31-4B8C-83A1-F6EECF244321}">
                <p14:modId xmlns:p14="http://schemas.microsoft.com/office/powerpoint/2010/main" val="3769629197"/>
              </p:ext>
            </p:extLst>
          </p:nvPr>
        </p:nvGraphicFramePr>
        <p:xfrm>
          <a:off x="505896" y="2010748"/>
          <a:ext cx="8141106" cy="2900680"/>
        </p:xfrm>
        <a:graphic>
          <a:graphicData uri="http://schemas.openxmlformats.org/drawingml/2006/table">
            <a:tbl>
              <a:tblPr firstRow="1" bandRow="1">
                <a:tableStyleId>{2D5ABB26-0587-4C30-8999-92F81FD0307C}</a:tableStyleId>
              </a:tblPr>
              <a:tblGrid>
                <a:gridCol w="2502822">
                  <a:extLst>
                    <a:ext uri="{9D8B030D-6E8A-4147-A177-3AD203B41FA5}">
                      <a16:colId xmlns:a16="http://schemas.microsoft.com/office/drawing/2014/main" val="1672273647"/>
                    </a:ext>
                  </a:extLst>
                </a:gridCol>
                <a:gridCol w="5638284">
                  <a:extLst>
                    <a:ext uri="{9D8B030D-6E8A-4147-A177-3AD203B41FA5}">
                      <a16:colId xmlns:a16="http://schemas.microsoft.com/office/drawing/2014/main" val="437245304"/>
                    </a:ext>
                  </a:extLst>
                </a:gridCol>
              </a:tblGrid>
              <a:tr h="370840">
                <a:tc>
                  <a:txBody>
                    <a:bodyPr/>
                    <a:lstStyle/>
                    <a:p>
                      <a:r>
                        <a:rPr lang="en-US" b="1" noProof="0" dirty="0">
                          <a:solidFill>
                            <a:schemeClr val="bg1"/>
                          </a:solidFill>
                          <a:latin typeface="Arial" panose="020B0604020202020204" pitchFamily="34" charset="0"/>
                          <a:cs typeface="Arial" panose="020B0604020202020204" pitchFamily="34" charset="0"/>
                        </a:rPr>
                        <a:t>Threat Consequence</a:t>
                      </a: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b="1" noProof="0" dirty="0">
                          <a:solidFill>
                            <a:schemeClr val="bg1"/>
                          </a:solidFill>
                          <a:latin typeface="Arial" panose="020B0604020202020204" pitchFamily="34" charset="0"/>
                          <a:cs typeface="Arial" panose="020B0604020202020204" pitchFamily="34" charset="0"/>
                        </a:rPr>
                        <a:t>Threat Action (Attack)</a:t>
                      </a: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536784669"/>
                  </a:ext>
                </a:extLst>
              </a:tr>
              <a:tr h="370840">
                <a:tc>
                  <a:txBody>
                    <a:bodyPr/>
                    <a:lstStyle/>
                    <a:p>
                      <a:r>
                        <a:rPr lang="en-US" b="1" dirty="0">
                          <a:latin typeface="Arial" panose="020B0604020202020204" pitchFamily="34" charset="0"/>
                          <a:cs typeface="Arial" panose="020B0604020202020204" pitchFamily="34" charset="0"/>
                        </a:rPr>
                        <a:t>Disruption</a:t>
                      </a:r>
                    </a:p>
                    <a:p>
                      <a:r>
                        <a:rPr lang="en-US" dirty="0">
                          <a:latin typeface="Arial" panose="020B0604020202020204" pitchFamily="34" charset="0"/>
                          <a:cs typeface="Arial" panose="020B0604020202020204" pitchFamily="34" charset="0"/>
                        </a:rPr>
                        <a:t>A circumstance or event that interrupts or prevents the correct operation of system services and functions.</a:t>
                      </a:r>
                      <a:endParaRPr lang="en-IN" dirty="0">
                        <a:latin typeface="Arial" panose="020B0604020202020204" pitchFamily="34" charset="0"/>
                        <a:cs typeface="Arial" panose="020B0604020202020204" pitchFamily="34" charset="0"/>
                      </a:endParaRP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b="1" dirty="0">
                          <a:latin typeface="Arial" panose="020B0604020202020204" pitchFamily="34" charset="0"/>
                          <a:cs typeface="Arial" panose="020B0604020202020204" pitchFamily="34" charset="0"/>
                        </a:rPr>
                        <a:t>Incapacitation:</a:t>
                      </a:r>
                      <a:r>
                        <a:rPr lang="en-US" dirty="0">
                          <a:latin typeface="Arial" panose="020B0604020202020204" pitchFamily="34" charset="0"/>
                          <a:cs typeface="Arial" panose="020B0604020202020204" pitchFamily="34" charset="0"/>
                        </a:rPr>
                        <a:t> Prevents or interrupts system operation by disabling a system component. </a:t>
                      </a:r>
                    </a:p>
                    <a:p>
                      <a:r>
                        <a:rPr lang="en-US" b="1" dirty="0">
                          <a:latin typeface="Arial" panose="020B0604020202020204" pitchFamily="34" charset="0"/>
                          <a:cs typeface="Arial" panose="020B0604020202020204" pitchFamily="34" charset="0"/>
                        </a:rPr>
                        <a:t>Corruption:</a:t>
                      </a:r>
                      <a:r>
                        <a:rPr lang="en-US" dirty="0">
                          <a:latin typeface="Arial" panose="020B0604020202020204" pitchFamily="34" charset="0"/>
                          <a:cs typeface="Arial" panose="020B0604020202020204" pitchFamily="34" charset="0"/>
                        </a:rPr>
                        <a:t> Undesirably alters system operation by adversely modifying system functions or data. </a:t>
                      </a:r>
                    </a:p>
                    <a:p>
                      <a:r>
                        <a:rPr lang="en-US" b="1" dirty="0">
                          <a:latin typeface="Arial" panose="020B0604020202020204" pitchFamily="34" charset="0"/>
                          <a:cs typeface="Arial" panose="020B0604020202020204" pitchFamily="34" charset="0"/>
                        </a:rPr>
                        <a:t>Obstruction:</a:t>
                      </a:r>
                      <a:r>
                        <a:rPr lang="en-US" dirty="0">
                          <a:latin typeface="Arial" panose="020B0604020202020204" pitchFamily="34" charset="0"/>
                          <a:cs typeface="Arial" panose="020B0604020202020204" pitchFamily="34" charset="0"/>
                        </a:rPr>
                        <a:t> A threat action that interrupts delivery of system services by hindering system operation.</a:t>
                      </a:r>
                      <a:endParaRPr lang="en-IN" dirty="0">
                        <a:latin typeface="Arial" panose="020B0604020202020204" pitchFamily="34" charset="0"/>
                        <a:cs typeface="Arial" panose="020B0604020202020204" pitchFamily="34" charset="0"/>
                      </a:endParaRP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38096676"/>
                  </a:ext>
                </a:extLst>
              </a:tr>
              <a:tr h="370840">
                <a:tc>
                  <a:txBody>
                    <a:bodyPr/>
                    <a:lstStyle/>
                    <a:p>
                      <a:r>
                        <a:rPr lang="en-US" b="1" dirty="0">
                          <a:latin typeface="Arial" panose="020B0604020202020204" pitchFamily="34" charset="0"/>
                          <a:cs typeface="Arial" panose="020B0604020202020204" pitchFamily="34" charset="0"/>
                        </a:rPr>
                        <a:t>Usurpation</a:t>
                      </a:r>
                    </a:p>
                    <a:p>
                      <a:r>
                        <a:rPr lang="en-US" dirty="0">
                          <a:latin typeface="Arial" panose="020B0604020202020204" pitchFamily="34" charset="0"/>
                          <a:cs typeface="Arial" panose="020B0604020202020204" pitchFamily="34" charset="0"/>
                        </a:rPr>
                        <a:t>A circumstance or event that results in control of system services or functions by an unauthorized entity</a:t>
                      </a:r>
                      <a:endParaRPr lang="en-IN" dirty="0">
                        <a:latin typeface="Arial" panose="020B0604020202020204" pitchFamily="34" charset="0"/>
                        <a:cs typeface="Arial" panose="020B0604020202020204" pitchFamily="34" charset="0"/>
                      </a:endParaRP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b="1" dirty="0">
                          <a:latin typeface="Arial" panose="020B0604020202020204" pitchFamily="34" charset="0"/>
                          <a:cs typeface="Arial" panose="020B0604020202020204" pitchFamily="34" charset="0"/>
                        </a:rPr>
                        <a:t>Misappropriation:</a:t>
                      </a:r>
                      <a:r>
                        <a:rPr lang="en-US" dirty="0">
                          <a:latin typeface="Arial" panose="020B0604020202020204" pitchFamily="34" charset="0"/>
                          <a:cs typeface="Arial" panose="020B0604020202020204" pitchFamily="34" charset="0"/>
                        </a:rPr>
                        <a:t> An entity assumes unauthorized logical or physical control of a system resource. </a:t>
                      </a:r>
                    </a:p>
                    <a:p>
                      <a:r>
                        <a:rPr lang="en-US" b="1" dirty="0">
                          <a:latin typeface="Arial" panose="020B0604020202020204" pitchFamily="34" charset="0"/>
                          <a:cs typeface="Arial" panose="020B0604020202020204" pitchFamily="34" charset="0"/>
                        </a:rPr>
                        <a:t>Misuse:</a:t>
                      </a:r>
                      <a:r>
                        <a:rPr lang="en-US" dirty="0">
                          <a:latin typeface="Arial" panose="020B0604020202020204" pitchFamily="34" charset="0"/>
                          <a:cs typeface="Arial" panose="020B0604020202020204" pitchFamily="34" charset="0"/>
                        </a:rPr>
                        <a:t> Causes a system component to perform a function or service that is detrimental to system security</a:t>
                      </a:r>
                      <a:endParaRPr lang="en-IN" dirty="0">
                        <a:latin typeface="Arial" panose="020B0604020202020204" pitchFamily="34" charset="0"/>
                        <a:cs typeface="Arial" panose="020B0604020202020204" pitchFamily="34" charset="0"/>
                      </a:endParaRP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4083979425"/>
                  </a:ext>
                </a:extLst>
              </a:tr>
            </a:tbl>
          </a:graphicData>
        </a:graphic>
      </p:graphicFrame>
      <p:sp>
        <p:nvSpPr>
          <p:cNvPr id="3" name="Content Placeholder 2">
            <a:extLst>
              <a:ext uri="{FF2B5EF4-FFF2-40B4-BE49-F238E27FC236}">
                <a16:creationId xmlns:a16="http://schemas.microsoft.com/office/drawing/2014/main" id="{31A74EC8-3F69-B47C-7018-5A0EC7B7F12D}"/>
              </a:ext>
            </a:extLst>
          </p:cNvPr>
          <p:cNvSpPr>
            <a:spLocks noGrp="1"/>
          </p:cNvSpPr>
          <p:nvPr>
            <p:ph sz="quarter" idx="14"/>
          </p:nvPr>
        </p:nvSpPr>
        <p:spPr>
          <a:xfrm>
            <a:off x="438539" y="5197413"/>
            <a:ext cx="2612572" cy="282573"/>
          </a:xfrm>
        </p:spPr>
        <p:txBody>
          <a:bodyPr wrap="square" lIns="0" tIns="18000" rIns="0" bIns="18000" anchor="ctr" anchorCtr="0">
            <a:spAutoFit/>
          </a:bodyPr>
          <a:lstStyle/>
          <a:p>
            <a:pPr marL="432" indent="0">
              <a:buNone/>
            </a:pPr>
            <a:r>
              <a:rPr lang="en-US" sz="1600" i="1" dirty="0">
                <a:latin typeface="Arial" panose="020B0604020202020204" pitchFamily="34" charset="0"/>
                <a:cs typeface="Arial" panose="020B0604020202020204" pitchFamily="34" charset="0"/>
              </a:rPr>
              <a:t>Source</a:t>
            </a:r>
            <a:r>
              <a:rPr lang="en-US" sz="1600" dirty="0">
                <a:latin typeface="Arial" panose="020B0604020202020204" pitchFamily="34" charset="0"/>
                <a:cs typeface="Arial" panose="020B0604020202020204" pitchFamily="34" charset="0"/>
              </a:rPr>
              <a:t>: Based on </a:t>
            </a:r>
            <a:r>
              <a:rPr lang="en-US" sz="1600" spc="-200" dirty="0">
                <a:latin typeface="Arial" panose="020B0604020202020204" pitchFamily="34" charset="0"/>
                <a:cs typeface="Arial" panose="020B0604020202020204" pitchFamily="34" charset="0"/>
              </a:rPr>
              <a:t>R F </a:t>
            </a:r>
            <a:r>
              <a:rPr lang="en-US" sz="1600" dirty="0">
                <a:latin typeface="Arial" panose="020B0604020202020204" pitchFamily="34" charset="0"/>
                <a:cs typeface="Arial" panose="020B0604020202020204" pitchFamily="34" charset="0"/>
              </a:rPr>
              <a:t>C 4949</a:t>
            </a:r>
          </a:p>
        </p:txBody>
      </p:sp>
      <p:sp>
        <p:nvSpPr>
          <p:cNvPr id="6" name="TextBox 5">
            <a:extLst>
              <a:ext uri="{FF2B5EF4-FFF2-40B4-BE49-F238E27FC236}">
                <a16:creationId xmlns:a16="http://schemas.microsoft.com/office/drawing/2014/main" id="{2356AFAD-C47B-090A-7277-D37837692FBB}"/>
              </a:ext>
            </a:extLst>
          </p:cNvPr>
          <p:cNvSpPr txBox="1"/>
          <p:nvPr/>
        </p:nvSpPr>
        <p:spPr>
          <a:xfrm>
            <a:off x="438538" y="5545611"/>
            <a:ext cx="4133462" cy="307777"/>
          </a:xfrm>
          <a:prstGeom prst="rect">
            <a:avLst/>
          </a:prstGeom>
          <a:noFill/>
          <a:ln>
            <a:noFill/>
          </a:ln>
        </p:spPr>
        <p:txBody>
          <a:bodyPr wrap="square" rtlCol="0">
            <a:spAutoFit/>
          </a:bodyPr>
          <a:lstStyle/>
          <a:p>
            <a:r>
              <a:rPr lang="en-US" dirty="0"/>
              <a:t>Usurp: to seize without legal right (dictionary.com)</a:t>
            </a:r>
          </a:p>
        </p:txBody>
      </p:sp>
      <p:sp>
        <p:nvSpPr>
          <p:cNvPr id="7" name="TextBox 6">
            <a:extLst>
              <a:ext uri="{FF2B5EF4-FFF2-40B4-BE49-F238E27FC236}">
                <a16:creationId xmlns:a16="http://schemas.microsoft.com/office/drawing/2014/main" id="{9BA3CF32-6BB6-EBCB-2AFA-9C5F53C9B227}"/>
              </a:ext>
            </a:extLst>
          </p:cNvPr>
          <p:cNvSpPr txBox="1"/>
          <p:nvPr/>
        </p:nvSpPr>
        <p:spPr>
          <a:xfrm>
            <a:off x="7907277" y="6146884"/>
            <a:ext cx="617477" cy="338554"/>
          </a:xfrm>
          <a:prstGeom prst="rect">
            <a:avLst/>
          </a:prstGeom>
          <a:noFill/>
        </p:spPr>
        <p:txBody>
          <a:bodyPr wrap="none" rtlCol="0">
            <a:spAutoFit/>
          </a:bodyPr>
          <a:lstStyle/>
          <a:p>
            <a:r>
              <a:rPr lang="en-US" sz="1600" dirty="0"/>
              <a:t>SJW</a:t>
            </a:r>
          </a:p>
        </p:txBody>
      </p:sp>
      <p:sp>
        <p:nvSpPr>
          <p:cNvPr id="8" name="Slide Number Placeholder 7">
            <a:extLst>
              <a:ext uri="{FF2B5EF4-FFF2-40B4-BE49-F238E27FC236}">
                <a16:creationId xmlns:a16="http://schemas.microsoft.com/office/drawing/2014/main" id="{AC6A6ACD-DB58-6243-4EAB-F884352450CA}"/>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22</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7005320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B5CC0A-09AB-6554-B823-BF5F16A7B44B}"/>
              </a:ext>
            </a:extLst>
          </p:cNvPr>
          <p:cNvSpPr>
            <a:spLocks noGrp="1"/>
          </p:cNvSpPr>
          <p:nvPr>
            <p:ph type="title"/>
          </p:nvPr>
        </p:nvSpPr>
        <p:spPr>
          <a:xfrm>
            <a:off x="438538" y="160927"/>
            <a:ext cx="8262550" cy="590349"/>
          </a:xfrm>
        </p:spPr>
        <p:txBody>
          <a:bodyPr wrap="square" lIns="0" tIns="18000" rIns="0" bIns="18000" anchor="ctr" anchorCtr="0">
            <a:spAutoFit/>
          </a:bodyPr>
          <a:lstStyle/>
          <a:p>
            <a:r>
              <a:rPr lang="en-US" sz="3600" dirty="0"/>
              <a:t>Figure 1.3</a:t>
            </a:r>
            <a:endParaRPr lang="en-US" dirty="0"/>
          </a:p>
        </p:txBody>
      </p:sp>
      <p:sp>
        <p:nvSpPr>
          <p:cNvPr id="5" name="Content Placeholder 4">
            <a:extLst>
              <a:ext uri="{FF2B5EF4-FFF2-40B4-BE49-F238E27FC236}">
                <a16:creationId xmlns:a16="http://schemas.microsoft.com/office/drawing/2014/main" id="{C908D160-6E9C-1973-CD1D-E5BE85825442}"/>
              </a:ext>
            </a:extLst>
          </p:cNvPr>
          <p:cNvSpPr>
            <a:spLocks noGrp="1"/>
          </p:cNvSpPr>
          <p:nvPr>
            <p:ph sz="quarter" idx="13"/>
          </p:nvPr>
        </p:nvSpPr>
        <p:spPr>
          <a:xfrm>
            <a:off x="438538" y="1011994"/>
            <a:ext cx="8262550" cy="374906"/>
          </a:xfrm>
        </p:spPr>
        <p:txBody>
          <a:bodyPr wrap="square" lIns="0" tIns="18000" rIns="0" bIns="18000" anchor="ctr" anchorCtr="0">
            <a:spAutoFit/>
          </a:bodyPr>
          <a:lstStyle/>
          <a:p>
            <a:pPr marL="0" indent="0">
              <a:spcBef>
                <a:spcPts val="600"/>
              </a:spcBef>
              <a:buNone/>
            </a:pPr>
            <a:r>
              <a:rPr lang="en-US" sz="2200" dirty="0">
                <a:latin typeface="Arial" panose="020B0604020202020204" pitchFamily="34" charset="0"/>
                <a:cs typeface="Arial" panose="020B0604020202020204" pitchFamily="34" charset="0"/>
              </a:rPr>
              <a:t>Scope of Computer Security</a:t>
            </a:r>
          </a:p>
        </p:txBody>
      </p:sp>
      <p:sp>
        <p:nvSpPr>
          <p:cNvPr id="3" name="Content Placeholder 2">
            <a:extLst>
              <a:ext uri="{FF2B5EF4-FFF2-40B4-BE49-F238E27FC236}">
                <a16:creationId xmlns:a16="http://schemas.microsoft.com/office/drawing/2014/main" id="{31A74EC8-3F69-B47C-7018-5A0EC7B7F12D}"/>
              </a:ext>
            </a:extLst>
          </p:cNvPr>
          <p:cNvSpPr>
            <a:spLocks noGrp="1"/>
          </p:cNvSpPr>
          <p:nvPr>
            <p:ph sz="quarter" idx="14"/>
          </p:nvPr>
        </p:nvSpPr>
        <p:spPr>
          <a:xfrm>
            <a:off x="438538" y="1508329"/>
            <a:ext cx="8262549" cy="1390568"/>
          </a:xfrm>
        </p:spPr>
        <p:txBody>
          <a:bodyPr wrap="square" lIns="0" tIns="18000" rIns="0" bIns="18000" anchor="ctr" anchorCtr="0">
            <a:spAutoFit/>
          </a:bodyPr>
          <a:lstStyle/>
          <a:p>
            <a:pPr marL="432" indent="0">
              <a:buNone/>
            </a:pPr>
            <a:r>
              <a:rPr lang="en-US" sz="2200" dirty="0">
                <a:latin typeface="Arial" panose="020B0604020202020204" pitchFamily="34" charset="0"/>
                <a:cs typeface="Arial" panose="020B0604020202020204" pitchFamily="34" charset="0"/>
              </a:rPr>
              <a:t>This figure depicts security concerns other than physical security, including control of access to computers systems, safeguarding of data transmitted over communications systems, and safeguarding of stored data.</a:t>
            </a:r>
          </a:p>
        </p:txBody>
      </p:sp>
      <p:pic>
        <p:nvPicPr>
          <p:cNvPr id="7" name="Picture 6" descr="The figure illustrates a diagram representing the scope of computer security between two computer systems.&#10;Long description is available in notes, Press F6.">
            <a:extLst>
              <a:ext uri="{FF2B5EF4-FFF2-40B4-BE49-F238E27FC236}">
                <a16:creationId xmlns:a16="http://schemas.microsoft.com/office/drawing/2014/main" id="{B7053498-9CEE-D307-F4BA-7B02F7B6151E}"/>
              </a:ext>
            </a:extLst>
          </p:cNvPr>
          <p:cNvPicPr>
            <a:picLocks noChangeAspect="1"/>
          </p:cNvPicPr>
          <p:nvPr/>
        </p:nvPicPr>
        <p:blipFill>
          <a:blip r:embed="rId3"/>
          <a:stretch>
            <a:fillRect/>
          </a:stretch>
        </p:blipFill>
        <p:spPr>
          <a:xfrm>
            <a:off x="1800911" y="3006259"/>
            <a:ext cx="5542178" cy="3346094"/>
          </a:xfrm>
          <a:prstGeom prst="rect">
            <a:avLst/>
          </a:prstGeom>
        </p:spPr>
      </p:pic>
      <p:sp>
        <p:nvSpPr>
          <p:cNvPr id="2" name="Slide Number Placeholder 1">
            <a:extLst>
              <a:ext uri="{FF2B5EF4-FFF2-40B4-BE49-F238E27FC236}">
                <a16:creationId xmlns:a16="http://schemas.microsoft.com/office/drawing/2014/main" id="{95C4C699-F526-262B-DFE2-67023CFF28CD}"/>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23</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742690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B5CC0A-09AB-6554-B823-BF5F16A7B44B}"/>
              </a:ext>
            </a:extLst>
          </p:cNvPr>
          <p:cNvSpPr>
            <a:spLocks noGrp="1"/>
          </p:cNvSpPr>
          <p:nvPr>
            <p:ph type="title"/>
          </p:nvPr>
        </p:nvSpPr>
        <p:spPr>
          <a:xfrm>
            <a:off x="438538" y="160927"/>
            <a:ext cx="8262550" cy="590349"/>
          </a:xfrm>
        </p:spPr>
        <p:txBody>
          <a:bodyPr wrap="square" lIns="0" tIns="18000" rIns="0" bIns="18000" anchor="ctr" anchorCtr="0">
            <a:spAutoFit/>
          </a:bodyPr>
          <a:lstStyle/>
          <a:p>
            <a:r>
              <a:rPr lang="en-US" dirty="0"/>
              <a:t>Table 1.3</a:t>
            </a:r>
          </a:p>
        </p:txBody>
      </p:sp>
      <p:sp>
        <p:nvSpPr>
          <p:cNvPr id="5" name="Content Placeholder 4">
            <a:extLst>
              <a:ext uri="{FF2B5EF4-FFF2-40B4-BE49-F238E27FC236}">
                <a16:creationId xmlns:a16="http://schemas.microsoft.com/office/drawing/2014/main" id="{C908D160-6E9C-1973-CD1D-E5BE85825442}"/>
              </a:ext>
            </a:extLst>
          </p:cNvPr>
          <p:cNvSpPr>
            <a:spLocks noGrp="1"/>
          </p:cNvSpPr>
          <p:nvPr>
            <p:ph sz="quarter" idx="13"/>
          </p:nvPr>
        </p:nvSpPr>
        <p:spPr>
          <a:xfrm>
            <a:off x="438538" y="987275"/>
            <a:ext cx="8262550" cy="405683"/>
          </a:xfrm>
        </p:spPr>
        <p:txBody>
          <a:bodyPr wrap="square" lIns="0" tIns="18000" rIns="0" bIns="18000" anchor="ctr" anchorCtr="0">
            <a:spAutoFit/>
          </a:bodyPr>
          <a:lstStyle/>
          <a:p>
            <a:pPr marL="0" indent="0">
              <a:spcBef>
                <a:spcPts val="600"/>
              </a:spcBef>
              <a:buNone/>
            </a:pPr>
            <a:r>
              <a:rPr lang="en-US" dirty="0">
                <a:latin typeface="Arial" panose="020B0604020202020204" pitchFamily="34" charset="0"/>
                <a:cs typeface="Arial" panose="020B0604020202020204" pitchFamily="34" charset="0"/>
              </a:rPr>
              <a:t>Computer and Network Assets, with Examples of Threats</a:t>
            </a:r>
            <a:endParaRPr lang="en-US" sz="3200" dirty="0">
              <a:latin typeface="Arial" panose="020B0604020202020204" pitchFamily="34" charset="0"/>
              <a:cs typeface="Arial" panose="020B0604020202020204" pitchFamily="34" charset="0"/>
            </a:endParaRPr>
          </a:p>
        </p:txBody>
      </p:sp>
      <p:graphicFrame>
        <p:nvGraphicFramePr>
          <p:cNvPr id="2" name="Table 4">
            <a:extLst>
              <a:ext uri="{FF2B5EF4-FFF2-40B4-BE49-F238E27FC236}">
                <a16:creationId xmlns:a16="http://schemas.microsoft.com/office/drawing/2014/main" id="{5D12615D-0060-4CF5-0DC8-A5EF31CB29A8}"/>
              </a:ext>
            </a:extLst>
          </p:cNvPr>
          <p:cNvGraphicFramePr>
            <a:graphicFrameLocks/>
          </p:cNvGraphicFramePr>
          <p:nvPr>
            <p:extLst>
              <p:ext uri="{D42A27DB-BD31-4B8C-83A1-F6EECF244321}">
                <p14:modId xmlns:p14="http://schemas.microsoft.com/office/powerpoint/2010/main" val="1679319359"/>
              </p:ext>
            </p:extLst>
          </p:nvPr>
        </p:nvGraphicFramePr>
        <p:xfrm>
          <a:off x="523327" y="1661499"/>
          <a:ext cx="8097266" cy="4511040"/>
        </p:xfrm>
        <a:graphic>
          <a:graphicData uri="http://schemas.openxmlformats.org/drawingml/2006/table">
            <a:tbl>
              <a:tblPr firstRow="1" bandRow="1">
                <a:tableStyleId>{2D5ABB26-0587-4C30-8999-92F81FD0307C}</a:tableStyleId>
              </a:tblPr>
              <a:tblGrid>
                <a:gridCol w="1253484">
                  <a:extLst>
                    <a:ext uri="{9D8B030D-6E8A-4147-A177-3AD203B41FA5}">
                      <a16:colId xmlns:a16="http://schemas.microsoft.com/office/drawing/2014/main" val="4187521484"/>
                    </a:ext>
                  </a:extLst>
                </a:gridCol>
                <a:gridCol w="2182789">
                  <a:extLst>
                    <a:ext uri="{9D8B030D-6E8A-4147-A177-3AD203B41FA5}">
                      <a16:colId xmlns:a16="http://schemas.microsoft.com/office/drawing/2014/main" val="380459045"/>
                    </a:ext>
                  </a:extLst>
                </a:gridCol>
                <a:gridCol w="1990896">
                  <a:extLst>
                    <a:ext uri="{9D8B030D-6E8A-4147-A177-3AD203B41FA5}">
                      <a16:colId xmlns:a16="http://schemas.microsoft.com/office/drawing/2014/main" val="1131164727"/>
                    </a:ext>
                  </a:extLst>
                </a:gridCol>
                <a:gridCol w="2670097">
                  <a:extLst>
                    <a:ext uri="{9D8B030D-6E8A-4147-A177-3AD203B41FA5}">
                      <a16:colId xmlns:a16="http://schemas.microsoft.com/office/drawing/2014/main" val="1437133547"/>
                    </a:ext>
                  </a:extLst>
                </a:gridCol>
              </a:tblGrid>
              <a:tr h="251730">
                <a:tc>
                  <a:txBody>
                    <a:bodyPr/>
                    <a:lstStyle/>
                    <a:p>
                      <a:pPr>
                        <a:spcBef>
                          <a:spcPts val="1500"/>
                        </a:spcBef>
                      </a:pPr>
                      <a:r>
                        <a:rPr lang="en-US" sz="100" b="1" noProof="0" dirty="0">
                          <a:solidFill>
                            <a:schemeClr val="bg1"/>
                          </a:solidFill>
                          <a:latin typeface="Arial" panose="020B0604020202020204" pitchFamily="34" charset="0"/>
                          <a:cs typeface="Arial" panose="020B0604020202020204" pitchFamily="34" charset="0"/>
                        </a:rPr>
                        <a:t>Blank</a:t>
                      </a: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spcBef>
                          <a:spcPts val="1500"/>
                        </a:spcBef>
                      </a:pPr>
                      <a:r>
                        <a:rPr lang="en-US" sz="1400" b="1" noProof="0" dirty="0">
                          <a:solidFill>
                            <a:schemeClr val="bg1"/>
                          </a:solidFill>
                          <a:latin typeface="Arial" panose="020B0604020202020204" pitchFamily="34" charset="0"/>
                          <a:cs typeface="Arial" panose="020B0604020202020204" pitchFamily="34" charset="0"/>
                        </a:rPr>
                        <a:t>Availability</a:t>
                      </a: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spcBef>
                          <a:spcPts val="1500"/>
                        </a:spcBef>
                      </a:pPr>
                      <a:r>
                        <a:rPr lang="en-US" sz="1400" b="1" noProof="0" dirty="0">
                          <a:solidFill>
                            <a:schemeClr val="bg1"/>
                          </a:solidFill>
                          <a:latin typeface="Arial" panose="020B0604020202020204" pitchFamily="34" charset="0"/>
                          <a:cs typeface="Arial" panose="020B0604020202020204" pitchFamily="34" charset="0"/>
                        </a:rPr>
                        <a:t>Confidentiality</a:t>
                      </a: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spcBef>
                          <a:spcPts val="1500"/>
                        </a:spcBef>
                      </a:pPr>
                      <a:r>
                        <a:rPr lang="en-US" sz="1400" b="1" noProof="0" dirty="0">
                          <a:solidFill>
                            <a:schemeClr val="bg1"/>
                          </a:solidFill>
                          <a:latin typeface="Arial" panose="020B0604020202020204" pitchFamily="34" charset="0"/>
                          <a:cs typeface="Arial" panose="020B0604020202020204" pitchFamily="34" charset="0"/>
                        </a:rPr>
                        <a:t>Integrity</a:t>
                      </a: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002009596"/>
                  </a:ext>
                </a:extLst>
              </a:tr>
              <a:tr h="780363">
                <a:tc>
                  <a:txBody>
                    <a:bodyPr/>
                    <a:lstStyle/>
                    <a:p>
                      <a:pPr algn="r">
                        <a:spcBef>
                          <a:spcPts val="1500"/>
                        </a:spcBef>
                      </a:pPr>
                      <a:r>
                        <a:rPr lang="en-US" b="1" dirty="0">
                          <a:latin typeface="Arial" panose="020B0604020202020204" pitchFamily="34" charset="0"/>
                          <a:cs typeface="Arial" panose="020B0604020202020204" pitchFamily="34" charset="0"/>
                        </a:rPr>
                        <a:t>Hardware</a:t>
                      </a:r>
                      <a:endParaRPr lang="en-US" sz="1400" b="1" noProof="0" dirty="0">
                        <a:latin typeface="Arial" panose="020B0604020202020204" pitchFamily="34" charset="0"/>
                        <a:cs typeface="Arial" panose="020B0604020202020204" pitchFamily="34" charset="0"/>
                      </a:endParaRP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spcBef>
                          <a:spcPts val="1500"/>
                        </a:spcBef>
                      </a:pPr>
                      <a:r>
                        <a:rPr lang="en-US" dirty="0">
                          <a:latin typeface="Arial" panose="020B0604020202020204" pitchFamily="34" charset="0"/>
                          <a:cs typeface="Arial" panose="020B0604020202020204" pitchFamily="34" charset="0"/>
                        </a:rPr>
                        <a:t>Equipment is stolen or disabled, thus denying service.</a:t>
                      </a:r>
                      <a:endParaRPr lang="en-IN" sz="1400" dirty="0">
                        <a:latin typeface="Arial" panose="020B0604020202020204" pitchFamily="34" charset="0"/>
                        <a:cs typeface="Arial" panose="020B0604020202020204" pitchFamily="34" charset="0"/>
                      </a:endParaRP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spcBef>
                          <a:spcPts val="1500"/>
                        </a:spcBef>
                      </a:pPr>
                      <a:r>
                        <a:rPr lang="en-US" dirty="0">
                          <a:latin typeface="Arial" panose="020B0604020202020204" pitchFamily="34" charset="0"/>
                          <a:cs typeface="Arial" panose="020B0604020202020204" pitchFamily="34" charset="0"/>
                        </a:rPr>
                        <a:t>An unencrypted USB drive is stolen.</a:t>
                      </a:r>
                      <a:endParaRPr lang="en-IN" sz="1400" dirty="0">
                        <a:latin typeface="Arial" panose="020B0604020202020204" pitchFamily="34" charset="0"/>
                        <a:cs typeface="Arial" panose="020B0604020202020204" pitchFamily="34" charset="0"/>
                      </a:endParaRP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spcBef>
                          <a:spcPts val="1500"/>
                        </a:spcBef>
                      </a:pPr>
                      <a:r>
                        <a:rPr lang="en-US" dirty="0">
                          <a:latin typeface="Arial" panose="020B0604020202020204" pitchFamily="34" charset="0"/>
                          <a:cs typeface="Arial" panose="020B0604020202020204" pitchFamily="34" charset="0"/>
                        </a:rPr>
                        <a:t>A door sensor is replaced with one that sends a closed status, regardless of actual door position, at certain times.</a:t>
                      </a:r>
                      <a:endParaRPr lang="en-US" sz="1400" noProof="0" dirty="0">
                        <a:latin typeface="Arial" panose="020B0604020202020204" pitchFamily="34" charset="0"/>
                        <a:cs typeface="Arial" panose="020B0604020202020204" pitchFamily="34" charset="0"/>
                      </a:endParaRP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578254993"/>
                  </a:ext>
                </a:extLst>
              </a:tr>
              <a:tr h="780363">
                <a:tc>
                  <a:txBody>
                    <a:bodyPr/>
                    <a:lstStyle/>
                    <a:p>
                      <a:pPr algn="r">
                        <a:spcBef>
                          <a:spcPts val="1500"/>
                        </a:spcBef>
                      </a:pPr>
                      <a:r>
                        <a:rPr lang="en-US" b="1" dirty="0">
                          <a:latin typeface="Arial" panose="020B0604020202020204" pitchFamily="34" charset="0"/>
                          <a:cs typeface="Arial" panose="020B0604020202020204" pitchFamily="34" charset="0"/>
                        </a:rPr>
                        <a:t>Software</a:t>
                      </a:r>
                      <a:endParaRPr lang="en-US" sz="1400" b="1" noProof="0" dirty="0">
                        <a:latin typeface="Arial" panose="020B0604020202020204" pitchFamily="34" charset="0"/>
                        <a:cs typeface="Arial" panose="020B0604020202020204" pitchFamily="34" charset="0"/>
                      </a:endParaRP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spcBef>
                          <a:spcPts val="1500"/>
                        </a:spcBef>
                      </a:pPr>
                      <a:r>
                        <a:rPr lang="en-US" dirty="0">
                          <a:latin typeface="Arial" panose="020B0604020202020204" pitchFamily="34" charset="0"/>
                          <a:cs typeface="Arial" panose="020B0604020202020204" pitchFamily="34" charset="0"/>
                        </a:rPr>
                        <a:t>Programs are deleted, denying access to users.</a:t>
                      </a:r>
                      <a:endParaRPr lang="en-IN" sz="1400" dirty="0">
                        <a:latin typeface="Arial" panose="020B0604020202020204" pitchFamily="34" charset="0"/>
                        <a:cs typeface="Arial" panose="020B0604020202020204" pitchFamily="34" charset="0"/>
                      </a:endParaRP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spcBef>
                          <a:spcPts val="1500"/>
                        </a:spcBef>
                      </a:pPr>
                      <a:r>
                        <a:rPr lang="en-US" dirty="0">
                          <a:latin typeface="Arial" panose="020B0604020202020204" pitchFamily="34" charset="0"/>
                          <a:cs typeface="Arial" panose="020B0604020202020204" pitchFamily="34" charset="0"/>
                        </a:rPr>
                        <a:t>An unauthorized copy of software is made.</a:t>
                      </a:r>
                      <a:endParaRPr lang="en-IN" sz="1400" dirty="0">
                        <a:latin typeface="Arial" panose="020B0604020202020204" pitchFamily="34" charset="0"/>
                        <a:cs typeface="Arial" panose="020B0604020202020204" pitchFamily="34" charset="0"/>
                      </a:endParaRP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spcBef>
                          <a:spcPts val="1500"/>
                        </a:spcBef>
                      </a:pPr>
                      <a:r>
                        <a:rPr lang="en-US" dirty="0">
                          <a:latin typeface="Arial" panose="020B0604020202020204" pitchFamily="34" charset="0"/>
                          <a:cs typeface="Arial" panose="020B0604020202020204" pitchFamily="34" charset="0"/>
                        </a:rPr>
                        <a:t>A working program is modified, either to cause it to fail during execution or to cause it to do some unintended task.</a:t>
                      </a:r>
                      <a:endParaRPr lang="en-IN" sz="1400" dirty="0">
                        <a:latin typeface="Arial" panose="020B0604020202020204" pitchFamily="34" charset="0"/>
                        <a:cs typeface="Arial" panose="020B0604020202020204" pitchFamily="34" charset="0"/>
                      </a:endParaRP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256429018"/>
                  </a:ext>
                </a:extLst>
              </a:tr>
              <a:tr h="1132785">
                <a:tc>
                  <a:txBody>
                    <a:bodyPr/>
                    <a:lstStyle/>
                    <a:p>
                      <a:pPr algn="r">
                        <a:spcBef>
                          <a:spcPts val="1500"/>
                        </a:spcBef>
                      </a:pPr>
                      <a:r>
                        <a:rPr lang="en-US" sz="1400" b="1" noProof="0" dirty="0">
                          <a:latin typeface="Arial" panose="020B0604020202020204" pitchFamily="34" charset="0"/>
                          <a:cs typeface="Arial" panose="020B0604020202020204" pitchFamily="34" charset="0"/>
                        </a:rPr>
                        <a:t>Data</a:t>
                      </a: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spcBef>
                          <a:spcPts val="1500"/>
                        </a:spcBef>
                      </a:pPr>
                      <a:r>
                        <a:rPr lang="en-US" dirty="0">
                          <a:latin typeface="Arial" panose="020B0604020202020204" pitchFamily="34" charset="0"/>
                          <a:cs typeface="Arial" panose="020B0604020202020204" pitchFamily="34" charset="0"/>
                        </a:rPr>
                        <a:t>Files are deleted, denying access to users.</a:t>
                      </a:r>
                      <a:endParaRPr lang="en-IN" sz="1400" dirty="0">
                        <a:latin typeface="Arial" panose="020B0604020202020204" pitchFamily="34" charset="0"/>
                        <a:cs typeface="Arial" panose="020B0604020202020204" pitchFamily="34" charset="0"/>
                      </a:endParaRP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spcBef>
                          <a:spcPts val="1500"/>
                        </a:spcBef>
                      </a:pPr>
                      <a:r>
                        <a:rPr lang="en-US" dirty="0">
                          <a:latin typeface="Arial" panose="020B0604020202020204" pitchFamily="34" charset="0"/>
                          <a:cs typeface="Arial" panose="020B0604020202020204" pitchFamily="34" charset="0"/>
                        </a:rPr>
                        <a:t>An unauthorized read of data is performed. An analysis of statistical data reveals underlying data.</a:t>
                      </a:r>
                      <a:endParaRPr lang="en-IN" sz="1400" dirty="0">
                        <a:latin typeface="Arial" panose="020B0604020202020204" pitchFamily="34" charset="0"/>
                        <a:cs typeface="Arial" panose="020B0604020202020204" pitchFamily="34" charset="0"/>
                      </a:endParaRP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spcBef>
                          <a:spcPts val="1500"/>
                        </a:spcBef>
                      </a:pPr>
                      <a:r>
                        <a:rPr lang="en-US" dirty="0">
                          <a:latin typeface="Arial" panose="020B0604020202020204" pitchFamily="34" charset="0"/>
                          <a:cs typeface="Arial" panose="020B0604020202020204" pitchFamily="34" charset="0"/>
                        </a:rPr>
                        <a:t>Existing files are modified or new files are fabricated.</a:t>
                      </a:r>
                      <a:endParaRPr lang="en-IN" sz="1400" dirty="0">
                        <a:latin typeface="Arial" panose="020B0604020202020204" pitchFamily="34" charset="0"/>
                        <a:cs typeface="Arial" panose="020B0604020202020204" pitchFamily="34" charset="0"/>
                      </a:endParaRP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11693409"/>
                  </a:ext>
                </a:extLst>
              </a:tr>
              <a:tr h="956574">
                <a:tc>
                  <a:txBody>
                    <a:bodyPr/>
                    <a:lstStyle/>
                    <a:p>
                      <a:pPr algn="r">
                        <a:spcBef>
                          <a:spcPts val="1500"/>
                        </a:spcBef>
                      </a:pPr>
                      <a:r>
                        <a:rPr lang="en-US" b="1" dirty="0">
                          <a:latin typeface="Arial" panose="020B0604020202020204" pitchFamily="34" charset="0"/>
                          <a:cs typeface="Arial" panose="020B0604020202020204" pitchFamily="34" charset="0"/>
                        </a:rPr>
                        <a:t>Communica-tion Lines and Networks</a:t>
                      </a:r>
                      <a:endParaRPr lang="en-US" sz="1400" b="1" noProof="0" dirty="0">
                        <a:latin typeface="Arial" panose="020B0604020202020204" pitchFamily="34" charset="0"/>
                        <a:cs typeface="Arial" panose="020B0604020202020204" pitchFamily="34" charset="0"/>
                      </a:endParaRP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spcBef>
                          <a:spcPts val="1500"/>
                        </a:spcBef>
                      </a:pPr>
                      <a:r>
                        <a:rPr lang="en-US" dirty="0">
                          <a:latin typeface="Arial" panose="020B0604020202020204" pitchFamily="34" charset="0"/>
                          <a:cs typeface="Arial" panose="020B0604020202020204" pitchFamily="34" charset="0"/>
                        </a:rPr>
                        <a:t>Messages are destroyed or deleted. Communication lines or networks are rendered unavailable.</a:t>
                      </a:r>
                      <a:endParaRPr lang="en-IN" sz="1400" dirty="0">
                        <a:latin typeface="Arial" panose="020B0604020202020204" pitchFamily="34" charset="0"/>
                        <a:cs typeface="Arial" panose="020B0604020202020204" pitchFamily="34" charset="0"/>
                      </a:endParaRP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spcBef>
                          <a:spcPts val="1500"/>
                        </a:spcBef>
                      </a:pPr>
                      <a:r>
                        <a:rPr lang="en-US" dirty="0">
                          <a:latin typeface="Arial" panose="020B0604020202020204" pitchFamily="34" charset="0"/>
                          <a:cs typeface="Arial" panose="020B0604020202020204" pitchFamily="34" charset="0"/>
                        </a:rPr>
                        <a:t>Messages are read. The traffic pattern of messages is observed.</a:t>
                      </a:r>
                      <a:endParaRPr lang="en-IN" sz="1400" dirty="0">
                        <a:latin typeface="Arial" panose="020B0604020202020204" pitchFamily="34" charset="0"/>
                        <a:cs typeface="Arial" panose="020B0604020202020204" pitchFamily="34" charset="0"/>
                      </a:endParaRP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spcBef>
                          <a:spcPts val="1500"/>
                        </a:spcBef>
                      </a:pPr>
                      <a:r>
                        <a:rPr lang="en-US" dirty="0">
                          <a:latin typeface="Arial" panose="020B0604020202020204" pitchFamily="34" charset="0"/>
                          <a:cs typeface="Arial" panose="020B0604020202020204" pitchFamily="34" charset="0"/>
                        </a:rPr>
                        <a:t>Messages are modified, delayed, reordered, or duplicated. False messages are fabricated.</a:t>
                      </a:r>
                      <a:endParaRPr lang="en-IN" sz="1400" dirty="0">
                        <a:latin typeface="Arial" panose="020B0604020202020204" pitchFamily="34" charset="0"/>
                        <a:cs typeface="Arial" panose="020B0604020202020204" pitchFamily="34" charset="0"/>
                      </a:endParaRPr>
                    </a:p>
                  </a:txBody>
                  <a:tcPr marL="88751" marR="887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642381839"/>
                  </a:ext>
                </a:extLst>
              </a:tr>
            </a:tbl>
          </a:graphicData>
        </a:graphic>
      </p:graphicFrame>
      <p:sp>
        <p:nvSpPr>
          <p:cNvPr id="3" name="Slide Number Placeholder 2">
            <a:extLst>
              <a:ext uri="{FF2B5EF4-FFF2-40B4-BE49-F238E27FC236}">
                <a16:creationId xmlns:a16="http://schemas.microsoft.com/office/drawing/2014/main" id="{C902B2FE-81C2-2DB3-ED5B-54D3F5AAA3D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24</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7787147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B5CC0A-09AB-6554-B823-BF5F16A7B44B}"/>
              </a:ext>
            </a:extLst>
          </p:cNvPr>
          <p:cNvSpPr>
            <a:spLocks noGrp="1"/>
          </p:cNvSpPr>
          <p:nvPr>
            <p:ph type="title"/>
          </p:nvPr>
        </p:nvSpPr>
        <p:spPr>
          <a:xfrm>
            <a:off x="438538" y="160927"/>
            <a:ext cx="8262550" cy="590349"/>
          </a:xfrm>
        </p:spPr>
        <p:txBody>
          <a:bodyPr wrap="square" lIns="0" tIns="18000" rIns="0" bIns="18000" anchor="ctr" anchorCtr="0">
            <a:spAutoFit/>
          </a:bodyPr>
          <a:lstStyle/>
          <a:p>
            <a:r>
              <a:rPr lang="en-US" dirty="0"/>
              <a:t>Passive and Active Attacks</a:t>
            </a:r>
          </a:p>
        </p:txBody>
      </p:sp>
      <p:sp>
        <p:nvSpPr>
          <p:cNvPr id="5" name="Content Placeholder 4">
            <a:extLst>
              <a:ext uri="{FF2B5EF4-FFF2-40B4-BE49-F238E27FC236}">
                <a16:creationId xmlns:a16="http://schemas.microsoft.com/office/drawing/2014/main" id="{C908D160-6E9C-1973-CD1D-E5BE85825442}"/>
              </a:ext>
            </a:extLst>
          </p:cNvPr>
          <p:cNvSpPr>
            <a:spLocks noGrp="1"/>
          </p:cNvSpPr>
          <p:nvPr>
            <p:ph sz="quarter" idx="13"/>
          </p:nvPr>
        </p:nvSpPr>
        <p:spPr>
          <a:xfrm>
            <a:off x="438538" y="987864"/>
            <a:ext cx="4058817" cy="5237775"/>
          </a:xfrm>
        </p:spPr>
        <p:txBody>
          <a:bodyPr wrap="square" lIns="0" tIns="18000" rIns="0" bIns="18000" anchor="ctr" anchorCtr="0">
            <a:spAutoFit/>
          </a:bodyPr>
          <a:lstStyle/>
          <a:p>
            <a:pPr marL="0" indent="0">
              <a:spcBef>
                <a:spcPts val="600"/>
              </a:spcBef>
              <a:buNone/>
            </a:pPr>
            <a:r>
              <a:rPr lang="en-US" sz="2200" b="1" dirty="0">
                <a:latin typeface="Arial" panose="020B0604020202020204" pitchFamily="34" charset="0"/>
                <a:cs typeface="Arial" panose="020B0604020202020204" pitchFamily="34" charset="0"/>
              </a:rPr>
              <a:t>Passive Attack</a:t>
            </a:r>
          </a:p>
          <a:p>
            <a:pPr marL="342900" indent="-342900">
              <a:spcBef>
                <a:spcPts val="600"/>
              </a:spcBef>
            </a:pPr>
            <a:r>
              <a:rPr lang="en-US" sz="2200" dirty="0">
                <a:latin typeface="Arial" panose="020B0604020202020204" pitchFamily="34" charset="0"/>
                <a:cs typeface="Arial" panose="020B0604020202020204" pitchFamily="34" charset="0"/>
              </a:rPr>
              <a:t>Attempts to learn or make use of information from the system, but it does not affect system resources</a:t>
            </a:r>
          </a:p>
          <a:p>
            <a:pPr marL="342900" indent="-342900">
              <a:spcBef>
                <a:spcPts val="600"/>
              </a:spcBef>
            </a:pPr>
            <a:r>
              <a:rPr lang="en-US" sz="2200" dirty="0">
                <a:latin typeface="Arial" panose="020B0604020202020204" pitchFamily="34" charset="0"/>
                <a:cs typeface="Arial" panose="020B0604020202020204" pitchFamily="34" charset="0"/>
              </a:rPr>
              <a:t>Eavesdropping on, or monitoring of, transmissions</a:t>
            </a:r>
          </a:p>
          <a:p>
            <a:pPr marL="342900" indent="-342900">
              <a:spcBef>
                <a:spcPts val="600"/>
              </a:spcBef>
            </a:pPr>
            <a:r>
              <a:rPr lang="en-US" sz="2200" dirty="0">
                <a:latin typeface="Arial" panose="020B0604020202020204" pitchFamily="34" charset="0"/>
                <a:cs typeface="Arial" panose="020B0604020202020204" pitchFamily="34" charset="0"/>
              </a:rPr>
              <a:t>Goal of attacker is to obtain information that is being transmitted</a:t>
            </a:r>
          </a:p>
          <a:p>
            <a:pPr marL="342900" indent="-342900">
              <a:spcBef>
                <a:spcPts val="600"/>
              </a:spcBef>
            </a:pPr>
            <a:r>
              <a:rPr lang="en-US" sz="2200" dirty="0">
                <a:latin typeface="Arial" panose="020B0604020202020204" pitchFamily="34" charset="0"/>
                <a:cs typeface="Arial" panose="020B0604020202020204" pitchFamily="34" charset="0"/>
              </a:rPr>
              <a:t>Two types:</a:t>
            </a:r>
          </a:p>
          <a:p>
            <a:pPr marL="829818" lvl="1" indent="-342900"/>
            <a:r>
              <a:rPr lang="en-US" sz="2200" dirty="0">
                <a:latin typeface="Arial" panose="020B0604020202020204" pitchFamily="34" charset="0"/>
                <a:cs typeface="Arial" panose="020B0604020202020204" pitchFamily="34" charset="0"/>
              </a:rPr>
              <a:t>Release of message contents</a:t>
            </a:r>
          </a:p>
          <a:p>
            <a:pPr marL="829818" lvl="1" indent="-342900"/>
            <a:r>
              <a:rPr lang="en-US" sz="2200" dirty="0">
                <a:latin typeface="Arial" panose="020B0604020202020204" pitchFamily="34" charset="0"/>
                <a:cs typeface="Arial" panose="020B0604020202020204" pitchFamily="34" charset="0"/>
              </a:rPr>
              <a:t>Traffic analysis</a:t>
            </a:r>
          </a:p>
        </p:txBody>
      </p:sp>
      <p:sp>
        <p:nvSpPr>
          <p:cNvPr id="3" name="Content Placeholder 2">
            <a:extLst>
              <a:ext uri="{FF2B5EF4-FFF2-40B4-BE49-F238E27FC236}">
                <a16:creationId xmlns:a16="http://schemas.microsoft.com/office/drawing/2014/main" id="{31A74EC8-3F69-B47C-7018-5A0EC7B7F12D}"/>
              </a:ext>
            </a:extLst>
          </p:cNvPr>
          <p:cNvSpPr>
            <a:spLocks noGrp="1"/>
          </p:cNvSpPr>
          <p:nvPr>
            <p:ph sz="quarter" idx="14"/>
          </p:nvPr>
        </p:nvSpPr>
        <p:spPr>
          <a:xfrm>
            <a:off x="4581328" y="995153"/>
            <a:ext cx="4119760" cy="4637611"/>
          </a:xfrm>
        </p:spPr>
        <p:txBody>
          <a:bodyPr wrap="square" lIns="0" tIns="18000" rIns="0" bIns="18000" anchor="ctr" anchorCtr="0">
            <a:spAutoFit/>
          </a:bodyPr>
          <a:lstStyle/>
          <a:p>
            <a:pPr marL="0" indent="0">
              <a:spcBef>
                <a:spcPts val="600"/>
              </a:spcBef>
              <a:buNone/>
            </a:pPr>
            <a:r>
              <a:rPr lang="en-US" sz="2200" b="1" dirty="0">
                <a:latin typeface="Arial" panose="020B0604020202020204" pitchFamily="34" charset="0"/>
                <a:cs typeface="Arial" panose="020B0604020202020204" pitchFamily="34" charset="0"/>
              </a:rPr>
              <a:t>Active Attack</a:t>
            </a:r>
          </a:p>
          <a:p>
            <a:pPr marL="342900" indent="-342900">
              <a:spcBef>
                <a:spcPts val="600"/>
              </a:spcBef>
            </a:pPr>
            <a:r>
              <a:rPr lang="en-US" sz="2200" dirty="0">
                <a:latin typeface="Arial" panose="020B0604020202020204" pitchFamily="34" charset="0"/>
                <a:cs typeface="Arial" panose="020B0604020202020204" pitchFamily="34" charset="0"/>
              </a:rPr>
              <a:t>Attempts to alter system resources or affect their operation</a:t>
            </a:r>
          </a:p>
          <a:p>
            <a:pPr marL="342900" indent="-342900">
              <a:spcBef>
                <a:spcPts val="600"/>
              </a:spcBef>
            </a:pPr>
            <a:r>
              <a:rPr lang="en-US" sz="2200" dirty="0">
                <a:latin typeface="Arial" panose="020B0604020202020204" pitchFamily="34" charset="0"/>
                <a:cs typeface="Arial" panose="020B0604020202020204" pitchFamily="34" charset="0"/>
              </a:rPr>
              <a:t>Involve some modification of the data stream or the creation of a false stream</a:t>
            </a:r>
          </a:p>
          <a:p>
            <a:pPr marL="342900" indent="-342900">
              <a:spcBef>
                <a:spcPts val="600"/>
              </a:spcBef>
            </a:pPr>
            <a:r>
              <a:rPr lang="en-US" sz="2200" dirty="0">
                <a:latin typeface="Arial" panose="020B0604020202020204" pitchFamily="34" charset="0"/>
                <a:cs typeface="Arial" panose="020B0604020202020204" pitchFamily="34" charset="0"/>
              </a:rPr>
              <a:t>Four categories:</a:t>
            </a:r>
          </a:p>
          <a:p>
            <a:pPr marL="829818" lvl="1" indent="-342900"/>
            <a:r>
              <a:rPr lang="en-US" sz="2200" dirty="0">
                <a:latin typeface="Arial" panose="020B0604020202020204" pitchFamily="34" charset="0"/>
                <a:cs typeface="Arial" panose="020B0604020202020204" pitchFamily="34" charset="0"/>
              </a:rPr>
              <a:t>Replay</a:t>
            </a:r>
          </a:p>
          <a:p>
            <a:pPr marL="829818" lvl="1" indent="-342900"/>
            <a:r>
              <a:rPr lang="en-US" sz="2200" dirty="0">
                <a:latin typeface="Arial" panose="020B0604020202020204" pitchFamily="34" charset="0"/>
                <a:cs typeface="Arial" panose="020B0604020202020204" pitchFamily="34" charset="0"/>
              </a:rPr>
              <a:t>Masquerade</a:t>
            </a:r>
          </a:p>
          <a:p>
            <a:pPr marL="829818" lvl="1" indent="-342900"/>
            <a:r>
              <a:rPr lang="en-US" sz="2200" dirty="0">
                <a:latin typeface="Arial" panose="020B0604020202020204" pitchFamily="34" charset="0"/>
                <a:cs typeface="Arial" panose="020B0604020202020204" pitchFamily="34" charset="0"/>
              </a:rPr>
              <a:t>Modification of messages</a:t>
            </a:r>
          </a:p>
          <a:p>
            <a:pPr marL="829818" lvl="1" indent="-342900"/>
            <a:r>
              <a:rPr lang="en-US" sz="2200" dirty="0">
                <a:latin typeface="Arial" panose="020B0604020202020204" pitchFamily="34" charset="0"/>
                <a:cs typeface="Arial" panose="020B0604020202020204" pitchFamily="34" charset="0"/>
              </a:rPr>
              <a:t>Denial of service</a:t>
            </a:r>
          </a:p>
        </p:txBody>
      </p:sp>
      <p:sp>
        <p:nvSpPr>
          <p:cNvPr id="2" name="TextBox 1">
            <a:extLst>
              <a:ext uri="{FF2B5EF4-FFF2-40B4-BE49-F238E27FC236}">
                <a16:creationId xmlns:a16="http://schemas.microsoft.com/office/drawing/2014/main" id="{664F0EB6-279B-8E3C-8334-2321169DBE91}"/>
              </a:ext>
            </a:extLst>
          </p:cNvPr>
          <p:cNvSpPr txBox="1"/>
          <p:nvPr/>
        </p:nvSpPr>
        <p:spPr>
          <a:xfrm>
            <a:off x="3759200" y="5600154"/>
            <a:ext cx="4941888" cy="830997"/>
          </a:xfrm>
          <a:prstGeom prst="rect">
            <a:avLst/>
          </a:prstGeom>
          <a:noFill/>
          <a:ln>
            <a:noFill/>
          </a:ln>
        </p:spPr>
        <p:txBody>
          <a:bodyPr wrap="square" rtlCol="0">
            <a:spAutoFit/>
          </a:bodyPr>
          <a:lstStyle/>
          <a:p>
            <a:r>
              <a:rPr lang="en-US" sz="2400" b="1" dirty="0"/>
              <a:t>Passive can be prevented; active must be detected</a:t>
            </a:r>
          </a:p>
        </p:txBody>
      </p:sp>
      <p:sp>
        <p:nvSpPr>
          <p:cNvPr id="6" name="Slide Number Placeholder 5">
            <a:extLst>
              <a:ext uri="{FF2B5EF4-FFF2-40B4-BE49-F238E27FC236}">
                <a16:creationId xmlns:a16="http://schemas.microsoft.com/office/drawing/2014/main" id="{D5026DF1-B8E2-CE2C-1A0C-14704062431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25</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890118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B5CC0A-09AB-6554-B823-BF5F16A7B44B}"/>
              </a:ext>
            </a:extLst>
          </p:cNvPr>
          <p:cNvSpPr>
            <a:spLocks noGrp="1"/>
          </p:cNvSpPr>
          <p:nvPr>
            <p:ph type="title"/>
          </p:nvPr>
        </p:nvSpPr>
        <p:spPr>
          <a:xfrm>
            <a:off x="438538" y="160927"/>
            <a:ext cx="8262550" cy="590349"/>
          </a:xfrm>
        </p:spPr>
        <p:txBody>
          <a:bodyPr wrap="square" lIns="0" tIns="18000" rIns="0" bIns="18000" anchor="ctr" anchorCtr="0">
            <a:spAutoFit/>
          </a:bodyPr>
          <a:lstStyle/>
          <a:p>
            <a:r>
              <a:rPr lang="en-US" dirty="0"/>
              <a:t>Table 1.4 </a:t>
            </a:r>
            <a:r>
              <a:rPr lang="en-US" sz="2800" dirty="0"/>
              <a:t>(1 of 7)</a:t>
            </a:r>
            <a:endParaRPr lang="en-US" dirty="0"/>
          </a:p>
        </p:txBody>
      </p:sp>
      <p:sp>
        <p:nvSpPr>
          <p:cNvPr id="5" name="Content Placeholder 4">
            <a:extLst>
              <a:ext uri="{FF2B5EF4-FFF2-40B4-BE49-F238E27FC236}">
                <a16:creationId xmlns:a16="http://schemas.microsoft.com/office/drawing/2014/main" id="{C908D160-6E9C-1973-CD1D-E5BE85825442}"/>
              </a:ext>
            </a:extLst>
          </p:cNvPr>
          <p:cNvSpPr>
            <a:spLocks noGrp="1"/>
          </p:cNvSpPr>
          <p:nvPr>
            <p:ph sz="quarter" idx="13"/>
          </p:nvPr>
        </p:nvSpPr>
        <p:spPr>
          <a:xfrm>
            <a:off x="438538" y="1061440"/>
            <a:ext cx="8260496" cy="313350"/>
          </a:xfrm>
        </p:spPr>
        <p:txBody>
          <a:bodyPr wrap="square" lIns="0" tIns="18000" rIns="0" bIns="18000" anchor="ctr" anchorCtr="0">
            <a:spAutoFit/>
          </a:bodyPr>
          <a:lstStyle/>
          <a:p>
            <a:pPr marL="0" indent="0">
              <a:spcBef>
                <a:spcPts val="600"/>
              </a:spcBef>
              <a:buNone/>
            </a:pPr>
            <a:r>
              <a:rPr lang="en-US" sz="1800" b="1" dirty="0">
                <a:latin typeface="Arial" panose="020B0604020202020204" pitchFamily="34" charset="0"/>
                <a:cs typeface="Arial" panose="020B0604020202020204" pitchFamily="34" charset="0"/>
              </a:rPr>
              <a:t>Security Requirements</a:t>
            </a:r>
            <a:endParaRPr lang="en-US"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31A74EC8-3F69-B47C-7018-5A0EC7B7F12D}"/>
              </a:ext>
            </a:extLst>
          </p:cNvPr>
          <p:cNvSpPr>
            <a:spLocks noGrp="1"/>
          </p:cNvSpPr>
          <p:nvPr>
            <p:ph sz="quarter" idx="14"/>
          </p:nvPr>
        </p:nvSpPr>
        <p:spPr>
          <a:xfrm>
            <a:off x="440592" y="1497372"/>
            <a:ext cx="8260496" cy="4622222"/>
          </a:xfrm>
        </p:spPr>
        <p:txBody>
          <a:bodyPr wrap="square" lIns="0" tIns="18000" rIns="0" bIns="18000" anchor="ctr" anchorCtr="0">
            <a:spAutoFit/>
          </a:bodyPr>
          <a:lstStyle/>
          <a:p>
            <a:pPr marL="0" indent="0">
              <a:spcBef>
                <a:spcPts val="600"/>
              </a:spcBef>
              <a:buNone/>
            </a:pPr>
            <a:r>
              <a:rPr lang="en-US" sz="1800" b="1" dirty="0">
                <a:latin typeface="Arial" panose="020B0604020202020204" pitchFamily="34" charset="0"/>
                <a:cs typeface="Arial" panose="020B0604020202020204" pitchFamily="34" charset="0"/>
              </a:rPr>
              <a:t>Access Control:</a:t>
            </a:r>
            <a:r>
              <a:rPr lang="en-US" sz="1800" dirty="0">
                <a:latin typeface="Arial" panose="020B0604020202020204" pitchFamily="34" charset="0"/>
                <a:cs typeface="Arial" panose="020B0604020202020204" pitchFamily="34" charset="0"/>
              </a:rPr>
              <a:t> Limit information system access to authorized users, processes acting on behalf of authorized users, or devices (including other information systems) and to the types of transactions and functions that authorized users are permitted to exercise.</a:t>
            </a:r>
          </a:p>
          <a:p>
            <a:pPr marL="0" indent="0">
              <a:spcBef>
                <a:spcPts val="600"/>
              </a:spcBef>
              <a:buNone/>
            </a:pPr>
            <a:r>
              <a:rPr lang="en-US" sz="1800" b="1" dirty="0">
                <a:latin typeface="Arial" panose="020B0604020202020204" pitchFamily="34" charset="0"/>
                <a:cs typeface="Arial" panose="020B0604020202020204" pitchFamily="34" charset="0"/>
              </a:rPr>
              <a:t>Awareness and Training:</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i</a:t>
            </a:r>
            <a:r>
              <a:rPr lang="en-US" sz="1800" dirty="0">
                <a:latin typeface="Arial" panose="020B0604020202020204" pitchFamily="34" charset="0"/>
                <a:cs typeface="Arial" panose="020B0604020202020204" pitchFamily="34" charset="0"/>
              </a:rPr>
              <a:t>) Ensure that managers and users of organizational information systems are made aware of the security risks associated with their activities and of the applicable laws, regulations, and policies related to the security of organizational information systems; and (ii) ensure that personnel are adequately trained to carry out their assigned information security-related duties and responsibilities.</a:t>
            </a:r>
          </a:p>
          <a:p>
            <a:pPr marL="0" indent="0">
              <a:spcBef>
                <a:spcPts val="600"/>
              </a:spcBef>
              <a:buNone/>
            </a:pPr>
            <a:r>
              <a:rPr lang="en-US" sz="1800" b="1" dirty="0">
                <a:latin typeface="Arial" panose="020B0604020202020204" pitchFamily="34" charset="0"/>
                <a:cs typeface="Arial" panose="020B0604020202020204" pitchFamily="34" charset="0"/>
              </a:rPr>
              <a:t>Audit and Accountability:</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i</a:t>
            </a:r>
            <a:r>
              <a:rPr lang="en-US" sz="1800" dirty="0">
                <a:latin typeface="Arial" panose="020B0604020202020204" pitchFamily="34" charset="0"/>
                <a:cs typeface="Arial" panose="020B0604020202020204" pitchFamily="34" charset="0"/>
              </a:rPr>
              <a:t>) Create, protect, and retain information system audit records to the extent needed to enable the monitoring, analysis, investigation, and reporting of unlawful, unauthorized, or inappropriate information system activity; and (ii) ensure that the actions of individual information system users can be uniquely traced to those users so they can be held accountable for their actions.</a:t>
            </a:r>
            <a:endParaRPr lang="en-US"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677EAF72-5027-9922-880E-4FF156276ABF}"/>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26</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8473587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B5CC0A-09AB-6554-B823-BF5F16A7B44B}"/>
              </a:ext>
            </a:extLst>
          </p:cNvPr>
          <p:cNvSpPr>
            <a:spLocks noGrp="1"/>
          </p:cNvSpPr>
          <p:nvPr>
            <p:ph type="title"/>
          </p:nvPr>
        </p:nvSpPr>
        <p:spPr>
          <a:xfrm>
            <a:off x="438538" y="160927"/>
            <a:ext cx="8262550" cy="590349"/>
          </a:xfrm>
        </p:spPr>
        <p:txBody>
          <a:bodyPr wrap="square" lIns="0" tIns="18000" rIns="0" bIns="18000" anchor="ctr" anchorCtr="0">
            <a:spAutoFit/>
          </a:bodyPr>
          <a:lstStyle/>
          <a:p>
            <a:r>
              <a:rPr lang="en-US" dirty="0"/>
              <a:t>Table 1.4 </a:t>
            </a:r>
            <a:r>
              <a:rPr lang="en-US" sz="2800" dirty="0"/>
              <a:t>(2 of 7)</a:t>
            </a:r>
            <a:endParaRPr lang="en-US" dirty="0"/>
          </a:p>
        </p:txBody>
      </p:sp>
      <p:sp>
        <p:nvSpPr>
          <p:cNvPr id="5" name="Content Placeholder 4">
            <a:extLst>
              <a:ext uri="{FF2B5EF4-FFF2-40B4-BE49-F238E27FC236}">
                <a16:creationId xmlns:a16="http://schemas.microsoft.com/office/drawing/2014/main" id="{C908D160-6E9C-1973-CD1D-E5BE85825442}"/>
              </a:ext>
            </a:extLst>
          </p:cNvPr>
          <p:cNvSpPr>
            <a:spLocks noGrp="1"/>
          </p:cNvSpPr>
          <p:nvPr>
            <p:ph sz="quarter" idx="13"/>
          </p:nvPr>
        </p:nvSpPr>
        <p:spPr>
          <a:xfrm>
            <a:off x="438538" y="1046051"/>
            <a:ext cx="8262550" cy="344128"/>
          </a:xfrm>
        </p:spPr>
        <p:txBody>
          <a:bodyPr wrap="square" lIns="0" tIns="18000" rIns="0" bIns="18000" anchor="ctr" anchorCtr="0">
            <a:spAutoFit/>
          </a:bodyPr>
          <a:lstStyle/>
          <a:p>
            <a:pPr marL="0" indent="0">
              <a:spcBef>
                <a:spcPts val="600"/>
              </a:spcBef>
              <a:buNone/>
            </a:pPr>
            <a:r>
              <a:rPr lang="en-US" sz="2000" b="1" dirty="0">
                <a:latin typeface="Arial" panose="020B0604020202020204" pitchFamily="34" charset="0"/>
                <a:cs typeface="Arial" panose="020B0604020202020204" pitchFamily="34" charset="0"/>
              </a:rPr>
              <a:t>Security Requirements</a:t>
            </a:r>
            <a:endParaRPr lang="en-US" sz="28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31A74EC8-3F69-B47C-7018-5A0EC7B7F12D}"/>
              </a:ext>
            </a:extLst>
          </p:cNvPr>
          <p:cNvSpPr>
            <a:spLocks noGrp="1"/>
          </p:cNvSpPr>
          <p:nvPr>
            <p:ph sz="quarter" idx="14"/>
          </p:nvPr>
        </p:nvSpPr>
        <p:spPr>
          <a:xfrm>
            <a:off x="440592" y="1490163"/>
            <a:ext cx="8260496" cy="4729944"/>
          </a:xfrm>
        </p:spPr>
        <p:txBody>
          <a:bodyPr wrap="square" lIns="0" tIns="18000" rIns="0" bIns="18000" anchor="ctr" anchorCtr="0">
            <a:spAutoFit/>
          </a:bodyPr>
          <a:lstStyle/>
          <a:p>
            <a:pPr marL="0" indent="0">
              <a:spcBef>
                <a:spcPts val="600"/>
              </a:spcBef>
              <a:buNone/>
            </a:pPr>
            <a:r>
              <a:rPr lang="en-US" sz="2000" b="1" dirty="0">
                <a:latin typeface="Arial" panose="020B0604020202020204" pitchFamily="34" charset="0"/>
                <a:cs typeface="Arial" panose="020B0604020202020204" pitchFamily="34" charset="0"/>
              </a:rPr>
              <a:t>Certification, Accreditation, and Security Assessments:</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i</a:t>
            </a:r>
            <a:r>
              <a:rPr lang="en-US" sz="2000" dirty="0">
                <a:latin typeface="Arial" panose="020B0604020202020204" pitchFamily="34" charset="0"/>
                <a:cs typeface="Arial" panose="020B0604020202020204" pitchFamily="34" charset="0"/>
              </a:rPr>
              <a:t>) Periodically assess the security controls in organizational information systems to determine if the controls are effective in their application; (ii) develop and implement plans of action designed to correct deficiencies and reduce or eliminate vulnerabilities in organizational information systems; (iii) authorize the operation of organizational information systems and any associated information system connections; and (iv) monitor information system security controls on an ongoing basis to ensure the continued effectiveness of the controls.</a:t>
            </a:r>
          </a:p>
          <a:p>
            <a:pPr marL="0" indent="0">
              <a:spcBef>
                <a:spcPts val="600"/>
              </a:spcBef>
              <a:buNone/>
            </a:pPr>
            <a:r>
              <a:rPr lang="en-US" sz="2000" b="1" dirty="0">
                <a:latin typeface="Arial" panose="020B0604020202020204" pitchFamily="34" charset="0"/>
                <a:cs typeface="Arial" panose="020B0604020202020204" pitchFamily="34" charset="0"/>
              </a:rPr>
              <a:t>Configuration Management: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i</a:t>
            </a:r>
            <a:r>
              <a:rPr lang="en-US" sz="2000" dirty="0">
                <a:latin typeface="Arial" panose="020B0604020202020204" pitchFamily="34" charset="0"/>
                <a:cs typeface="Arial" panose="020B0604020202020204" pitchFamily="34" charset="0"/>
              </a:rPr>
              <a:t>) Establish and maintain baseline configurations and inventories of organizational information systems (including hardware, software, firmware, and documentation) throughout the respective system development life cycles; and (ii) establish and enforce security configuration settings for information technology products employed in organizational information systems.</a:t>
            </a:r>
          </a:p>
        </p:txBody>
      </p:sp>
      <p:sp>
        <p:nvSpPr>
          <p:cNvPr id="2" name="Slide Number Placeholder 1">
            <a:extLst>
              <a:ext uri="{FF2B5EF4-FFF2-40B4-BE49-F238E27FC236}">
                <a16:creationId xmlns:a16="http://schemas.microsoft.com/office/drawing/2014/main" id="{116E968A-05DC-0165-0F89-7739163A5A59}"/>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27</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9491982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B5CC0A-09AB-6554-B823-BF5F16A7B44B}"/>
              </a:ext>
            </a:extLst>
          </p:cNvPr>
          <p:cNvSpPr>
            <a:spLocks noGrp="1"/>
          </p:cNvSpPr>
          <p:nvPr>
            <p:ph type="title"/>
          </p:nvPr>
        </p:nvSpPr>
        <p:spPr>
          <a:xfrm>
            <a:off x="438538" y="160927"/>
            <a:ext cx="8262550" cy="590349"/>
          </a:xfrm>
        </p:spPr>
        <p:txBody>
          <a:bodyPr wrap="square" lIns="0" tIns="18000" rIns="0" bIns="18000" anchor="ctr" anchorCtr="0">
            <a:spAutoFit/>
          </a:bodyPr>
          <a:lstStyle/>
          <a:p>
            <a:r>
              <a:rPr lang="en-US" dirty="0"/>
              <a:t>Table 1.4 </a:t>
            </a:r>
            <a:r>
              <a:rPr lang="en-US" sz="2800" dirty="0"/>
              <a:t>(3 of 7)</a:t>
            </a:r>
            <a:endParaRPr lang="en-US" dirty="0"/>
          </a:p>
        </p:txBody>
      </p:sp>
      <p:sp>
        <p:nvSpPr>
          <p:cNvPr id="5" name="Content Placeholder 4">
            <a:extLst>
              <a:ext uri="{FF2B5EF4-FFF2-40B4-BE49-F238E27FC236}">
                <a16:creationId xmlns:a16="http://schemas.microsoft.com/office/drawing/2014/main" id="{C908D160-6E9C-1973-CD1D-E5BE85825442}"/>
              </a:ext>
            </a:extLst>
          </p:cNvPr>
          <p:cNvSpPr>
            <a:spLocks noGrp="1"/>
          </p:cNvSpPr>
          <p:nvPr>
            <p:ph sz="quarter" idx="13"/>
          </p:nvPr>
        </p:nvSpPr>
        <p:spPr>
          <a:xfrm>
            <a:off x="438538" y="1046051"/>
            <a:ext cx="8262550" cy="344128"/>
          </a:xfrm>
        </p:spPr>
        <p:txBody>
          <a:bodyPr wrap="square" lIns="0" tIns="18000" rIns="0" bIns="18000" anchor="ctr" anchorCtr="0">
            <a:spAutoFit/>
          </a:bodyPr>
          <a:lstStyle/>
          <a:p>
            <a:pPr marL="0" indent="0">
              <a:spcBef>
                <a:spcPts val="600"/>
              </a:spcBef>
              <a:buNone/>
            </a:pPr>
            <a:r>
              <a:rPr lang="en-US" sz="2000" b="1" dirty="0">
                <a:latin typeface="Arial" panose="020B0604020202020204" pitchFamily="34" charset="0"/>
                <a:cs typeface="Arial" panose="020B0604020202020204" pitchFamily="34" charset="0"/>
              </a:rPr>
              <a:t>Security Requirements</a:t>
            </a:r>
            <a:endParaRPr lang="en-US" sz="28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31A74EC8-3F69-B47C-7018-5A0EC7B7F12D}"/>
              </a:ext>
            </a:extLst>
          </p:cNvPr>
          <p:cNvSpPr>
            <a:spLocks noGrp="1"/>
          </p:cNvSpPr>
          <p:nvPr>
            <p:ph sz="quarter" idx="14"/>
          </p:nvPr>
        </p:nvSpPr>
        <p:spPr>
          <a:xfrm>
            <a:off x="440592" y="1493613"/>
            <a:ext cx="8260496" cy="4499112"/>
          </a:xfrm>
        </p:spPr>
        <p:txBody>
          <a:bodyPr wrap="square" lIns="0" tIns="18000" rIns="0" bIns="18000" anchor="ctr" anchorCtr="0">
            <a:spAutoFit/>
          </a:bodyPr>
          <a:lstStyle/>
          <a:p>
            <a:pPr marL="0" indent="0">
              <a:spcBef>
                <a:spcPts val="600"/>
              </a:spcBef>
              <a:buNone/>
            </a:pPr>
            <a:r>
              <a:rPr lang="en-US" sz="2000" b="1" dirty="0">
                <a:latin typeface="Arial" panose="020B0604020202020204" pitchFamily="34" charset="0"/>
                <a:cs typeface="Arial" panose="020B0604020202020204" pitchFamily="34" charset="0"/>
              </a:rPr>
              <a:t>Contingency Planning:</a:t>
            </a:r>
            <a:r>
              <a:rPr lang="en-US" sz="2000" dirty="0">
                <a:latin typeface="Arial" panose="020B0604020202020204" pitchFamily="34" charset="0"/>
                <a:cs typeface="Arial" panose="020B0604020202020204" pitchFamily="34" charset="0"/>
              </a:rPr>
              <a:t> Establish, maintain, and implement plans for emergency response, backup operations, and postdisaster recovery for organizational information systems to ensure the availability of critical information resources and continuity of operations in emergency situations.</a:t>
            </a:r>
          </a:p>
          <a:p>
            <a:pPr marL="0" indent="0">
              <a:spcBef>
                <a:spcPts val="600"/>
              </a:spcBef>
              <a:buNone/>
            </a:pPr>
            <a:r>
              <a:rPr lang="en-US" sz="2000" b="1" dirty="0">
                <a:latin typeface="Arial" panose="020B0604020202020204" pitchFamily="34" charset="0"/>
                <a:cs typeface="Arial" panose="020B0604020202020204" pitchFamily="34" charset="0"/>
              </a:rPr>
              <a:t>Identification and Authentication:</a:t>
            </a:r>
            <a:r>
              <a:rPr lang="en-US" sz="2000" dirty="0">
                <a:latin typeface="Arial" panose="020B0604020202020204" pitchFamily="34" charset="0"/>
                <a:cs typeface="Arial" panose="020B0604020202020204" pitchFamily="34" charset="0"/>
              </a:rPr>
              <a:t> Identify information system users, processes acting on behalf of users, or devices, and authenticate (or verify) the identities of those users, processes, or devices, as a prerequisite to allowing access to organizational information systems.</a:t>
            </a:r>
          </a:p>
          <a:p>
            <a:pPr marL="0" indent="0">
              <a:spcBef>
                <a:spcPts val="600"/>
              </a:spcBef>
              <a:buNone/>
            </a:pPr>
            <a:r>
              <a:rPr lang="en-US" sz="2000" b="1" dirty="0">
                <a:latin typeface="Arial" panose="020B0604020202020204" pitchFamily="34" charset="0"/>
                <a:cs typeface="Arial" panose="020B0604020202020204" pitchFamily="34" charset="0"/>
              </a:rPr>
              <a:t>Incident Response:</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i</a:t>
            </a:r>
            <a:r>
              <a:rPr lang="en-US" sz="2000" dirty="0">
                <a:latin typeface="Arial" panose="020B0604020202020204" pitchFamily="34" charset="0"/>
                <a:cs typeface="Arial" panose="020B0604020202020204" pitchFamily="34" charset="0"/>
              </a:rPr>
              <a:t>) Establish an operational incident-handling capability for organizational information systems that includes adequate preparation, detection, analysis, containment, recovery, and user-response activities; and (ii) track, document, and report incidents to appropriate organizational officials and/or authorities.</a:t>
            </a:r>
            <a:endParaRPr lang="en-US" sz="28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6016C486-776E-217E-B25B-A01485042A57}"/>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28</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5737159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B5CC0A-09AB-6554-B823-BF5F16A7B44B}"/>
              </a:ext>
            </a:extLst>
          </p:cNvPr>
          <p:cNvSpPr>
            <a:spLocks noGrp="1"/>
          </p:cNvSpPr>
          <p:nvPr>
            <p:ph type="title"/>
          </p:nvPr>
        </p:nvSpPr>
        <p:spPr>
          <a:xfrm>
            <a:off x="438538" y="160927"/>
            <a:ext cx="8262550" cy="590349"/>
          </a:xfrm>
        </p:spPr>
        <p:txBody>
          <a:bodyPr wrap="square" lIns="0" tIns="18000" rIns="0" bIns="18000" anchor="ctr" anchorCtr="0">
            <a:spAutoFit/>
          </a:bodyPr>
          <a:lstStyle/>
          <a:p>
            <a:r>
              <a:rPr lang="en-US" dirty="0"/>
              <a:t>Table 1.4 </a:t>
            </a:r>
            <a:r>
              <a:rPr lang="en-US" sz="2800" dirty="0"/>
              <a:t>(4 of 7)</a:t>
            </a:r>
            <a:endParaRPr lang="en-US" dirty="0"/>
          </a:p>
        </p:txBody>
      </p:sp>
      <p:sp>
        <p:nvSpPr>
          <p:cNvPr id="5" name="Content Placeholder 4">
            <a:extLst>
              <a:ext uri="{FF2B5EF4-FFF2-40B4-BE49-F238E27FC236}">
                <a16:creationId xmlns:a16="http://schemas.microsoft.com/office/drawing/2014/main" id="{C908D160-6E9C-1973-CD1D-E5BE85825442}"/>
              </a:ext>
            </a:extLst>
          </p:cNvPr>
          <p:cNvSpPr>
            <a:spLocks noGrp="1"/>
          </p:cNvSpPr>
          <p:nvPr>
            <p:ph sz="quarter" idx="13"/>
          </p:nvPr>
        </p:nvSpPr>
        <p:spPr>
          <a:xfrm>
            <a:off x="438538" y="1046051"/>
            <a:ext cx="8262550" cy="344128"/>
          </a:xfrm>
        </p:spPr>
        <p:txBody>
          <a:bodyPr wrap="square" lIns="0" tIns="18000" rIns="0" bIns="18000" anchor="ctr" anchorCtr="0">
            <a:spAutoFit/>
          </a:bodyPr>
          <a:lstStyle/>
          <a:p>
            <a:pPr marL="0" indent="0">
              <a:spcBef>
                <a:spcPts val="600"/>
              </a:spcBef>
              <a:buNone/>
            </a:pPr>
            <a:r>
              <a:rPr lang="en-US" sz="2000" b="1" dirty="0">
                <a:latin typeface="Arial" panose="020B0604020202020204" pitchFamily="34" charset="0"/>
                <a:cs typeface="Arial" panose="020B0604020202020204" pitchFamily="34" charset="0"/>
              </a:rPr>
              <a:t>Security Requirements</a:t>
            </a:r>
            <a:endParaRPr lang="en-US" sz="28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31A74EC8-3F69-B47C-7018-5A0EC7B7F12D}"/>
              </a:ext>
            </a:extLst>
          </p:cNvPr>
          <p:cNvSpPr>
            <a:spLocks noGrp="1"/>
          </p:cNvSpPr>
          <p:nvPr>
            <p:ph sz="quarter" idx="14"/>
          </p:nvPr>
        </p:nvSpPr>
        <p:spPr>
          <a:xfrm>
            <a:off x="440592" y="1498346"/>
            <a:ext cx="8260496" cy="4806888"/>
          </a:xfrm>
        </p:spPr>
        <p:txBody>
          <a:bodyPr wrap="square" lIns="0" tIns="18000" rIns="0" bIns="18000" anchor="ctr" anchorCtr="0">
            <a:spAutoFit/>
          </a:bodyPr>
          <a:lstStyle/>
          <a:p>
            <a:pPr marL="0" indent="0">
              <a:spcBef>
                <a:spcPts val="600"/>
              </a:spcBef>
              <a:buNone/>
            </a:pPr>
            <a:r>
              <a:rPr lang="en-US" sz="2000" b="1" dirty="0">
                <a:latin typeface="Arial" panose="020B0604020202020204" pitchFamily="34" charset="0"/>
                <a:cs typeface="Arial" panose="020B0604020202020204" pitchFamily="34" charset="0"/>
              </a:rPr>
              <a:t>Maintenance:</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i</a:t>
            </a:r>
            <a:r>
              <a:rPr lang="en-US" sz="2000" dirty="0">
                <a:latin typeface="Arial" panose="020B0604020202020204" pitchFamily="34" charset="0"/>
                <a:cs typeface="Arial" panose="020B0604020202020204" pitchFamily="34" charset="0"/>
              </a:rPr>
              <a:t>) Perform periodic and timely maintenance on organizational information systems; and (ii) provide effective controls on the tools, techniques, mechanisms, and personnel used to conduct information system maintenance.</a:t>
            </a:r>
          </a:p>
          <a:p>
            <a:pPr marL="0" indent="0">
              <a:spcBef>
                <a:spcPts val="600"/>
              </a:spcBef>
              <a:buNone/>
            </a:pPr>
            <a:r>
              <a:rPr lang="en-US" sz="2000" b="1" dirty="0">
                <a:latin typeface="Arial" panose="020B0604020202020204" pitchFamily="34" charset="0"/>
                <a:cs typeface="Arial" panose="020B0604020202020204" pitchFamily="34" charset="0"/>
              </a:rPr>
              <a:t>Media Protection: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i</a:t>
            </a:r>
            <a:r>
              <a:rPr lang="en-US" sz="2000" dirty="0">
                <a:latin typeface="Arial" panose="020B0604020202020204" pitchFamily="34" charset="0"/>
                <a:cs typeface="Arial" panose="020B0604020202020204" pitchFamily="34" charset="0"/>
              </a:rPr>
              <a:t>) Protect information system media, both paper and digital; (ii) limit access to information on information system media to authorized users; and (iii) sanitize or destroy information system media before disposal or release for reuse.</a:t>
            </a:r>
          </a:p>
          <a:p>
            <a:pPr marL="0" indent="0">
              <a:spcBef>
                <a:spcPts val="600"/>
              </a:spcBef>
              <a:buNone/>
            </a:pPr>
            <a:r>
              <a:rPr lang="en-US" sz="2000" b="1" dirty="0">
                <a:latin typeface="Arial" panose="020B0604020202020204" pitchFamily="34" charset="0"/>
                <a:cs typeface="Arial" panose="020B0604020202020204" pitchFamily="34" charset="0"/>
              </a:rPr>
              <a:t>Physical and Environmental Protection: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i</a:t>
            </a:r>
            <a:r>
              <a:rPr lang="en-US" sz="2000" dirty="0">
                <a:latin typeface="Arial" panose="020B0604020202020204" pitchFamily="34" charset="0"/>
                <a:cs typeface="Arial" panose="020B0604020202020204" pitchFamily="34" charset="0"/>
              </a:rPr>
              <a:t>) Limit physical access to information systems, equipment, and the respective operating environments to authorized individuals; (ii) protect the physical plant and support infrastructure for information systems; (iii) provide supporting utilities for information systems; (iv) protect information systems against environmental hazards; and (v) provide appropriate environmental controls in facilities containing information systems.</a:t>
            </a:r>
            <a:endParaRPr lang="en-US" sz="28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006CAFF2-E844-1FED-59F2-344C9AF47EBD}"/>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29</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8025378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B5CC0A-09AB-6554-B823-BF5F16A7B44B}"/>
              </a:ext>
            </a:extLst>
          </p:cNvPr>
          <p:cNvSpPr>
            <a:spLocks noGrp="1"/>
          </p:cNvSpPr>
          <p:nvPr>
            <p:ph type="title"/>
          </p:nvPr>
        </p:nvSpPr>
        <p:spPr>
          <a:xfrm>
            <a:off x="438538" y="160927"/>
            <a:ext cx="8262550" cy="590349"/>
          </a:xfrm>
        </p:spPr>
        <p:txBody>
          <a:bodyPr wrap="square" lIns="0" tIns="18000" rIns="0" bIns="18000" anchor="ctr" anchorCtr="0">
            <a:spAutoFit/>
          </a:bodyPr>
          <a:lstStyle/>
          <a:p>
            <a:r>
              <a:rPr lang="en-US" dirty="0"/>
              <a:t>Table 1.4 </a:t>
            </a:r>
            <a:r>
              <a:rPr lang="en-US" sz="2800" dirty="0"/>
              <a:t>(5 of 7)</a:t>
            </a:r>
            <a:endParaRPr lang="en-US" dirty="0"/>
          </a:p>
        </p:txBody>
      </p:sp>
      <p:sp>
        <p:nvSpPr>
          <p:cNvPr id="5" name="Content Placeholder 4">
            <a:extLst>
              <a:ext uri="{FF2B5EF4-FFF2-40B4-BE49-F238E27FC236}">
                <a16:creationId xmlns:a16="http://schemas.microsoft.com/office/drawing/2014/main" id="{C908D160-6E9C-1973-CD1D-E5BE85825442}"/>
              </a:ext>
            </a:extLst>
          </p:cNvPr>
          <p:cNvSpPr>
            <a:spLocks noGrp="1"/>
          </p:cNvSpPr>
          <p:nvPr>
            <p:ph sz="quarter" idx="13"/>
          </p:nvPr>
        </p:nvSpPr>
        <p:spPr>
          <a:xfrm>
            <a:off x="438538" y="1061440"/>
            <a:ext cx="8262550" cy="313350"/>
          </a:xfrm>
        </p:spPr>
        <p:txBody>
          <a:bodyPr wrap="square" lIns="0" tIns="18000" rIns="0" bIns="18000" anchor="ctr" anchorCtr="0">
            <a:spAutoFit/>
          </a:bodyPr>
          <a:lstStyle/>
          <a:p>
            <a:pPr marL="0" indent="0">
              <a:spcBef>
                <a:spcPts val="600"/>
              </a:spcBef>
              <a:buNone/>
            </a:pPr>
            <a:r>
              <a:rPr lang="en-US" sz="1800" b="1" dirty="0">
                <a:latin typeface="Arial" panose="020B0604020202020204" pitchFamily="34" charset="0"/>
                <a:cs typeface="Arial" panose="020B0604020202020204" pitchFamily="34" charset="0"/>
              </a:rPr>
              <a:t>Security Requirements</a:t>
            </a:r>
            <a:endParaRPr lang="en-US"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31A74EC8-3F69-B47C-7018-5A0EC7B7F12D}"/>
              </a:ext>
            </a:extLst>
          </p:cNvPr>
          <p:cNvSpPr>
            <a:spLocks noGrp="1"/>
          </p:cNvSpPr>
          <p:nvPr>
            <p:ph sz="quarter" idx="14"/>
          </p:nvPr>
        </p:nvSpPr>
        <p:spPr>
          <a:xfrm>
            <a:off x="440592" y="1542565"/>
            <a:ext cx="8260496" cy="4345223"/>
          </a:xfrm>
        </p:spPr>
        <p:txBody>
          <a:bodyPr wrap="square" lIns="0" tIns="18000" rIns="0" bIns="18000" anchor="ctr" anchorCtr="0">
            <a:spAutoFit/>
          </a:bodyPr>
          <a:lstStyle/>
          <a:p>
            <a:pPr marL="0" indent="0">
              <a:spcBef>
                <a:spcPts val="600"/>
              </a:spcBef>
              <a:buNone/>
            </a:pPr>
            <a:r>
              <a:rPr lang="en-US" sz="1800" b="1" dirty="0">
                <a:latin typeface="Arial" panose="020B0604020202020204" pitchFamily="34" charset="0"/>
                <a:cs typeface="Arial" panose="020B0604020202020204" pitchFamily="34" charset="0"/>
              </a:rPr>
              <a:t>Planning:</a:t>
            </a:r>
            <a:r>
              <a:rPr lang="en-US" sz="1800" dirty="0">
                <a:latin typeface="Arial" panose="020B0604020202020204" pitchFamily="34" charset="0"/>
                <a:cs typeface="Arial" panose="020B0604020202020204" pitchFamily="34" charset="0"/>
              </a:rPr>
              <a:t> Develop, document, periodically update, and implement security plans for organizational information systems that describe the security controls in place or planned for the information systems and the rules of behavior for individuals accessing the information systems.</a:t>
            </a:r>
          </a:p>
          <a:p>
            <a:pPr marL="0" indent="0">
              <a:spcBef>
                <a:spcPts val="600"/>
              </a:spcBef>
              <a:buNone/>
            </a:pPr>
            <a:r>
              <a:rPr lang="en-US" sz="1800" b="1" dirty="0">
                <a:latin typeface="Arial" panose="020B0604020202020204" pitchFamily="34" charset="0"/>
                <a:cs typeface="Arial" panose="020B0604020202020204" pitchFamily="34" charset="0"/>
              </a:rPr>
              <a:t>Personnel Security:</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i</a:t>
            </a:r>
            <a:r>
              <a:rPr lang="en-US" sz="1800" dirty="0">
                <a:latin typeface="Arial" panose="020B0604020202020204" pitchFamily="34" charset="0"/>
                <a:cs typeface="Arial" panose="020B0604020202020204" pitchFamily="34" charset="0"/>
              </a:rPr>
              <a:t>) Ensure that individuals occupying positions of responsibility within organizations (including third-party service providers) are trustworthy and meet established security criteria for those positions; (ii) ensure that organizational information and information systems are protected during and after personnel actions such as terminations and transfers; and (iii) employ formal sanctions for personnel failing to comply with organizational security policies and procedures.</a:t>
            </a:r>
          </a:p>
          <a:p>
            <a:pPr marL="0" indent="0">
              <a:spcBef>
                <a:spcPts val="600"/>
              </a:spcBef>
              <a:buNone/>
            </a:pPr>
            <a:r>
              <a:rPr lang="en-US" sz="1800" b="1" dirty="0">
                <a:latin typeface="Arial" panose="020B0604020202020204" pitchFamily="34" charset="0"/>
                <a:cs typeface="Arial" panose="020B0604020202020204" pitchFamily="34" charset="0"/>
              </a:rPr>
              <a:t>Risk Assessment:</a:t>
            </a:r>
            <a:r>
              <a:rPr lang="en-US" sz="1800" dirty="0">
                <a:latin typeface="Arial" panose="020B0604020202020204" pitchFamily="34" charset="0"/>
                <a:cs typeface="Arial" panose="020B0604020202020204" pitchFamily="34" charset="0"/>
              </a:rPr>
              <a:t> Periodically assess the risk to organizational operations (including mission, functions, image, or reputation), organizational assets, and individuals resulting from the operation of organizational information systems and the associated processing, storage, or transmission of organizational information.</a:t>
            </a:r>
          </a:p>
        </p:txBody>
      </p:sp>
      <p:sp>
        <p:nvSpPr>
          <p:cNvPr id="2" name="Slide Number Placeholder 1">
            <a:extLst>
              <a:ext uri="{FF2B5EF4-FFF2-40B4-BE49-F238E27FC236}">
                <a16:creationId xmlns:a16="http://schemas.microsoft.com/office/drawing/2014/main" id="{FE181E7B-B790-1A17-080B-E82A01AA9FC9}"/>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30</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1531330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B5CC0A-09AB-6554-B823-BF5F16A7B44B}"/>
              </a:ext>
            </a:extLst>
          </p:cNvPr>
          <p:cNvSpPr>
            <a:spLocks noGrp="1"/>
          </p:cNvSpPr>
          <p:nvPr>
            <p:ph type="title"/>
          </p:nvPr>
        </p:nvSpPr>
        <p:spPr>
          <a:xfrm>
            <a:off x="438538" y="160927"/>
            <a:ext cx="8262550" cy="590349"/>
          </a:xfrm>
        </p:spPr>
        <p:txBody>
          <a:bodyPr wrap="square" lIns="0" tIns="18000" rIns="0" bIns="18000" anchor="ctr" anchorCtr="0">
            <a:spAutoFit/>
          </a:bodyPr>
          <a:lstStyle/>
          <a:p>
            <a:r>
              <a:rPr lang="en-US" dirty="0"/>
              <a:t>Table 1.4 </a:t>
            </a:r>
            <a:r>
              <a:rPr lang="en-US" sz="2800" dirty="0"/>
              <a:t>(6 of 7)</a:t>
            </a:r>
            <a:endParaRPr lang="en-US" dirty="0"/>
          </a:p>
        </p:txBody>
      </p:sp>
      <p:sp>
        <p:nvSpPr>
          <p:cNvPr id="5" name="Content Placeholder 4">
            <a:extLst>
              <a:ext uri="{FF2B5EF4-FFF2-40B4-BE49-F238E27FC236}">
                <a16:creationId xmlns:a16="http://schemas.microsoft.com/office/drawing/2014/main" id="{C908D160-6E9C-1973-CD1D-E5BE85825442}"/>
              </a:ext>
            </a:extLst>
          </p:cNvPr>
          <p:cNvSpPr>
            <a:spLocks noGrp="1"/>
          </p:cNvSpPr>
          <p:nvPr>
            <p:ph sz="quarter" idx="13"/>
          </p:nvPr>
        </p:nvSpPr>
        <p:spPr>
          <a:xfrm>
            <a:off x="438538" y="1046051"/>
            <a:ext cx="8262550" cy="344128"/>
          </a:xfrm>
        </p:spPr>
        <p:txBody>
          <a:bodyPr wrap="square" lIns="0" tIns="18000" rIns="0" bIns="18000" anchor="ctr" anchorCtr="0">
            <a:spAutoFit/>
          </a:bodyPr>
          <a:lstStyle/>
          <a:p>
            <a:pPr marL="0" indent="0">
              <a:spcBef>
                <a:spcPts val="600"/>
              </a:spcBef>
              <a:buNone/>
            </a:pPr>
            <a:r>
              <a:rPr lang="en-US" sz="2000" b="1" dirty="0">
                <a:latin typeface="Arial" panose="020B0604020202020204" pitchFamily="34" charset="0"/>
                <a:cs typeface="Arial" panose="020B0604020202020204" pitchFamily="34" charset="0"/>
              </a:rPr>
              <a:t>Security Requirements</a:t>
            </a:r>
            <a:endParaRPr lang="en-US" sz="28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31A74EC8-3F69-B47C-7018-5A0EC7B7F12D}"/>
              </a:ext>
            </a:extLst>
          </p:cNvPr>
          <p:cNvSpPr>
            <a:spLocks noGrp="1"/>
          </p:cNvSpPr>
          <p:nvPr>
            <p:ph sz="quarter" idx="14"/>
          </p:nvPr>
        </p:nvSpPr>
        <p:spPr>
          <a:xfrm>
            <a:off x="440592" y="1504094"/>
            <a:ext cx="8260496" cy="4422168"/>
          </a:xfrm>
        </p:spPr>
        <p:txBody>
          <a:bodyPr wrap="square" lIns="0" tIns="18000" rIns="0" bIns="18000" anchor="ctr" anchorCtr="0">
            <a:spAutoFit/>
          </a:bodyPr>
          <a:lstStyle/>
          <a:p>
            <a:pPr marL="0" indent="0">
              <a:spcBef>
                <a:spcPts val="600"/>
              </a:spcBef>
              <a:buNone/>
            </a:pPr>
            <a:r>
              <a:rPr lang="en-US" sz="2000" b="1" dirty="0">
                <a:latin typeface="Arial" panose="020B0604020202020204" pitchFamily="34" charset="0"/>
                <a:cs typeface="Arial" panose="020B0604020202020204" pitchFamily="34" charset="0"/>
              </a:rPr>
              <a:t>Systems and Services Acquisition: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i</a:t>
            </a:r>
            <a:r>
              <a:rPr lang="en-US" sz="2000" dirty="0">
                <a:latin typeface="Arial" panose="020B0604020202020204" pitchFamily="34" charset="0"/>
                <a:cs typeface="Arial" panose="020B0604020202020204" pitchFamily="34" charset="0"/>
              </a:rPr>
              <a:t>) Allocate sufficient resources to adequately protect organizational information systems; (ii) employ system development life cycle processes that incorporate information security considerations; (iii) employ software usage and installation restrictions; and (iv) ensure that third-party providers employ adequate security measures to protect information, applications, and/or services outsourced from the organization.</a:t>
            </a:r>
          </a:p>
          <a:p>
            <a:pPr marL="0" indent="0">
              <a:spcBef>
                <a:spcPts val="600"/>
              </a:spcBef>
              <a:buNone/>
            </a:pPr>
            <a:r>
              <a:rPr lang="en-US" sz="2000" b="1" dirty="0">
                <a:latin typeface="Arial" panose="020B0604020202020204" pitchFamily="34" charset="0"/>
                <a:cs typeface="Arial" panose="020B0604020202020204" pitchFamily="34" charset="0"/>
              </a:rPr>
              <a:t>System and Communications Protection: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i</a:t>
            </a:r>
            <a:r>
              <a:rPr lang="en-US" sz="2000" dirty="0">
                <a:latin typeface="Arial" panose="020B0604020202020204" pitchFamily="34" charset="0"/>
                <a:cs typeface="Arial" panose="020B0604020202020204" pitchFamily="34" charset="0"/>
              </a:rPr>
              <a:t>) Monitor, control, and protect organizational communications (i.e., information transmitted or received by organizational information systems) at the external boundaries and key internal boundaries of the information systems; and (ii) employ architectural designs, software development techniques, and systems engineering principles that promote effective information security within organizational information systems.</a:t>
            </a:r>
            <a:endParaRPr lang="en-US" sz="28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FE77B86E-33D5-DED7-B283-5357F188F7D6}"/>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31</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53736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CB30C-48C1-8A26-CEF7-CB06A6C7BE37}"/>
              </a:ext>
            </a:extLst>
          </p:cNvPr>
          <p:cNvSpPr>
            <a:spLocks noGrp="1"/>
          </p:cNvSpPr>
          <p:nvPr>
            <p:ph type="title"/>
          </p:nvPr>
        </p:nvSpPr>
        <p:spPr>
          <a:xfrm>
            <a:off x="438538" y="160923"/>
            <a:ext cx="8262550" cy="590349"/>
          </a:xfrm>
        </p:spPr>
        <p:txBody>
          <a:bodyPr wrap="square" lIns="0" tIns="18000" rIns="0" bIns="18000" anchor="ctr" anchorCtr="0">
            <a:spAutoFit/>
          </a:bodyPr>
          <a:lstStyle/>
          <a:p>
            <a:r>
              <a:rPr lang="en-US" dirty="0"/>
              <a:t>Table 1.4 </a:t>
            </a:r>
            <a:r>
              <a:rPr lang="en-US" sz="2800" dirty="0"/>
              <a:t>(7 of 7)</a:t>
            </a:r>
            <a:endParaRPr lang="en-US" dirty="0"/>
          </a:p>
        </p:txBody>
      </p:sp>
      <p:sp>
        <p:nvSpPr>
          <p:cNvPr id="3" name="Content Placeholder 2">
            <a:extLst>
              <a:ext uri="{FF2B5EF4-FFF2-40B4-BE49-F238E27FC236}">
                <a16:creationId xmlns:a16="http://schemas.microsoft.com/office/drawing/2014/main" id="{CC952125-B564-180A-23F6-6619E4D56154}"/>
              </a:ext>
            </a:extLst>
          </p:cNvPr>
          <p:cNvSpPr>
            <a:spLocks noGrp="1"/>
          </p:cNvSpPr>
          <p:nvPr>
            <p:ph sz="quarter" idx="13"/>
          </p:nvPr>
        </p:nvSpPr>
        <p:spPr>
          <a:xfrm>
            <a:off x="438538" y="968228"/>
            <a:ext cx="8262550" cy="405683"/>
          </a:xfrm>
        </p:spPr>
        <p:txBody>
          <a:bodyPr wrap="square" lIns="0" tIns="18000" rIns="0" bIns="18000" anchor="ctr" anchorCtr="0">
            <a:spAutoFit/>
          </a:bodyPr>
          <a:lstStyle/>
          <a:p>
            <a:pPr marL="432" indent="0">
              <a:buNone/>
            </a:pPr>
            <a:r>
              <a:rPr lang="en-US" b="1" dirty="0">
                <a:latin typeface="Arial" panose="020B0604020202020204" pitchFamily="34" charset="0"/>
                <a:cs typeface="Arial" panose="020B0604020202020204" pitchFamily="34" charset="0"/>
              </a:rPr>
              <a:t>Security Requirements</a:t>
            </a:r>
            <a:endParaRPr lang="en-US" sz="3200" b="1"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8F58B946-C72B-DA95-AB85-5F15FEA4C10E}"/>
              </a:ext>
            </a:extLst>
          </p:cNvPr>
          <p:cNvSpPr>
            <a:spLocks noGrp="1"/>
          </p:cNvSpPr>
          <p:nvPr>
            <p:ph sz="quarter" idx="14"/>
          </p:nvPr>
        </p:nvSpPr>
        <p:spPr>
          <a:xfrm>
            <a:off x="438538" y="1506654"/>
            <a:ext cx="8262550" cy="2252343"/>
          </a:xfrm>
        </p:spPr>
        <p:txBody>
          <a:bodyPr wrap="square" lIns="0" tIns="18000" rIns="0" bIns="18000" anchor="ctr" anchorCtr="0">
            <a:spAutoFit/>
          </a:bodyPr>
          <a:lstStyle/>
          <a:p>
            <a:pPr marL="0" indent="0">
              <a:buNone/>
            </a:pPr>
            <a:r>
              <a:rPr lang="en-US" b="1" dirty="0">
                <a:latin typeface="Arial" panose="020B0604020202020204" pitchFamily="34" charset="0"/>
                <a:cs typeface="Arial" panose="020B0604020202020204" pitchFamily="34" charset="0"/>
              </a:rPr>
              <a:t>System and Information Integrity: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Identify, report, and correct information and information system flaws in a timely manner; (ii) provide protection from malicious code at appropriate locations within organizational information systems; and (iii) monitor information system security alerts and advisories and take appropriate actions in response.</a:t>
            </a:r>
            <a:endParaRPr lang="en-US" sz="4000"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952D860F-0CAE-41A8-604A-EB8DACF29E8A}"/>
              </a:ext>
            </a:extLst>
          </p:cNvPr>
          <p:cNvSpPr>
            <a:spLocks noGrp="1"/>
          </p:cNvSpPr>
          <p:nvPr>
            <p:ph sz="quarter" idx="15"/>
          </p:nvPr>
        </p:nvSpPr>
        <p:spPr>
          <a:xfrm>
            <a:off x="442088" y="3961476"/>
            <a:ext cx="3101211" cy="282573"/>
          </a:xfrm>
        </p:spPr>
        <p:txBody>
          <a:bodyPr wrap="square" lIns="0" tIns="18000" rIns="0" bIns="18000" anchor="ctr" anchorCtr="0">
            <a:spAutoFit/>
          </a:bodyPr>
          <a:lstStyle/>
          <a:p>
            <a:pPr marL="0" indent="0">
              <a:buNone/>
            </a:pPr>
            <a:r>
              <a:rPr lang="en-US" sz="1600" i="1" dirty="0">
                <a:latin typeface="Arial" panose="020B0604020202020204" pitchFamily="34" charset="0"/>
                <a:cs typeface="Arial" panose="020B0604020202020204" pitchFamily="34" charset="0"/>
              </a:rPr>
              <a:t>Source</a:t>
            </a:r>
            <a:r>
              <a:rPr lang="en-US" sz="1600" dirty="0">
                <a:latin typeface="Arial" panose="020B0604020202020204" pitchFamily="34" charset="0"/>
                <a:cs typeface="Arial" panose="020B0604020202020204" pitchFamily="34" charset="0"/>
              </a:rPr>
              <a:t>: Based on NIST </a:t>
            </a:r>
            <a:r>
              <a:rPr lang="en-US" sz="1600" dirty="0">
                <a:latin typeface="Arial" panose="020B0604020202020204" pitchFamily="34" charset="0"/>
                <a:cs typeface="Arial" panose="020B0604020202020204" pitchFamily="34" charset="0"/>
                <a:hlinkClick r:id="rId2"/>
              </a:rPr>
              <a:t>FIPS 200</a:t>
            </a:r>
            <a:r>
              <a:rPr lang="en-US" sz="1600" dirty="0">
                <a:latin typeface="Arial" panose="020B0604020202020204" pitchFamily="34" charset="0"/>
                <a:cs typeface="Arial" panose="020B0604020202020204" pitchFamily="34" charset="0"/>
              </a:rPr>
              <a:t> </a:t>
            </a:r>
          </a:p>
        </p:txBody>
      </p:sp>
      <p:sp>
        <p:nvSpPr>
          <p:cNvPr id="6" name="Slide Number Placeholder 5">
            <a:extLst>
              <a:ext uri="{FF2B5EF4-FFF2-40B4-BE49-F238E27FC236}">
                <a16:creationId xmlns:a16="http://schemas.microsoft.com/office/drawing/2014/main" id="{22306ED5-0CD0-C27C-39B7-FB82DA3E3189}"/>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32</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5314722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B898A-EDB8-4BD5-900A-069CE443367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2BB0F4D-2BE3-44A6-A18B-9B253D7DFAC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7E1EA84-719A-410A-A3DE-2B5E22B2F2CA}"/>
              </a:ext>
            </a:extLst>
          </p:cNvPr>
          <p:cNvPicPr>
            <a:picLocks noChangeAspect="1"/>
          </p:cNvPicPr>
          <p:nvPr/>
        </p:nvPicPr>
        <p:blipFill>
          <a:blip r:embed="rId2"/>
          <a:stretch>
            <a:fillRect/>
          </a:stretch>
        </p:blipFill>
        <p:spPr>
          <a:xfrm>
            <a:off x="0" y="446674"/>
            <a:ext cx="9144000" cy="6006662"/>
          </a:xfrm>
          <a:prstGeom prst="rect">
            <a:avLst/>
          </a:prstGeom>
        </p:spPr>
      </p:pic>
      <p:sp>
        <p:nvSpPr>
          <p:cNvPr id="6" name="TextBox 5">
            <a:extLst>
              <a:ext uri="{FF2B5EF4-FFF2-40B4-BE49-F238E27FC236}">
                <a16:creationId xmlns:a16="http://schemas.microsoft.com/office/drawing/2014/main" id="{C767C9D5-E6D1-4DCA-B157-2C848E9D89DF}"/>
              </a:ext>
            </a:extLst>
          </p:cNvPr>
          <p:cNvSpPr txBox="1"/>
          <p:nvPr/>
        </p:nvSpPr>
        <p:spPr>
          <a:xfrm>
            <a:off x="539552" y="6476002"/>
            <a:ext cx="7370672" cy="307777"/>
          </a:xfrm>
          <a:prstGeom prst="rect">
            <a:avLst/>
          </a:prstGeom>
          <a:noFill/>
        </p:spPr>
        <p:txBody>
          <a:bodyPr wrap="none" rtlCol="0">
            <a:spAutoFit/>
          </a:bodyPr>
          <a:lstStyle/>
          <a:p>
            <a:r>
              <a:rPr lang="en-US" sz="1400" dirty="0"/>
              <a:t>Source: </a:t>
            </a:r>
            <a:r>
              <a:rPr lang="en-US" sz="1400" dirty="0">
                <a:hlinkClick r:id="rId3"/>
              </a:rPr>
              <a:t>https://people.duke.edu/~tkb13/courses/ece590-sec-2019fa/slides/02-overview.pdf</a:t>
            </a:r>
            <a:endParaRPr lang="en-US" sz="1400" dirty="0"/>
          </a:p>
        </p:txBody>
      </p:sp>
      <p:pic>
        <p:nvPicPr>
          <p:cNvPr id="1026" name="Picture 2" descr="Silos | Forage Information System | Oregon State University">
            <a:extLst>
              <a:ext uri="{FF2B5EF4-FFF2-40B4-BE49-F238E27FC236}">
                <a16:creationId xmlns:a16="http://schemas.microsoft.com/office/drawing/2014/main" id="{A0CA80D0-3935-3851-5F82-47C800C005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8184" y="2046874"/>
            <a:ext cx="2286000" cy="1524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53A6E4F-F343-E71B-8A82-B0293FE370C8}"/>
              </a:ext>
            </a:extLst>
          </p:cNvPr>
          <p:cNvSpPr txBox="1"/>
          <p:nvPr/>
        </p:nvSpPr>
        <p:spPr>
          <a:xfrm>
            <a:off x="7105726" y="3555413"/>
            <a:ext cx="530915" cy="369332"/>
          </a:xfrm>
          <a:prstGeom prst="rect">
            <a:avLst/>
          </a:prstGeom>
          <a:noFill/>
        </p:spPr>
        <p:txBody>
          <a:bodyPr wrap="none" rtlCol="0">
            <a:spAutoFit/>
          </a:bodyPr>
          <a:lstStyle/>
          <a:p>
            <a:r>
              <a:rPr lang="en-US" dirty="0">
                <a:solidFill>
                  <a:schemeClr val="bg1"/>
                </a:solidFill>
              </a:rPr>
              <a:t>silo</a:t>
            </a:r>
          </a:p>
        </p:txBody>
      </p:sp>
      <p:sp>
        <p:nvSpPr>
          <p:cNvPr id="7" name="TextBox 6">
            <a:extLst>
              <a:ext uri="{FF2B5EF4-FFF2-40B4-BE49-F238E27FC236}">
                <a16:creationId xmlns:a16="http://schemas.microsoft.com/office/drawing/2014/main" id="{2EF12760-75CB-F556-7507-D03D2C81B7DC}"/>
              </a:ext>
            </a:extLst>
          </p:cNvPr>
          <p:cNvSpPr txBox="1"/>
          <p:nvPr/>
        </p:nvSpPr>
        <p:spPr>
          <a:xfrm>
            <a:off x="7907277" y="6146884"/>
            <a:ext cx="617477" cy="338554"/>
          </a:xfrm>
          <a:prstGeom prst="rect">
            <a:avLst/>
          </a:prstGeom>
          <a:noFill/>
        </p:spPr>
        <p:txBody>
          <a:bodyPr wrap="none" rtlCol="0">
            <a:spAutoFit/>
          </a:bodyPr>
          <a:lstStyle/>
          <a:p>
            <a:r>
              <a:rPr lang="en-US" sz="1600" dirty="0"/>
              <a:t>SJW</a:t>
            </a:r>
          </a:p>
        </p:txBody>
      </p:sp>
      <p:sp>
        <p:nvSpPr>
          <p:cNvPr id="8" name="TextBox 7">
            <a:extLst>
              <a:ext uri="{FF2B5EF4-FFF2-40B4-BE49-F238E27FC236}">
                <a16:creationId xmlns:a16="http://schemas.microsoft.com/office/drawing/2014/main" id="{FF46A496-4409-050C-3092-A9040D5FA547}"/>
              </a:ext>
            </a:extLst>
          </p:cNvPr>
          <p:cNvSpPr txBox="1"/>
          <p:nvPr/>
        </p:nvSpPr>
        <p:spPr>
          <a:xfrm>
            <a:off x="7123610" y="3555413"/>
            <a:ext cx="530915" cy="369332"/>
          </a:xfrm>
          <a:prstGeom prst="rect">
            <a:avLst/>
          </a:prstGeom>
          <a:noFill/>
        </p:spPr>
        <p:txBody>
          <a:bodyPr wrap="none" rtlCol="0">
            <a:spAutoFit/>
          </a:bodyPr>
          <a:lstStyle/>
          <a:p>
            <a:r>
              <a:rPr lang="en-US" sz="1800" dirty="0">
                <a:solidFill>
                  <a:schemeClr val="tx1"/>
                </a:solidFill>
              </a:rPr>
              <a:t>silo</a:t>
            </a:r>
          </a:p>
        </p:txBody>
      </p:sp>
      <p:sp>
        <p:nvSpPr>
          <p:cNvPr id="9" name="Slide Number Placeholder 8">
            <a:extLst>
              <a:ext uri="{FF2B5EF4-FFF2-40B4-BE49-F238E27FC236}">
                <a16:creationId xmlns:a16="http://schemas.microsoft.com/office/drawing/2014/main" id="{ABF8AE77-9DEC-3FAE-70E3-906B0C950517}"/>
              </a:ext>
            </a:extLst>
          </p:cNvPr>
          <p:cNvSpPr>
            <a:spLocks noGrp="1"/>
          </p:cNvSpPr>
          <p:nvPr>
            <p:ph type="sldNum" sz="quarter" idx="12"/>
          </p:nvPr>
        </p:nvSpPr>
        <p:spPr/>
        <p:txBody>
          <a:bodyPr/>
          <a:lstStyle/>
          <a:p>
            <a:fld id="{5F36C9FC-DA22-1F47-8722-58727A1D436E}" type="slidenum">
              <a:rPr lang="en-US" smtClean="0"/>
              <a:pPr/>
              <a:t>33</a:t>
            </a:fld>
            <a:endParaRPr lang="en-US" dirty="0"/>
          </a:p>
        </p:txBody>
      </p:sp>
    </p:spTree>
    <p:extLst>
      <p:ext uri="{BB962C8B-B14F-4D97-AF65-F5344CB8AC3E}">
        <p14:creationId xmlns:p14="http://schemas.microsoft.com/office/powerpoint/2010/main" val="17559497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CB30C-48C1-8A26-CEF7-CB06A6C7BE37}"/>
              </a:ext>
            </a:extLst>
          </p:cNvPr>
          <p:cNvSpPr>
            <a:spLocks noGrp="1"/>
          </p:cNvSpPr>
          <p:nvPr>
            <p:ph type="title"/>
          </p:nvPr>
        </p:nvSpPr>
        <p:spPr>
          <a:xfrm>
            <a:off x="438538" y="145184"/>
            <a:ext cx="8262550" cy="1144347"/>
          </a:xfrm>
        </p:spPr>
        <p:txBody>
          <a:bodyPr wrap="square" lIns="0" tIns="18000" rIns="0" bIns="18000" anchor="ctr" anchorCtr="0">
            <a:spAutoFit/>
          </a:bodyPr>
          <a:lstStyle/>
          <a:p>
            <a:r>
              <a:rPr lang="en-US" sz="3600" dirty="0"/>
              <a:t>Fundamental Security Design Principles</a:t>
            </a:r>
            <a:endParaRPr lang="en-US" dirty="0"/>
          </a:p>
        </p:txBody>
      </p:sp>
      <p:sp>
        <p:nvSpPr>
          <p:cNvPr id="3" name="Content Placeholder 2">
            <a:extLst>
              <a:ext uri="{FF2B5EF4-FFF2-40B4-BE49-F238E27FC236}">
                <a16:creationId xmlns:a16="http://schemas.microsoft.com/office/drawing/2014/main" id="{CC952125-B564-180A-23F6-6619E4D56154}"/>
              </a:ext>
            </a:extLst>
          </p:cNvPr>
          <p:cNvSpPr>
            <a:spLocks noGrp="1"/>
          </p:cNvSpPr>
          <p:nvPr>
            <p:ph sz="quarter" idx="13"/>
          </p:nvPr>
        </p:nvSpPr>
        <p:spPr>
          <a:xfrm>
            <a:off x="438538" y="1289531"/>
            <a:ext cx="4133462" cy="4683778"/>
          </a:xfrm>
        </p:spPr>
        <p:txBody>
          <a:bodyPr wrap="square" lIns="0" tIns="18000" rIns="0" bIns="18000" anchor="ctr" anchorCtr="0">
            <a:spAutoFit/>
          </a:bodyPr>
          <a:lstStyle/>
          <a:p>
            <a:pPr marL="342900" indent="-342900">
              <a:spcBef>
                <a:spcPts val="600"/>
              </a:spcBef>
            </a:pPr>
            <a:r>
              <a:rPr lang="en-US" dirty="0">
                <a:latin typeface="Arial" panose="020B0604020202020204" pitchFamily="34" charset="0"/>
                <a:cs typeface="Arial" panose="020B0604020202020204" pitchFamily="34" charset="0"/>
              </a:rPr>
              <a:t>Economy of mechanism</a:t>
            </a:r>
          </a:p>
          <a:p>
            <a:pPr marL="829818" lvl="1" indent="-342900"/>
            <a:r>
              <a:rPr lang="en-US" sz="2000" dirty="0">
                <a:latin typeface="Arial" panose="020B0604020202020204" pitchFamily="34" charset="0"/>
                <a:cs typeface="Arial" panose="020B0604020202020204" pitchFamily="34" charset="0"/>
              </a:rPr>
              <a:t>KISS</a:t>
            </a:r>
            <a:endParaRPr lang="en-US" dirty="0">
              <a:latin typeface="Arial" panose="020B0604020202020204" pitchFamily="34" charset="0"/>
              <a:cs typeface="Arial" panose="020B0604020202020204" pitchFamily="34" charset="0"/>
            </a:endParaRPr>
          </a:p>
          <a:p>
            <a:pPr marL="342900" indent="-342900">
              <a:spcBef>
                <a:spcPts val="600"/>
              </a:spcBef>
            </a:pPr>
            <a:r>
              <a:rPr lang="en-US" dirty="0">
                <a:latin typeface="Arial" panose="020B0604020202020204" pitchFamily="34" charset="0"/>
                <a:cs typeface="Arial" panose="020B0604020202020204" pitchFamily="34" charset="0"/>
              </a:rPr>
              <a:t>Fail-safe defaults</a:t>
            </a:r>
          </a:p>
          <a:p>
            <a:pPr marL="342900" indent="-342900">
              <a:spcBef>
                <a:spcPts val="600"/>
              </a:spcBef>
            </a:pPr>
            <a:r>
              <a:rPr lang="en-US" dirty="0">
                <a:latin typeface="Arial" panose="020B0604020202020204" pitchFamily="34" charset="0"/>
                <a:cs typeface="Arial" panose="020B0604020202020204" pitchFamily="34" charset="0"/>
              </a:rPr>
              <a:t>Complete mediation</a:t>
            </a:r>
          </a:p>
          <a:p>
            <a:pPr marL="342900" indent="-342900">
              <a:spcBef>
                <a:spcPts val="600"/>
              </a:spcBef>
            </a:pPr>
            <a:r>
              <a:rPr lang="en-US" dirty="0">
                <a:latin typeface="Arial" panose="020B0604020202020204" pitchFamily="34" charset="0"/>
                <a:cs typeface="Arial" panose="020B0604020202020204" pitchFamily="34" charset="0"/>
              </a:rPr>
              <a:t>Open design</a:t>
            </a:r>
          </a:p>
          <a:p>
            <a:pPr marL="342900" indent="-342900">
              <a:spcBef>
                <a:spcPts val="600"/>
              </a:spcBef>
            </a:pPr>
            <a:r>
              <a:rPr lang="en-US" dirty="0">
                <a:latin typeface="Arial" panose="020B0604020202020204" pitchFamily="34" charset="0"/>
                <a:cs typeface="Arial" panose="020B0604020202020204" pitchFamily="34" charset="0"/>
              </a:rPr>
              <a:t>Separation of privilege</a:t>
            </a:r>
          </a:p>
          <a:p>
            <a:pPr marL="829818" lvl="1" indent="-342900"/>
            <a:r>
              <a:rPr lang="en-US" sz="2000" dirty="0">
                <a:latin typeface="Arial" panose="020B0604020202020204" pitchFamily="34" charset="0"/>
                <a:cs typeface="Arial" panose="020B0604020202020204" pitchFamily="34" charset="0"/>
              </a:rPr>
              <a:t>Multifactor authentication</a:t>
            </a:r>
          </a:p>
          <a:p>
            <a:pPr marL="829818" lvl="1" indent="-342900"/>
            <a:r>
              <a:rPr lang="en-US" sz="2000" dirty="0">
                <a:latin typeface="Arial" panose="020B0604020202020204" pitchFamily="34" charset="0"/>
                <a:cs typeface="Arial" panose="020B0604020202020204" pitchFamily="34" charset="0"/>
              </a:rPr>
              <a:t>Dividing program</a:t>
            </a:r>
          </a:p>
          <a:p>
            <a:pPr marL="342900" indent="-342900">
              <a:spcBef>
                <a:spcPts val="600"/>
              </a:spcBef>
            </a:pPr>
            <a:r>
              <a:rPr lang="en-US" dirty="0">
                <a:latin typeface="Arial" panose="020B0604020202020204" pitchFamily="34" charset="0"/>
                <a:cs typeface="Arial" panose="020B0604020202020204" pitchFamily="34" charset="0"/>
              </a:rPr>
              <a:t>Least privilege</a:t>
            </a:r>
          </a:p>
          <a:p>
            <a:pPr marL="342900" indent="-342900">
              <a:spcBef>
                <a:spcPts val="600"/>
              </a:spcBef>
            </a:pPr>
            <a:r>
              <a:rPr lang="en-US" dirty="0">
                <a:latin typeface="Arial" panose="020B0604020202020204" pitchFamily="34" charset="0"/>
                <a:cs typeface="Arial" panose="020B0604020202020204" pitchFamily="34" charset="0"/>
              </a:rPr>
              <a:t>Least common mechanism</a:t>
            </a:r>
          </a:p>
          <a:p>
            <a:pPr marL="342900" indent="-342900">
              <a:spcBef>
                <a:spcPts val="600"/>
              </a:spcBef>
            </a:pPr>
            <a:r>
              <a:rPr lang="en-US" dirty="0">
                <a:latin typeface="Arial" panose="020B0604020202020204" pitchFamily="34" charset="0"/>
                <a:cs typeface="Arial" panose="020B0604020202020204" pitchFamily="34" charset="0"/>
              </a:rPr>
              <a:t>Psychological acceptability</a:t>
            </a:r>
            <a:endParaRPr lang="en-US" sz="3200" b="1"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8F58B946-C72B-DA95-AB85-5F15FEA4C10E}"/>
              </a:ext>
            </a:extLst>
          </p:cNvPr>
          <p:cNvSpPr>
            <a:spLocks noGrp="1"/>
          </p:cNvSpPr>
          <p:nvPr>
            <p:ph sz="quarter" idx="14"/>
          </p:nvPr>
        </p:nvSpPr>
        <p:spPr>
          <a:xfrm>
            <a:off x="4800309" y="1320309"/>
            <a:ext cx="3485276" cy="5037721"/>
          </a:xfrm>
        </p:spPr>
        <p:txBody>
          <a:bodyPr wrap="square" lIns="0" tIns="18000" rIns="0" bIns="18000" anchor="ctr" anchorCtr="0">
            <a:spAutoFit/>
          </a:bodyPr>
          <a:lstStyle/>
          <a:p>
            <a:pPr marL="342900" indent="-342900">
              <a:spcBef>
                <a:spcPts val="600"/>
              </a:spcBef>
            </a:pPr>
            <a:r>
              <a:rPr lang="en-US" dirty="0">
                <a:latin typeface="Arial" panose="020B0604020202020204" pitchFamily="34" charset="0"/>
                <a:cs typeface="Arial" panose="020B0604020202020204" pitchFamily="34" charset="0"/>
              </a:rPr>
              <a:t>Isolation</a:t>
            </a:r>
          </a:p>
          <a:p>
            <a:pPr marL="829818" lvl="1" indent="-342900"/>
            <a:r>
              <a:rPr lang="en-US" sz="2000" dirty="0">
                <a:latin typeface="Arial" panose="020B0604020202020204" pitchFamily="34" charset="0"/>
                <a:cs typeface="Arial" panose="020B0604020202020204" pitchFamily="34" charset="0"/>
              </a:rPr>
              <a:t>From critical resources</a:t>
            </a:r>
          </a:p>
          <a:p>
            <a:pPr marL="829818" lvl="1" indent="-342900"/>
            <a:r>
              <a:rPr lang="en-US" sz="2000" dirty="0">
                <a:latin typeface="Arial" panose="020B0604020202020204" pitchFamily="34" charset="0"/>
                <a:cs typeface="Arial" panose="020B0604020202020204" pitchFamily="34" charset="0"/>
              </a:rPr>
              <a:t>Between users</a:t>
            </a:r>
          </a:p>
          <a:p>
            <a:pPr marL="829818" lvl="1" indent="-342900"/>
            <a:r>
              <a:rPr lang="en-US" sz="2000" dirty="0">
                <a:latin typeface="Arial" panose="020B0604020202020204" pitchFamily="34" charset="0"/>
                <a:cs typeface="Arial" panose="020B0604020202020204" pitchFamily="34" charset="0"/>
              </a:rPr>
              <a:t>Of security mechanisms</a:t>
            </a:r>
          </a:p>
          <a:p>
            <a:pPr marL="342900" indent="-342900">
              <a:spcBef>
                <a:spcPts val="600"/>
              </a:spcBef>
            </a:pPr>
            <a:r>
              <a:rPr lang="en-US" dirty="0">
                <a:latin typeface="Arial" panose="020B0604020202020204" pitchFamily="34" charset="0"/>
                <a:cs typeface="Arial" panose="020B0604020202020204" pitchFamily="34" charset="0"/>
              </a:rPr>
              <a:t>Encapsulation</a:t>
            </a:r>
          </a:p>
          <a:p>
            <a:pPr marL="342900" indent="-342900">
              <a:spcBef>
                <a:spcPts val="600"/>
              </a:spcBef>
            </a:pPr>
            <a:r>
              <a:rPr lang="en-US" dirty="0">
                <a:latin typeface="Arial" panose="020B0604020202020204" pitchFamily="34" charset="0"/>
                <a:cs typeface="Arial" panose="020B0604020202020204" pitchFamily="34" charset="0"/>
              </a:rPr>
              <a:t>Modularity</a:t>
            </a:r>
          </a:p>
          <a:p>
            <a:pPr marL="829818" lvl="1" indent="-342900"/>
            <a:r>
              <a:rPr lang="en-US" sz="2000" dirty="0">
                <a:latin typeface="Arial" panose="020B0604020202020204" pitchFamily="34" charset="0"/>
                <a:cs typeface="Arial" panose="020B0604020202020204" pitchFamily="34" charset="0"/>
              </a:rPr>
              <a:t>Security mechanisms in separate, protected modules</a:t>
            </a:r>
          </a:p>
          <a:p>
            <a:pPr marL="342900" indent="-342900">
              <a:spcBef>
                <a:spcPts val="600"/>
              </a:spcBef>
            </a:pPr>
            <a:r>
              <a:rPr lang="en-US" dirty="0">
                <a:latin typeface="Arial" panose="020B0604020202020204" pitchFamily="34" charset="0"/>
                <a:cs typeface="Arial" panose="020B0604020202020204" pitchFamily="34" charset="0"/>
              </a:rPr>
              <a:t>Layering</a:t>
            </a:r>
          </a:p>
          <a:p>
            <a:pPr marL="829818" lvl="1" indent="-342900"/>
            <a:r>
              <a:rPr lang="en-US" sz="2000" dirty="0">
                <a:latin typeface="Arial" panose="020B0604020202020204" pitchFamily="34" charset="0"/>
                <a:cs typeface="Arial" panose="020B0604020202020204" pitchFamily="34" charset="0"/>
              </a:rPr>
              <a:t>“Defense in depth”</a:t>
            </a:r>
          </a:p>
          <a:p>
            <a:pPr marL="342900" indent="-342900">
              <a:spcBef>
                <a:spcPts val="600"/>
              </a:spcBef>
            </a:pPr>
            <a:r>
              <a:rPr lang="en-US" dirty="0">
                <a:latin typeface="Arial" panose="020B0604020202020204" pitchFamily="34" charset="0"/>
                <a:cs typeface="Arial" panose="020B0604020202020204" pitchFamily="34" charset="0"/>
              </a:rPr>
              <a:t>Least astonishment</a:t>
            </a:r>
          </a:p>
        </p:txBody>
      </p:sp>
      <p:sp>
        <p:nvSpPr>
          <p:cNvPr id="5" name="Slide Number Placeholder 4">
            <a:extLst>
              <a:ext uri="{FF2B5EF4-FFF2-40B4-BE49-F238E27FC236}">
                <a16:creationId xmlns:a16="http://schemas.microsoft.com/office/drawing/2014/main" id="{2BF17C89-605C-8421-FE06-D3E472DE1677}"/>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34</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5014489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CB30C-48C1-8A26-CEF7-CB06A6C7BE37}"/>
              </a:ext>
            </a:extLst>
          </p:cNvPr>
          <p:cNvSpPr>
            <a:spLocks noGrp="1"/>
          </p:cNvSpPr>
          <p:nvPr>
            <p:ph type="title"/>
          </p:nvPr>
        </p:nvSpPr>
        <p:spPr>
          <a:xfrm>
            <a:off x="438538" y="160926"/>
            <a:ext cx="8262550" cy="590349"/>
          </a:xfrm>
        </p:spPr>
        <p:txBody>
          <a:bodyPr wrap="square" lIns="0" tIns="18000" rIns="0" bIns="18000" anchor="ctr" anchorCtr="0">
            <a:spAutoFit/>
          </a:bodyPr>
          <a:lstStyle/>
          <a:p>
            <a:r>
              <a:rPr lang="en-US" dirty="0"/>
              <a:t>Attack Surfaces</a:t>
            </a:r>
          </a:p>
        </p:txBody>
      </p:sp>
      <p:sp>
        <p:nvSpPr>
          <p:cNvPr id="3" name="Content Placeholder 2">
            <a:extLst>
              <a:ext uri="{FF2B5EF4-FFF2-40B4-BE49-F238E27FC236}">
                <a16:creationId xmlns:a16="http://schemas.microsoft.com/office/drawing/2014/main" id="{CC952125-B564-180A-23F6-6619E4D56154}"/>
              </a:ext>
            </a:extLst>
          </p:cNvPr>
          <p:cNvSpPr>
            <a:spLocks noGrp="1"/>
          </p:cNvSpPr>
          <p:nvPr>
            <p:ph sz="quarter" idx="13"/>
          </p:nvPr>
        </p:nvSpPr>
        <p:spPr>
          <a:xfrm>
            <a:off x="438538" y="964470"/>
            <a:ext cx="8262550" cy="4929999"/>
          </a:xfrm>
        </p:spPr>
        <p:txBody>
          <a:bodyPr wrap="square" lIns="0" tIns="18000" rIns="0" bIns="18000" anchor="ctr" anchorCtr="0">
            <a:spAutoFit/>
          </a:bodyPr>
          <a:lstStyle/>
          <a:p>
            <a:pPr marL="342900" indent="-342900">
              <a:spcBef>
                <a:spcPts val="600"/>
              </a:spcBef>
            </a:pPr>
            <a:r>
              <a:rPr lang="en-US" dirty="0">
                <a:latin typeface="Arial" panose="020B0604020202020204" pitchFamily="34" charset="0"/>
                <a:cs typeface="Arial" panose="020B0604020202020204" pitchFamily="34" charset="0"/>
              </a:rPr>
              <a:t>Consist of the reachable and exploitable vulnerabilities in a system</a:t>
            </a:r>
          </a:p>
          <a:p>
            <a:pPr marL="342900" indent="-342900">
              <a:spcBef>
                <a:spcPts val="600"/>
              </a:spcBef>
            </a:pPr>
            <a:r>
              <a:rPr lang="en-US" dirty="0">
                <a:latin typeface="Arial" panose="020B0604020202020204" pitchFamily="34" charset="0"/>
                <a:cs typeface="Arial" panose="020B0604020202020204" pitchFamily="34" charset="0"/>
              </a:rPr>
              <a:t>Examples:</a:t>
            </a:r>
          </a:p>
          <a:p>
            <a:pPr marL="829818" lvl="1" indent="-342900"/>
            <a:r>
              <a:rPr lang="en-US" dirty="0">
                <a:latin typeface="Arial" panose="020B0604020202020204" pitchFamily="34" charset="0"/>
                <a:cs typeface="Arial" panose="020B0604020202020204" pitchFamily="34" charset="0"/>
              </a:rPr>
              <a:t>Open ports on outward-facing Web and other servers, and code listening on those ports</a:t>
            </a:r>
          </a:p>
          <a:p>
            <a:pPr marL="829818" lvl="1" indent="-342900"/>
            <a:r>
              <a:rPr lang="en-US" dirty="0">
                <a:latin typeface="Arial" panose="020B0604020202020204" pitchFamily="34" charset="0"/>
                <a:cs typeface="Arial" panose="020B0604020202020204" pitchFamily="34" charset="0"/>
              </a:rPr>
              <a:t>Services available on the inside of a firewall</a:t>
            </a:r>
          </a:p>
          <a:p>
            <a:pPr marL="829818" lvl="1" indent="-342900"/>
            <a:r>
              <a:rPr lang="en-US" dirty="0">
                <a:latin typeface="Arial" panose="020B0604020202020204" pitchFamily="34" charset="0"/>
                <a:cs typeface="Arial" panose="020B0604020202020204" pitchFamily="34" charset="0"/>
              </a:rPr>
              <a:t>Code that processes incoming data, email, </a:t>
            </a:r>
            <a:r>
              <a:rPr lang="en-US" spc="-300" dirty="0">
                <a:latin typeface="Arial" panose="020B0604020202020204" pitchFamily="34" charset="0"/>
                <a:cs typeface="Arial" panose="020B0604020202020204" pitchFamily="34" charset="0"/>
              </a:rPr>
              <a:t>X M </a:t>
            </a:r>
            <a:r>
              <a:rPr lang="en-US" dirty="0">
                <a:latin typeface="Arial" panose="020B0604020202020204" pitchFamily="34" charset="0"/>
                <a:cs typeface="Arial" panose="020B0604020202020204" pitchFamily="34" charset="0"/>
              </a:rPr>
              <a:t>L, office documents, and industry-specific custom data exchange formats</a:t>
            </a:r>
          </a:p>
          <a:p>
            <a:pPr marL="829818" lvl="1" indent="-342900"/>
            <a:r>
              <a:rPr lang="en-US" dirty="0">
                <a:latin typeface="Arial" panose="020B0604020202020204" pitchFamily="34" charset="0"/>
                <a:cs typeface="Arial" panose="020B0604020202020204" pitchFamily="34" charset="0"/>
              </a:rPr>
              <a:t>Interfaces, </a:t>
            </a:r>
            <a:r>
              <a:rPr lang="en-US" spc="-300" dirty="0">
                <a:latin typeface="Arial" panose="020B0604020202020204" pitchFamily="34" charset="0"/>
                <a:cs typeface="Arial" panose="020B0604020202020204" pitchFamily="34" charset="0"/>
              </a:rPr>
              <a:t>S Q </a:t>
            </a:r>
            <a:r>
              <a:rPr lang="en-US" dirty="0">
                <a:latin typeface="Arial" panose="020B0604020202020204" pitchFamily="34" charset="0"/>
                <a:cs typeface="Arial" panose="020B0604020202020204" pitchFamily="34" charset="0"/>
              </a:rPr>
              <a:t>L, and Web forms</a:t>
            </a:r>
          </a:p>
          <a:p>
            <a:pPr marL="829818" lvl="1" indent="-342900"/>
            <a:r>
              <a:rPr lang="en-US" dirty="0">
                <a:latin typeface="Arial" panose="020B0604020202020204" pitchFamily="34" charset="0"/>
                <a:cs typeface="Arial" panose="020B0604020202020204" pitchFamily="34" charset="0"/>
              </a:rPr>
              <a:t>An employee with access to sensitive information that is vulnerable to a social engineering attack</a:t>
            </a:r>
            <a:endParaRPr lang="en-US" sz="3200" b="1"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57D62644-885D-C222-B4F6-8889D730B1C2}"/>
              </a:ext>
            </a:extLst>
          </p:cNvPr>
          <p:cNvSpPr txBox="1"/>
          <p:nvPr/>
        </p:nvSpPr>
        <p:spPr>
          <a:xfrm>
            <a:off x="3127896" y="1633736"/>
            <a:ext cx="5216004" cy="400110"/>
          </a:xfrm>
          <a:prstGeom prst="rect">
            <a:avLst/>
          </a:prstGeom>
          <a:noFill/>
          <a:ln w="19050">
            <a:noFill/>
          </a:ln>
        </p:spPr>
        <p:txBody>
          <a:bodyPr wrap="square" rtlCol="0">
            <a:spAutoFit/>
          </a:bodyPr>
          <a:lstStyle/>
          <a:p>
            <a:r>
              <a:rPr lang="en-US" sz="2000" dirty="0"/>
              <a:t>For more examples, see </a:t>
            </a:r>
            <a:r>
              <a:rPr lang="en-US" sz="2000" dirty="0">
                <a:hlinkClick r:id="rId3"/>
              </a:rPr>
              <a:t>Attack Surfaces</a:t>
            </a:r>
            <a:r>
              <a:rPr lang="en-US" sz="2000" dirty="0"/>
              <a:t>.</a:t>
            </a:r>
          </a:p>
        </p:txBody>
      </p:sp>
      <p:sp>
        <p:nvSpPr>
          <p:cNvPr id="4" name="Slide Number Placeholder 3">
            <a:extLst>
              <a:ext uri="{FF2B5EF4-FFF2-40B4-BE49-F238E27FC236}">
                <a16:creationId xmlns:a16="http://schemas.microsoft.com/office/drawing/2014/main" id="{41B5FD34-E774-E740-BDAC-D56FD378AE05}"/>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35</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520041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CB30C-48C1-8A26-CEF7-CB06A6C7BE37}"/>
              </a:ext>
            </a:extLst>
          </p:cNvPr>
          <p:cNvSpPr>
            <a:spLocks noGrp="1"/>
          </p:cNvSpPr>
          <p:nvPr>
            <p:ph type="title"/>
          </p:nvPr>
        </p:nvSpPr>
        <p:spPr>
          <a:xfrm>
            <a:off x="438538" y="160924"/>
            <a:ext cx="8262550" cy="590349"/>
          </a:xfrm>
        </p:spPr>
        <p:txBody>
          <a:bodyPr wrap="square" lIns="0" tIns="18000" rIns="0" bIns="18000" anchor="ctr" anchorCtr="0">
            <a:spAutoFit/>
          </a:bodyPr>
          <a:lstStyle/>
          <a:p>
            <a:r>
              <a:rPr lang="en-US" dirty="0"/>
              <a:t>Attack Surface Categories</a:t>
            </a:r>
          </a:p>
        </p:txBody>
      </p:sp>
      <p:sp>
        <p:nvSpPr>
          <p:cNvPr id="3" name="Content Placeholder 2">
            <a:extLst>
              <a:ext uri="{FF2B5EF4-FFF2-40B4-BE49-F238E27FC236}">
                <a16:creationId xmlns:a16="http://schemas.microsoft.com/office/drawing/2014/main" id="{CC952125-B564-180A-23F6-6619E4D56154}"/>
              </a:ext>
            </a:extLst>
          </p:cNvPr>
          <p:cNvSpPr>
            <a:spLocks noGrp="1"/>
          </p:cNvSpPr>
          <p:nvPr>
            <p:ph sz="quarter" idx="13"/>
          </p:nvPr>
        </p:nvSpPr>
        <p:spPr>
          <a:xfrm>
            <a:off x="438538" y="982451"/>
            <a:ext cx="4133462" cy="4614117"/>
          </a:xfrm>
        </p:spPr>
        <p:txBody>
          <a:bodyPr wrap="square" lIns="0" tIns="18000" rIns="0" bIns="18000" anchor="ctr" anchorCtr="0">
            <a:spAutoFit/>
          </a:bodyPr>
          <a:lstStyle/>
          <a:p>
            <a:pPr marL="342900" indent="-342900"/>
            <a:r>
              <a:rPr lang="en-US" sz="2200" dirty="0">
                <a:latin typeface="Arial" panose="020B0604020202020204" pitchFamily="34" charset="0"/>
                <a:cs typeface="Arial" panose="020B0604020202020204" pitchFamily="34" charset="0"/>
              </a:rPr>
              <a:t>Network Attack Surface</a:t>
            </a:r>
          </a:p>
          <a:p>
            <a:pPr marL="829818" lvl="1" indent="-342900"/>
            <a:r>
              <a:rPr lang="en-US" sz="2200" dirty="0">
                <a:latin typeface="Arial" panose="020B0604020202020204" pitchFamily="34" charset="0"/>
                <a:cs typeface="Arial" panose="020B0604020202020204" pitchFamily="34" charset="0"/>
              </a:rPr>
              <a:t>Vulnerabilities over an enterprise network, wide-area network, or the Internet</a:t>
            </a:r>
          </a:p>
          <a:p>
            <a:pPr marL="829818" lvl="1" indent="-342900"/>
            <a:r>
              <a:rPr lang="en-US" sz="2200" dirty="0">
                <a:latin typeface="Arial" panose="020B0604020202020204" pitchFamily="34" charset="0"/>
                <a:cs typeface="Arial" panose="020B0604020202020204" pitchFamily="34" charset="0"/>
              </a:rPr>
              <a:t>Included in this category are network protocol vulnerabilities, such as those used for a denial-of-service attack, disruption of communications links, and various forms of intruder attacks</a:t>
            </a:r>
            <a:endParaRPr lang="en-US" sz="2200" b="1"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8F58B946-C72B-DA95-AB85-5F15FEA4C10E}"/>
              </a:ext>
            </a:extLst>
          </p:cNvPr>
          <p:cNvSpPr>
            <a:spLocks noGrp="1"/>
          </p:cNvSpPr>
          <p:nvPr>
            <p:ph sz="quarter" idx="14"/>
          </p:nvPr>
        </p:nvSpPr>
        <p:spPr>
          <a:xfrm>
            <a:off x="4665304" y="993880"/>
            <a:ext cx="3914484" cy="4745333"/>
          </a:xfrm>
        </p:spPr>
        <p:txBody>
          <a:bodyPr wrap="square" lIns="0" tIns="18000" rIns="0" bIns="18000" anchor="ctr" anchorCtr="0">
            <a:spAutoFit/>
          </a:bodyPr>
          <a:lstStyle/>
          <a:p>
            <a:pPr marL="342900" indent="-342900">
              <a:spcBef>
                <a:spcPts val="600"/>
              </a:spcBef>
            </a:pPr>
            <a:r>
              <a:rPr lang="en-US" sz="2200" dirty="0">
                <a:latin typeface="Arial" panose="020B0604020202020204" pitchFamily="34" charset="0"/>
                <a:cs typeface="Arial" panose="020B0604020202020204" pitchFamily="34" charset="0"/>
              </a:rPr>
              <a:t>Software Attack Surface</a:t>
            </a:r>
          </a:p>
          <a:p>
            <a:pPr marL="829818" lvl="1" indent="-342900"/>
            <a:r>
              <a:rPr lang="en-US" sz="2200" dirty="0">
                <a:latin typeface="Arial" panose="020B0604020202020204" pitchFamily="34" charset="0"/>
                <a:cs typeface="Arial" panose="020B0604020202020204" pitchFamily="34" charset="0"/>
              </a:rPr>
              <a:t>Vulnerabilities in application, utility, or operating system code</a:t>
            </a:r>
          </a:p>
          <a:p>
            <a:pPr marL="829818" lvl="1" indent="-342900"/>
            <a:r>
              <a:rPr lang="en-US" sz="2200" dirty="0">
                <a:latin typeface="Arial" panose="020B0604020202020204" pitchFamily="34" charset="0"/>
                <a:cs typeface="Arial" panose="020B0604020202020204" pitchFamily="34" charset="0"/>
              </a:rPr>
              <a:t>Particular focus is Web server software</a:t>
            </a:r>
          </a:p>
          <a:p>
            <a:pPr marL="342900" indent="-342900">
              <a:spcBef>
                <a:spcPts val="600"/>
              </a:spcBef>
            </a:pPr>
            <a:r>
              <a:rPr lang="en-US" sz="2200" dirty="0">
                <a:latin typeface="Arial" panose="020B0604020202020204" pitchFamily="34" charset="0"/>
                <a:cs typeface="Arial" panose="020B0604020202020204" pitchFamily="34" charset="0"/>
              </a:rPr>
              <a:t>Human Attack Surface</a:t>
            </a:r>
          </a:p>
          <a:p>
            <a:pPr marL="829818" lvl="1" indent="-342900"/>
            <a:r>
              <a:rPr lang="en-US" sz="2200" dirty="0">
                <a:latin typeface="Arial" panose="020B0604020202020204" pitchFamily="34" charset="0"/>
                <a:cs typeface="Arial" panose="020B0604020202020204" pitchFamily="34" charset="0"/>
              </a:rPr>
              <a:t>Vulnerabilities created by personnel or outsiders, such as social engineering, human error, and trusted insiders</a:t>
            </a:r>
          </a:p>
        </p:txBody>
      </p:sp>
      <p:sp>
        <p:nvSpPr>
          <p:cNvPr id="5" name="Slide Number Placeholder 4">
            <a:extLst>
              <a:ext uri="{FF2B5EF4-FFF2-40B4-BE49-F238E27FC236}">
                <a16:creationId xmlns:a16="http://schemas.microsoft.com/office/drawing/2014/main" id="{361FB073-94EB-AF31-990B-03CDB27924A9}"/>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36</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301060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B5CC0A-09AB-6554-B823-BF5F16A7B44B}"/>
              </a:ext>
            </a:extLst>
          </p:cNvPr>
          <p:cNvSpPr>
            <a:spLocks noGrp="1"/>
          </p:cNvSpPr>
          <p:nvPr>
            <p:ph type="title"/>
          </p:nvPr>
        </p:nvSpPr>
        <p:spPr>
          <a:xfrm>
            <a:off x="438538" y="160927"/>
            <a:ext cx="8262550" cy="590349"/>
          </a:xfrm>
        </p:spPr>
        <p:txBody>
          <a:bodyPr wrap="square" lIns="0" tIns="18000" rIns="0" bIns="18000" anchor="ctr" anchorCtr="0">
            <a:spAutoFit/>
          </a:bodyPr>
          <a:lstStyle/>
          <a:p>
            <a:r>
              <a:rPr lang="en-US" sz="3600" dirty="0"/>
              <a:t>Figure 1.4</a:t>
            </a:r>
            <a:endParaRPr lang="en-US" dirty="0"/>
          </a:p>
        </p:txBody>
      </p:sp>
      <p:sp>
        <p:nvSpPr>
          <p:cNvPr id="5" name="Content Placeholder 4">
            <a:extLst>
              <a:ext uri="{FF2B5EF4-FFF2-40B4-BE49-F238E27FC236}">
                <a16:creationId xmlns:a16="http://schemas.microsoft.com/office/drawing/2014/main" id="{C908D160-6E9C-1973-CD1D-E5BE85825442}"/>
              </a:ext>
            </a:extLst>
          </p:cNvPr>
          <p:cNvSpPr>
            <a:spLocks noGrp="1"/>
          </p:cNvSpPr>
          <p:nvPr>
            <p:ph sz="quarter" idx="13"/>
          </p:nvPr>
        </p:nvSpPr>
        <p:spPr>
          <a:xfrm>
            <a:off x="438538" y="987275"/>
            <a:ext cx="8262550" cy="405683"/>
          </a:xfrm>
        </p:spPr>
        <p:txBody>
          <a:bodyPr wrap="square" lIns="0" tIns="18000" rIns="0" bIns="18000" anchor="ctr" anchorCtr="0">
            <a:spAutoFit/>
          </a:bodyPr>
          <a:lstStyle/>
          <a:p>
            <a:pPr marL="0" indent="0">
              <a:spcBef>
                <a:spcPts val="600"/>
              </a:spcBef>
              <a:buNone/>
            </a:pPr>
            <a:r>
              <a:rPr lang="en-US" dirty="0">
                <a:latin typeface="Arial" panose="020B0604020202020204" pitchFamily="34" charset="0"/>
                <a:cs typeface="Arial" panose="020B0604020202020204" pitchFamily="34" charset="0"/>
              </a:rPr>
              <a:t>Defense in Depth and Attack Surface</a:t>
            </a:r>
            <a:endParaRPr lang="en-US" sz="3200" dirty="0">
              <a:latin typeface="Arial" panose="020B0604020202020204" pitchFamily="34" charset="0"/>
              <a:cs typeface="Arial" panose="020B0604020202020204" pitchFamily="34" charset="0"/>
            </a:endParaRPr>
          </a:p>
        </p:txBody>
      </p:sp>
      <p:pic>
        <p:nvPicPr>
          <p:cNvPr id="6" name="Picture 5" descr="The figure illustrates a graph showing the levels of risks based on layering and attack surface.&#10;Long description is available in notes, Press F6.">
            <a:extLst>
              <a:ext uri="{FF2B5EF4-FFF2-40B4-BE49-F238E27FC236}">
                <a16:creationId xmlns:a16="http://schemas.microsoft.com/office/drawing/2014/main" id="{A5B7AC53-8754-6BA7-0B0D-60F2F3199CC1}"/>
              </a:ext>
            </a:extLst>
          </p:cNvPr>
          <p:cNvPicPr>
            <a:picLocks noChangeAspect="1"/>
          </p:cNvPicPr>
          <p:nvPr/>
        </p:nvPicPr>
        <p:blipFill>
          <a:blip r:embed="rId3"/>
          <a:stretch>
            <a:fillRect/>
          </a:stretch>
        </p:blipFill>
        <p:spPr>
          <a:xfrm>
            <a:off x="2223690" y="1606784"/>
            <a:ext cx="4696621" cy="4614815"/>
          </a:xfrm>
          <a:prstGeom prst="rect">
            <a:avLst/>
          </a:prstGeom>
        </p:spPr>
      </p:pic>
      <p:sp>
        <p:nvSpPr>
          <p:cNvPr id="2" name="Slide Number Placeholder 1">
            <a:extLst>
              <a:ext uri="{FF2B5EF4-FFF2-40B4-BE49-F238E27FC236}">
                <a16:creationId xmlns:a16="http://schemas.microsoft.com/office/drawing/2014/main" id="{733AA062-96A0-A0AE-37DD-2EA056CB2DF1}"/>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37</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5505794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B5CC0A-09AB-6554-B823-BF5F16A7B44B}"/>
              </a:ext>
            </a:extLst>
          </p:cNvPr>
          <p:cNvSpPr>
            <a:spLocks noGrp="1"/>
          </p:cNvSpPr>
          <p:nvPr>
            <p:ph type="title"/>
          </p:nvPr>
        </p:nvSpPr>
        <p:spPr>
          <a:xfrm>
            <a:off x="438538" y="160927"/>
            <a:ext cx="8262550" cy="590349"/>
          </a:xfrm>
        </p:spPr>
        <p:txBody>
          <a:bodyPr wrap="square" lIns="0" tIns="18000" rIns="0" bIns="18000" anchor="ctr" anchorCtr="0">
            <a:spAutoFit/>
          </a:bodyPr>
          <a:lstStyle/>
          <a:p>
            <a:r>
              <a:rPr lang="en-US" sz="3600" dirty="0"/>
              <a:t>Figure 1.5</a:t>
            </a:r>
            <a:endParaRPr lang="en-US" dirty="0"/>
          </a:p>
        </p:txBody>
      </p:sp>
      <p:sp>
        <p:nvSpPr>
          <p:cNvPr id="5" name="Content Placeholder 4">
            <a:extLst>
              <a:ext uri="{FF2B5EF4-FFF2-40B4-BE49-F238E27FC236}">
                <a16:creationId xmlns:a16="http://schemas.microsoft.com/office/drawing/2014/main" id="{C908D160-6E9C-1973-CD1D-E5BE85825442}"/>
              </a:ext>
            </a:extLst>
          </p:cNvPr>
          <p:cNvSpPr>
            <a:spLocks noGrp="1"/>
          </p:cNvSpPr>
          <p:nvPr>
            <p:ph sz="quarter" idx="13"/>
          </p:nvPr>
        </p:nvSpPr>
        <p:spPr>
          <a:xfrm>
            <a:off x="438538" y="987275"/>
            <a:ext cx="8262550" cy="405683"/>
          </a:xfrm>
        </p:spPr>
        <p:txBody>
          <a:bodyPr wrap="square" lIns="0" tIns="18000" rIns="0" bIns="18000" anchor="ctr" anchorCtr="0">
            <a:spAutoFit/>
          </a:bodyPr>
          <a:lstStyle/>
          <a:p>
            <a:pPr marL="0" indent="0">
              <a:spcBef>
                <a:spcPts val="600"/>
              </a:spcBef>
              <a:buNone/>
            </a:pPr>
            <a:r>
              <a:rPr lang="en-US" dirty="0">
                <a:latin typeface="Arial" panose="020B0604020202020204" pitchFamily="34" charset="0"/>
                <a:cs typeface="Arial" panose="020B0604020202020204" pitchFamily="34" charset="0"/>
              </a:rPr>
              <a:t>An Attack Tree for Internet Banking Authentication</a:t>
            </a:r>
            <a:endParaRPr lang="en-US" sz="3200" dirty="0">
              <a:latin typeface="Arial" panose="020B0604020202020204" pitchFamily="34" charset="0"/>
              <a:cs typeface="Arial" panose="020B0604020202020204" pitchFamily="34" charset="0"/>
            </a:endParaRPr>
          </a:p>
        </p:txBody>
      </p:sp>
      <p:pic>
        <p:nvPicPr>
          <p:cNvPr id="3" name="Picture 2" descr="The figure illustrates an attack tree for Internet banking authentication.&#10;Long description is available in notes, Press F6.">
            <a:extLst>
              <a:ext uri="{FF2B5EF4-FFF2-40B4-BE49-F238E27FC236}">
                <a16:creationId xmlns:a16="http://schemas.microsoft.com/office/drawing/2014/main" id="{A41DAC2D-14A8-2018-E84E-38D0A706D348}"/>
              </a:ext>
            </a:extLst>
          </p:cNvPr>
          <p:cNvPicPr>
            <a:picLocks noChangeAspect="1"/>
          </p:cNvPicPr>
          <p:nvPr/>
        </p:nvPicPr>
        <p:blipFill>
          <a:blip r:embed="rId3"/>
          <a:stretch>
            <a:fillRect/>
          </a:stretch>
        </p:blipFill>
        <p:spPr>
          <a:xfrm>
            <a:off x="1809827" y="1508429"/>
            <a:ext cx="5524347" cy="4830188"/>
          </a:xfrm>
          <a:prstGeom prst="rect">
            <a:avLst/>
          </a:prstGeom>
        </p:spPr>
      </p:pic>
      <p:sp>
        <p:nvSpPr>
          <p:cNvPr id="2" name="Slide Number Placeholder 1">
            <a:extLst>
              <a:ext uri="{FF2B5EF4-FFF2-40B4-BE49-F238E27FC236}">
                <a16:creationId xmlns:a16="http://schemas.microsoft.com/office/drawing/2014/main" id="{54FF9C87-1EB5-8F40-E259-147F13D1B84B}"/>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38</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2246751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B5CC0A-09AB-6554-B823-BF5F16A7B44B}"/>
              </a:ext>
            </a:extLst>
          </p:cNvPr>
          <p:cNvSpPr>
            <a:spLocks noGrp="1"/>
          </p:cNvSpPr>
          <p:nvPr>
            <p:ph type="title"/>
          </p:nvPr>
        </p:nvSpPr>
        <p:spPr>
          <a:xfrm>
            <a:off x="438538" y="160927"/>
            <a:ext cx="8262550" cy="590349"/>
          </a:xfrm>
        </p:spPr>
        <p:txBody>
          <a:bodyPr wrap="square" lIns="0" tIns="18000" rIns="0" bIns="18000" anchor="ctr" anchorCtr="0">
            <a:spAutoFit/>
          </a:bodyPr>
          <a:lstStyle/>
          <a:p>
            <a:r>
              <a:rPr lang="en-US" dirty="0"/>
              <a:t>Computer Security Strategy </a:t>
            </a:r>
            <a:r>
              <a:rPr lang="en-US" sz="2800" dirty="0"/>
              <a:t>(1 of 2)</a:t>
            </a:r>
            <a:endParaRPr lang="en-US" sz="4400" dirty="0"/>
          </a:p>
        </p:txBody>
      </p:sp>
      <p:sp>
        <p:nvSpPr>
          <p:cNvPr id="5" name="Content Placeholder 4">
            <a:extLst>
              <a:ext uri="{FF2B5EF4-FFF2-40B4-BE49-F238E27FC236}">
                <a16:creationId xmlns:a16="http://schemas.microsoft.com/office/drawing/2014/main" id="{C908D160-6E9C-1973-CD1D-E5BE85825442}"/>
              </a:ext>
            </a:extLst>
          </p:cNvPr>
          <p:cNvSpPr>
            <a:spLocks noGrp="1"/>
          </p:cNvSpPr>
          <p:nvPr>
            <p:ph sz="quarter" idx="13"/>
          </p:nvPr>
        </p:nvSpPr>
        <p:spPr>
          <a:xfrm>
            <a:off x="438538" y="786035"/>
            <a:ext cx="8262550" cy="5006943"/>
          </a:xfrm>
        </p:spPr>
        <p:txBody>
          <a:bodyPr wrap="square" lIns="0" tIns="18000" rIns="0" bIns="18000" anchor="ctr" anchorCtr="0">
            <a:spAutoFit/>
          </a:bodyPr>
          <a:lstStyle/>
          <a:p>
            <a:pPr marL="342900" indent="-342900">
              <a:spcBef>
                <a:spcPts val="600"/>
              </a:spcBef>
            </a:pPr>
            <a:r>
              <a:rPr lang="en-US" dirty="0">
                <a:latin typeface="Arial" panose="020B0604020202020204" pitchFamily="34" charset="0"/>
                <a:cs typeface="Arial" panose="020B0604020202020204" pitchFamily="34" charset="0"/>
              </a:rPr>
              <a:t>Security Policy</a:t>
            </a:r>
          </a:p>
          <a:p>
            <a:pPr marL="829818" lvl="1" indent="-342900"/>
            <a:r>
              <a:rPr lang="en-US" dirty="0">
                <a:latin typeface="Arial" panose="020B0604020202020204" pitchFamily="34" charset="0"/>
                <a:cs typeface="Arial" panose="020B0604020202020204" pitchFamily="34" charset="0"/>
              </a:rPr>
              <a:t>Formal statement of rules and practices that specify or regulate how a system or organization provides security services to protect sensitive and critical system resources</a:t>
            </a:r>
          </a:p>
          <a:p>
            <a:pPr marL="342900" indent="-342900">
              <a:spcBef>
                <a:spcPts val="600"/>
              </a:spcBef>
            </a:pPr>
            <a:r>
              <a:rPr lang="en-US" dirty="0">
                <a:latin typeface="Arial" panose="020B0604020202020204" pitchFamily="34" charset="0"/>
                <a:cs typeface="Arial" panose="020B0604020202020204" pitchFamily="34" charset="0"/>
              </a:rPr>
              <a:t>Security Implementation</a:t>
            </a:r>
          </a:p>
          <a:p>
            <a:pPr marL="829818" lvl="1" indent="-342900"/>
            <a:r>
              <a:rPr lang="en-US" dirty="0">
                <a:latin typeface="Arial" panose="020B0604020202020204" pitchFamily="34" charset="0"/>
                <a:cs typeface="Arial" panose="020B0604020202020204" pitchFamily="34" charset="0"/>
              </a:rPr>
              <a:t>Involves four complementary courses of action (similar to NIST Cybersecurity Framework Core Functions):</a:t>
            </a:r>
          </a:p>
          <a:p>
            <a:pPr marL="1229868" lvl="2" indent="-342900"/>
            <a:r>
              <a:rPr lang="en-US" dirty="0">
                <a:latin typeface="Arial" panose="020B0604020202020204" pitchFamily="34" charset="0"/>
                <a:cs typeface="Arial" panose="020B0604020202020204" pitchFamily="34" charset="0"/>
              </a:rPr>
              <a:t>Prevention</a:t>
            </a:r>
          </a:p>
          <a:p>
            <a:pPr marL="1229868" lvl="2" indent="-342900"/>
            <a:r>
              <a:rPr lang="en-US" dirty="0">
                <a:latin typeface="Arial" panose="020B0604020202020204" pitchFamily="34" charset="0"/>
                <a:cs typeface="Arial" panose="020B0604020202020204" pitchFamily="34" charset="0"/>
              </a:rPr>
              <a:t>Detection</a:t>
            </a:r>
          </a:p>
          <a:p>
            <a:pPr marL="1229868" lvl="2" indent="-342900"/>
            <a:r>
              <a:rPr lang="en-US" dirty="0">
                <a:latin typeface="Arial" panose="020B0604020202020204" pitchFamily="34" charset="0"/>
                <a:cs typeface="Arial" panose="020B0604020202020204" pitchFamily="34" charset="0"/>
              </a:rPr>
              <a:t>Response</a:t>
            </a:r>
          </a:p>
          <a:p>
            <a:pPr marL="1229868" lvl="2" indent="-342900"/>
            <a:r>
              <a:rPr lang="en-US" dirty="0">
                <a:latin typeface="Arial" panose="020B0604020202020204" pitchFamily="34" charset="0"/>
                <a:cs typeface="Arial" panose="020B0604020202020204" pitchFamily="34" charset="0"/>
              </a:rPr>
              <a:t>Recovery</a:t>
            </a:r>
            <a:endParaRPr lang="en-US" sz="32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C2A67AE8-8F70-53FB-E56F-9EBB05E6A3C0}"/>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39</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6192009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B5CC0A-09AB-6554-B823-BF5F16A7B44B}"/>
              </a:ext>
            </a:extLst>
          </p:cNvPr>
          <p:cNvSpPr>
            <a:spLocks noGrp="1"/>
          </p:cNvSpPr>
          <p:nvPr>
            <p:ph type="title"/>
          </p:nvPr>
        </p:nvSpPr>
        <p:spPr>
          <a:xfrm>
            <a:off x="438538" y="160927"/>
            <a:ext cx="8262550" cy="590349"/>
          </a:xfrm>
          <a:noFill/>
          <a:ln>
            <a:noFill/>
          </a:ln>
        </p:spPr>
        <p:txBody>
          <a:bodyPr wrap="square" lIns="0" tIns="18000" rIns="0" bIns="18000" anchor="ctr" anchorCtr="0">
            <a:spAutoFit/>
          </a:bodyPr>
          <a:lstStyle/>
          <a:p>
            <a:r>
              <a:rPr lang="en-US" dirty="0"/>
              <a:t>Computer Security Strategy (2 of 2)</a:t>
            </a:r>
          </a:p>
        </p:txBody>
      </p:sp>
      <p:sp>
        <p:nvSpPr>
          <p:cNvPr id="5" name="Content Placeholder 4">
            <a:extLst>
              <a:ext uri="{FF2B5EF4-FFF2-40B4-BE49-F238E27FC236}">
                <a16:creationId xmlns:a16="http://schemas.microsoft.com/office/drawing/2014/main" id="{C908D160-6E9C-1973-CD1D-E5BE85825442}"/>
              </a:ext>
            </a:extLst>
          </p:cNvPr>
          <p:cNvSpPr>
            <a:spLocks noGrp="1"/>
          </p:cNvSpPr>
          <p:nvPr>
            <p:ph sz="quarter" idx="13"/>
          </p:nvPr>
        </p:nvSpPr>
        <p:spPr>
          <a:xfrm>
            <a:off x="438538" y="964819"/>
            <a:ext cx="8262550" cy="4406779"/>
          </a:xfrm>
        </p:spPr>
        <p:txBody>
          <a:bodyPr wrap="square" lIns="0" tIns="18000" rIns="0" bIns="18000" anchor="ctr" anchorCtr="0">
            <a:spAutoFit/>
          </a:bodyPr>
          <a:lstStyle/>
          <a:p>
            <a:pPr marL="342900" indent="-342900">
              <a:spcBef>
                <a:spcPts val="600"/>
              </a:spcBef>
            </a:pPr>
            <a:r>
              <a:rPr lang="en-US" dirty="0">
                <a:latin typeface="Arial" panose="020B0604020202020204" pitchFamily="34" charset="0"/>
                <a:cs typeface="Arial" panose="020B0604020202020204" pitchFamily="34" charset="0"/>
              </a:rPr>
              <a:t>Assurance</a:t>
            </a:r>
          </a:p>
          <a:p>
            <a:pPr marL="829818" lvl="1" indent="-342900"/>
            <a:r>
              <a:rPr lang="en-US" dirty="0">
                <a:latin typeface="Arial" panose="020B0604020202020204" pitchFamily="34" charset="0"/>
                <a:cs typeface="Arial" panose="020B0604020202020204" pitchFamily="34" charset="0"/>
              </a:rPr>
              <a:t>Encompassing both system design and system implementation, assurance is an attribute of an information system that </a:t>
            </a:r>
            <a:r>
              <a:rPr lang="en-US" b="1" dirty="0">
                <a:latin typeface="Arial" panose="020B0604020202020204" pitchFamily="34" charset="0"/>
                <a:cs typeface="Arial" panose="020B0604020202020204" pitchFamily="34" charset="0"/>
              </a:rPr>
              <a:t>provides grounds for having confidence</a:t>
            </a:r>
            <a:r>
              <a:rPr lang="en-US" dirty="0">
                <a:latin typeface="Arial" panose="020B0604020202020204" pitchFamily="34" charset="0"/>
                <a:cs typeface="Arial" panose="020B0604020202020204" pitchFamily="34" charset="0"/>
              </a:rPr>
              <a:t> that the system operates such that the system’s security policy is enforced</a:t>
            </a:r>
          </a:p>
          <a:p>
            <a:pPr marL="342900" indent="-342900">
              <a:spcBef>
                <a:spcPts val="600"/>
              </a:spcBef>
            </a:pPr>
            <a:r>
              <a:rPr lang="en-US" dirty="0">
                <a:latin typeface="Arial" panose="020B0604020202020204" pitchFamily="34" charset="0"/>
                <a:cs typeface="Arial" panose="020B0604020202020204" pitchFamily="34" charset="0"/>
              </a:rPr>
              <a:t>Evaluation</a:t>
            </a:r>
          </a:p>
          <a:p>
            <a:pPr marL="829818" lvl="1" indent="-342900"/>
            <a:r>
              <a:rPr lang="en-US" dirty="0">
                <a:latin typeface="Arial" panose="020B0604020202020204" pitchFamily="34" charset="0"/>
                <a:cs typeface="Arial" panose="020B0604020202020204" pitchFamily="34" charset="0"/>
              </a:rPr>
              <a:t>Process of examining a computer product or system with respect to certain criteria</a:t>
            </a:r>
          </a:p>
          <a:p>
            <a:pPr marL="829818" lvl="1" indent="-342900"/>
            <a:r>
              <a:rPr lang="en-US" dirty="0">
                <a:latin typeface="Arial" panose="020B0604020202020204" pitchFamily="34" charset="0"/>
                <a:cs typeface="Arial" panose="020B0604020202020204" pitchFamily="34" charset="0"/>
              </a:rPr>
              <a:t>Involves testing and may also involve formal analytic or mathematical techniques</a:t>
            </a:r>
            <a:endParaRPr lang="en-US" sz="32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00990E31-51A8-8479-10E0-BC73294CFDBC}"/>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40</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9081900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Rectangle 2"/>
          <p:cNvSpPr>
            <a:spLocks noGrp="1" noChangeArrowheads="1"/>
          </p:cNvSpPr>
          <p:nvPr>
            <p:ph type="title"/>
          </p:nvPr>
        </p:nvSpPr>
        <p:spPr>
          <a:noFill/>
          <a:ln>
            <a:noFill/>
          </a:ln>
        </p:spPr>
        <p:txBody>
          <a:bodyPr wrap="square" lIns="0" tIns="18000" rIns="0" bIns="18000" anchor="ctr" anchorCtr="0">
            <a:spAutoFit/>
          </a:bodyPr>
          <a:lstStyle/>
          <a:p>
            <a:r>
              <a:rPr lang="en-US" sz="3600" dirty="0">
                <a:latin typeface="+mj-lt"/>
              </a:rPr>
              <a:t>Threat Models</a:t>
            </a:r>
          </a:p>
        </p:txBody>
      </p:sp>
      <p:sp>
        <p:nvSpPr>
          <p:cNvPr id="12294" name="Rectangle 3"/>
          <p:cNvSpPr>
            <a:spLocks noGrp="1" noChangeArrowheads="1"/>
          </p:cNvSpPr>
          <p:nvPr>
            <p:ph type="body" idx="1"/>
          </p:nvPr>
        </p:nvSpPr>
        <p:spPr/>
        <p:txBody>
          <a:bodyPr>
            <a:normAutofit lnSpcReduction="10000"/>
          </a:bodyPr>
          <a:lstStyle/>
          <a:p>
            <a:r>
              <a:rPr lang="en-US" sz="2800" dirty="0"/>
              <a:t>When designing a defense, must have a goal</a:t>
            </a:r>
          </a:p>
          <a:p>
            <a:r>
              <a:rPr lang="en-US" sz="2800" dirty="0"/>
              <a:t>Define:</a:t>
            </a:r>
          </a:p>
          <a:p>
            <a:pPr lvl="1"/>
            <a:r>
              <a:rPr lang="en-US" sz="2400" dirty="0"/>
              <a:t>Asset(s) at risk</a:t>
            </a:r>
          </a:p>
          <a:p>
            <a:pPr lvl="1"/>
            <a:r>
              <a:rPr lang="en-US" sz="2400" dirty="0"/>
              <a:t>Type of vulnerability you assume exists and are protecting against</a:t>
            </a:r>
          </a:p>
          <a:p>
            <a:pPr lvl="1"/>
            <a:r>
              <a:rPr lang="en-US" sz="2400" dirty="0"/>
              <a:t>Attacker’s capabilities/knowledge</a:t>
            </a:r>
          </a:p>
          <a:p>
            <a:r>
              <a:rPr lang="en-US" sz="2800" dirty="0"/>
              <a:t>Only then can you say how your defense prevents the attack from succeeding despite the vulnerability (or detects it, responds to it, or recovers from it)</a:t>
            </a:r>
          </a:p>
        </p:txBody>
      </p:sp>
      <p:sp>
        <p:nvSpPr>
          <p:cNvPr id="3" name="TextBox 2">
            <a:extLst>
              <a:ext uri="{FF2B5EF4-FFF2-40B4-BE49-F238E27FC236}">
                <a16:creationId xmlns:a16="http://schemas.microsoft.com/office/drawing/2014/main" id="{1AC71EC0-4BFA-89DF-F438-DFFC238E16F7}"/>
              </a:ext>
            </a:extLst>
          </p:cNvPr>
          <p:cNvSpPr txBox="1"/>
          <p:nvPr/>
        </p:nvSpPr>
        <p:spPr>
          <a:xfrm>
            <a:off x="563659" y="6180336"/>
            <a:ext cx="8016682" cy="307777"/>
          </a:xfrm>
          <a:prstGeom prst="rect">
            <a:avLst/>
          </a:prstGeom>
          <a:noFill/>
        </p:spPr>
        <p:txBody>
          <a:bodyPr wrap="none" rtlCol="0">
            <a:spAutoFit/>
          </a:bodyPr>
          <a:lstStyle/>
          <a:p>
            <a:r>
              <a:rPr lang="en-US" sz="1400" dirty="0"/>
              <a:t>Derived from: </a:t>
            </a:r>
            <a:r>
              <a:rPr lang="en-US" sz="1400" dirty="0">
                <a:hlinkClick r:id="rId2"/>
              </a:rPr>
              <a:t>https://people.duke.edu/~tkb13/courses/ece590-sec-2019fa/slides/02-overview.pdf</a:t>
            </a:r>
            <a:endParaRPr lang="en-US" sz="1400" dirty="0"/>
          </a:p>
        </p:txBody>
      </p:sp>
      <p:sp>
        <p:nvSpPr>
          <p:cNvPr id="2" name="Slide Number Placeholder 1">
            <a:extLst>
              <a:ext uri="{FF2B5EF4-FFF2-40B4-BE49-F238E27FC236}">
                <a16:creationId xmlns:a16="http://schemas.microsoft.com/office/drawing/2014/main" id="{C0455E95-D89F-CEED-7B30-C86845B3C810}"/>
              </a:ext>
            </a:extLst>
          </p:cNvPr>
          <p:cNvSpPr>
            <a:spLocks noGrp="1"/>
          </p:cNvSpPr>
          <p:nvPr>
            <p:ph type="sldNum" sz="quarter" idx="12"/>
          </p:nvPr>
        </p:nvSpPr>
        <p:spPr/>
        <p:txBody>
          <a:bodyPr/>
          <a:lstStyle/>
          <a:p>
            <a:fld id="{5F36C9FC-DA22-1F47-8722-58727A1D436E}" type="slidenum">
              <a:rPr lang="en-US" smtClean="0"/>
              <a:pPr/>
              <a:t>41</a:t>
            </a:fld>
            <a:endParaRPr lang="en-US" dirty="0"/>
          </a:p>
        </p:txBody>
      </p:sp>
    </p:spTree>
    <p:extLst>
      <p:ext uri="{BB962C8B-B14F-4D97-AF65-F5344CB8AC3E}">
        <p14:creationId xmlns:p14="http://schemas.microsoft.com/office/powerpoint/2010/main" val="29592538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Rectangle 2"/>
          <p:cNvSpPr>
            <a:spLocks noGrp="1" noChangeArrowheads="1"/>
          </p:cNvSpPr>
          <p:nvPr>
            <p:ph type="title"/>
          </p:nvPr>
        </p:nvSpPr>
        <p:spPr>
          <a:noFill/>
          <a:ln>
            <a:noFill/>
          </a:ln>
        </p:spPr>
        <p:txBody>
          <a:bodyPr wrap="square" lIns="0" tIns="18000" rIns="0" bIns="18000" anchor="ctr" anchorCtr="0">
            <a:spAutoFit/>
          </a:bodyPr>
          <a:lstStyle/>
          <a:p>
            <a:r>
              <a:rPr lang="en-US" sz="3600" dirty="0">
                <a:latin typeface="+mj-lt"/>
              </a:rPr>
              <a:t>Threat Modeling Example: HTTPS</a:t>
            </a:r>
          </a:p>
        </p:txBody>
      </p:sp>
      <p:sp>
        <p:nvSpPr>
          <p:cNvPr id="12294" name="Rectangle 3"/>
          <p:cNvSpPr>
            <a:spLocks noGrp="1" noChangeArrowheads="1"/>
          </p:cNvSpPr>
          <p:nvPr>
            <p:ph type="body" idx="1"/>
          </p:nvPr>
        </p:nvSpPr>
        <p:spPr/>
        <p:txBody>
          <a:bodyPr>
            <a:normAutofit fontScale="92500" lnSpcReduction="20000"/>
          </a:bodyPr>
          <a:lstStyle/>
          <a:p>
            <a:pPr marL="0" indent="0">
              <a:buNone/>
            </a:pPr>
            <a:r>
              <a:rPr lang="en-US" sz="2800" dirty="0"/>
              <a:t>HTTPS: Encrypted form of HTTP for secure web traffic</a:t>
            </a:r>
          </a:p>
          <a:p>
            <a:pPr marL="0" indent="0">
              <a:buNone/>
            </a:pPr>
            <a:r>
              <a:rPr lang="en-US" sz="2800" dirty="0"/>
              <a:t>	</a:t>
            </a:r>
            <a:r>
              <a:rPr lang="en-US" sz="2400" dirty="0"/>
              <a:t>Will study crypto algorithms in Chapter 2</a:t>
            </a:r>
          </a:p>
          <a:p>
            <a:pPr marL="0" indent="0">
              <a:buNone/>
            </a:pPr>
            <a:r>
              <a:rPr lang="en-US" sz="2800" dirty="0"/>
              <a:t>Threat model:</a:t>
            </a:r>
          </a:p>
          <a:p>
            <a:pPr lvl="1"/>
            <a:r>
              <a:rPr lang="en-US" sz="2400" dirty="0"/>
              <a:t>Asset(s): Private user communications, including credentials</a:t>
            </a:r>
          </a:p>
          <a:p>
            <a:pPr lvl="1"/>
            <a:r>
              <a:rPr lang="en-US" sz="2400" dirty="0"/>
              <a:t>Vulnerability: Packets may be intercepted in transit (e.g., on open Wi-Fi)</a:t>
            </a:r>
          </a:p>
          <a:p>
            <a:pPr lvl="2"/>
            <a:r>
              <a:rPr lang="en-US" sz="2400" dirty="0" err="1"/>
              <a:t>HunterSecure</a:t>
            </a:r>
            <a:r>
              <a:rPr lang="en-US" sz="2400" dirty="0"/>
              <a:t>, in contrast, is not open; credentials are required to access it </a:t>
            </a:r>
          </a:p>
          <a:p>
            <a:pPr lvl="1"/>
            <a:r>
              <a:rPr lang="en-US" sz="2400" dirty="0"/>
              <a:t>Attacker’s capabilities/knowledge: Knows when/how to intercept packets for a specific user or for the site as a whole</a:t>
            </a:r>
            <a:endParaRPr lang="en-US" sz="4000" dirty="0"/>
          </a:p>
        </p:txBody>
      </p:sp>
      <p:sp>
        <p:nvSpPr>
          <p:cNvPr id="2" name="TextBox 1">
            <a:extLst>
              <a:ext uri="{FF2B5EF4-FFF2-40B4-BE49-F238E27FC236}">
                <a16:creationId xmlns:a16="http://schemas.microsoft.com/office/drawing/2014/main" id="{C42C197C-03BB-E9E8-6D30-1FC36BC82E45}"/>
              </a:ext>
            </a:extLst>
          </p:cNvPr>
          <p:cNvSpPr txBox="1"/>
          <p:nvPr/>
        </p:nvSpPr>
        <p:spPr>
          <a:xfrm>
            <a:off x="563659" y="6180336"/>
            <a:ext cx="8016682" cy="307777"/>
          </a:xfrm>
          <a:prstGeom prst="rect">
            <a:avLst/>
          </a:prstGeom>
          <a:noFill/>
        </p:spPr>
        <p:txBody>
          <a:bodyPr wrap="none" rtlCol="0">
            <a:spAutoFit/>
          </a:bodyPr>
          <a:lstStyle/>
          <a:p>
            <a:r>
              <a:rPr lang="en-US" sz="1400" dirty="0"/>
              <a:t>Derived from: </a:t>
            </a:r>
            <a:r>
              <a:rPr lang="en-US" sz="1400" dirty="0">
                <a:hlinkClick r:id="rId2"/>
              </a:rPr>
              <a:t>https://people.duke.edu/~tkb13/courses/ece590-sec-2019fa/slides/02-overview.pdf</a:t>
            </a:r>
            <a:endParaRPr lang="en-US" sz="1400" dirty="0"/>
          </a:p>
        </p:txBody>
      </p:sp>
      <p:pic>
        <p:nvPicPr>
          <p:cNvPr id="2050" name="Picture 2">
            <a:extLst>
              <a:ext uri="{FF2B5EF4-FFF2-40B4-BE49-F238E27FC236}">
                <a16:creationId xmlns:a16="http://schemas.microsoft.com/office/drawing/2014/main" id="{78C4D6EB-4AAB-4710-F831-0ECAC4FEE4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659" y="1061023"/>
            <a:ext cx="1046517" cy="580092"/>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3E416A54-139D-BC11-8ABC-9154B9C690E1}"/>
              </a:ext>
            </a:extLst>
          </p:cNvPr>
          <p:cNvSpPr>
            <a:spLocks noGrp="1"/>
          </p:cNvSpPr>
          <p:nvPr>
            <p:ph type="sldNum" sz="quarter" idx="12"/>
          </p:nvPr>
        </p:nvSpPr>
        <p:spPr/>
        <p:txBody>
          <a:bodyPr/>
          <a:lstStyle/>
          <a:p>
            <a:fld id="{5F36C9FC-DA22-1F47-8722-58727A1D436E}" type="slidenum">
              <a:rPr lang="en-US" smtClean="0"/>
              <a:pPr/>
              <a:t>42</a:t>
            </a:fld>
            <a:endParaRPr lang="en-US" dirty="0"/>
          </a:p>
        </p:txBody>
      </p:sp>
    </p:spTree>
    <p:extLst>
      <p:ext uri="{BB962C8B-B14F-4D97-AF65-F5344CB8AC3E}">
        <p14:creationId xmlns:p14="http://schemas.microsoft.com/office/powerpoint/2010/main" val="27474306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Rectangle 2"/>
          <p:cNvSpPr>
            <a:spLocks noGrp="1" noChangeArrowheads="1"/>
          </p:cNvSpPr>
          <p:nvPr>
            <p:ph type="title"/>
          </p:nvPr>
        </p:nvSpPr>
        <p:spPr>
          <a:noFill/>
          <a:ln>
            <a:noFill/>
          </a:ln>
        </p:spPr>
        <p:txBody>
          <a:bodyPr wrap="square" lIns="0" tIns="18000" rIns="0" bIns="18000" anchor="ctr" anchorCtr="0">
            <a:spAutoFit/>
          </a:bodyPr>
          <a:lstStyle/>
          <a:p>
            <a:r>
              <a:rPr lang="en-US" sz="3600" dirty="0">
                <a:latin typeface="+mj-lt"/>
              </a:rPr>
              <a:t>Threat Modeling Example: HTTPS</a:t>
            </a:r>
          </a:p>
        </p:txBody>
      </p:sp>
      <p:sp>
        <p:nvSpPr>
          <p:cNvPr id="12294" name="Rectangle 3"/>
          <p:cNvSpPr>
            <a:spLocks noGrp="1" noChangeArrowheads="1"/>
          </p:cNvSpPr>
          <p:nvPr>
            <p:ph type="body" idx="1"/>
          </p:nvPr>
        </p:nvSpPr>
        <p:spPr/>
        <p:txBody>
          <a:bodyPr>
            <a:normAutofit fontScale="85000" lnSpcReduction="20000"/>
          </a:bodyPr>
          <a:lstStyle/>
          <a:p>
            <a:pPr marL="0" indent="0">
              <a:buNone/>
            </a:pPr>
            <a:r>
              <a:rPr lang="en-US" sz="3300" dirty="0"/>
              <a:t>HTTPS: Encrypted form of HTTP for secure web traffic</a:t>
            </a:r>
          </a:p>
          <a:p>
            <a:pPr marL="0" indent="0">
              <a:buNone/>
            </a:pPr>
            <a:r>
              <a:rPr lang="en-US" sz="3300" dirty="0"/>
              <a:t>The defense:</a:t>
            </a:r>
          </a:p>
          <a:p>
            <a:r>
              <a:rPr lang="en-US" sz="3100" dirty="0"/>
              <a:t>Our solution: Negotiate a key in open communication known only to user and server; all content is encrypted with this key</a:t>
            </a:r>
          </a:p>
          <a:p>
            <a:r>
              <a:rPr lang="en-US" sz="3100" dirty="0"/>
              <a:t>How it solves it: Even with access to the traffic, attacker cannot deduce key and therefore cannot decrypt communications. However, they do know that communication happened and roughly how much...</a:t>
            </a:r>
          </a:p>
        </p:txBody>
      </p:sp>
      <p:sp>
        <p:nvSpPr>
          <p:cNvPr id="4" name="TextBox 3">
            <a:extLst>
              <a:ext uri="{FF2B5EF4-FFF2-40B4-BE49-F238E27FC236}">
                <a16:creationId xmlns:a16="http://schemas.microsoft.com/office/drawing/2014/main" id="{8DFFFC0E-8D54-1637-78E5-0F5A81DBBEC5}"/>
              </a:ext>
            </a:extLst>
          </p:cNvPr>
          <p:cNvSpPr txBox="1"/>
          <p:nvPr/>
        </p:nvSpPr>
        <p:spPr>
          <a:xfrm>
            <a:off x="563659" y="6180336"/>
            <a:ext cx="8016682" cy="307777"/>
          </a:xfrm>
          <a:prstGeom prst="rect">
            <a:avLst/>
          </a:prstGeom>
          <a:noFill/>
        </p:spPr>
        <p:txBody>
          <a:bodyPr wrap="none" rtlCol="0">
            <a:spAutoFit/>
          </a:bodyPr>
          <a:lstStyle/>
          <a:p>
            <a:r>
              <a:rPr lang="en-US" sz="1400" dirty="0"/>
              <a:t>Derived from: </a:t>
            </a:r>
            <a:r>
              <a:rPr lang="en-US" sz="1400" dirty="0">
                <a:hlinkClick r:id="rId2"/>
              </a:rPr>
              <a:t>https://people.duke.edu/~tkb13/courses/ece590-sec-2019fa/slides/02-overview.pdf</a:t>
            </a:r>
            <a:endParaRPr lang="en-US" sz="1400" dirty="0"/>
          </a:p>
        </p:txBody>
      </p:sp>
      <p:pic>
        <p:nvPicPr>
          <p:cNvPr id="2" name="Picture 2">
            <a:extLst>
              <a:ext uri="{FF2B5EF4-FFF2-40B4-BE49-F238E27FC236}">
                <a16:creationId xmlns:a16="http://schemas.microsoft.com/office/drawing/2014/main" id="{E38A75CE-B6F1-FED3-8EB4-AD73BF2749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7140" y="2204864"/>
            <a:ext cx="1262291" cy="699697"/>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C9376224-F710-A07E-DAF8-9FB09915E1D6}"/>
              </a:ext>
            </a:extLst>
          </p:cNvPr>
          <p:cNvSpPr>
            <a:spLocks noGrp="1"/>
          </p:cNvSpPr>
          <p:nvPr>
            <p:ph type="sldNum" sz="quarter" idx="12"/>
          </p:nvPr>
        </p:nvSpPr>
        <p:spPr/>
        <p:txBody>
          <a:bodyPr/>
          <a:lstStyle/>
          <a:p>
            <a:fld id="{5F36C9FC-DA22-1F47-8722-58727A1D436E}" type="slidenum">
              <a:rPr lang="en-US" smtClean="0"/>
              <a:pPr/>
              <a:t>43</a:t>
            </a:fld>
            <a:endParaRPr lang="en-US" dirty="0"/>
          </a:p>
        </p:txBody>
      </p:sp>
    </p:spTree>
    <p:extLst>
      <p:ext uri="{BB962C8B-B14F-4D97-AF65-F5344CB8AC3E}">
        <p14:creationId xmlns:p14="http://schemas.microsoft.com/office/powerpoint/2010/main" val="5589218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Rectangle 2"/>
          <p:cNvSpPr>
            <a:spLocks noGrp="1" noChangeArrowheads="1"/>
          </p:cNvSpPr>
          <p:nvPr>
            <p:ph type="title"/>
          </p:nvPr>
        </p:nvSpPr>
        <p:spPr>
          <a:noFill/>
          <a:ln>
            <a:noFill/>
          </a:ln>
        </p:spPr>
        <p:txBody>
          <a:bodyPr wrap="square" lIns="0" tIns="18000" rIns="0" bIns="18000" anchor="ctr" anchorCtr="0">
            <a:spAutoFit/>
          </a:bodyPr>
          <a:lstStyle/>
          <a:p>
            <a:r>
              <a:rPr lang="en-US" sz="3600" dirty="0">
                <a:latin typeface="+mj-lt"/>
              </a:rPr>
              <a:t>Why Threat Models?</a:t>
            </a:r>
          </a:p>
        </p:txBody>
      </p:sp>
      <p:sp>
        <p:nvSpPr>
          <p:cNvPr id="12294" name="Rectangle 3"/>
          <p:cNvSpPr>
            <a:spLocks noGrp="1" noChangeArrowheads="1"/>
          </p:cNvSpPr>
          <p:nvPr>
            <p:ph type="body" idx="1"/>
          </p:nvPr>
        </p:nvSpPr>
        <p:spPr/>
        <p:txBody>
          <a:bodyPr>
            <a:normAutofit/>
          </a:bodyPr>
          <a:lstStyle/>
          <a:p>
            <a:r>
              <a:rPr lang="en-US" sz="2800" dirty="0"/>
              <a:t>Threat models help us move from nebulous world of “more secure” to a specific guarantee</a:t>
            </a:r>
          </a:p>
          <a:p>
            <a:r>
              <a:rPr lang="en-US" sz="2800" dirty="0"/>
              <a:t>MOST IMPORTANT: Promotes systematic thinking about what a defense can and cannot do</a:t>
            </a:r>
          </a:p>
          <a:p>
            <a:r>
              <a:rPr lang="en-US" sz="2800" dirty="0"/>
              <a:t>Lets us compare techniques in terms of cost/benefit tradeoffs</a:t>
            </a:r>
          </a:p>
          <a:p>
            <a:r>
              <a:rPr lang="en-US" sz="2800" dirty="0"/>
              <a:t>Understand what attacks are still on the table</a:t>
            </a:r>
            <a:endParaRPr lang="en-US" sz="3200" dirty="0"/>
          </a:p>
        </p:txBody>
      </p:sp>
      <p:sp>
        <p:nvSpPr>
          <p:cNvPr id="2" name="TextBox 1">
            <a:extLst>
              <a:ext uri="{FF2B5EF4-FFF2-40B4-BE49-F238E27FC236}">
                <a16:creationId xmlns:a16="http://schemas.microsoft.com/office/drawing/2014/main" id="{0BC436AF-AD0B-374A-1E40-8A76DE5EDFEF}"/>
              </a:ext>
            </a:extLst>
          </p:cNvPr>
          <p:cNvSpPr txBox="1"/>
          <p:nvPr/>
        </p:nvSpPr>
        <p:spPr>
          <a:xfrm>
            <a:off x="563659" y="6180336"/>
            <a:ext cx="8016682" cy="307777"/>
          </a:xfrm>
          <a:prstGeom prst="rect">
            <a:avLst/>
          </a:prstGeom>
          <a:noFill/>
        </p:spPr>
        <p:txBody>
          <a:bodyPr wrap="none" rtlCol="0">
            <a:spAutoFit/>
          </a:bodyPr>
          <a:lstStyle/>
          <a:p>
            <a:r>
              <a:rPr lang="en-US" sz="1400" dirty="0"/>
              <a:t>Derived from: </a:t>
            </a:r>
            <a:r>
              <a:rPr lang="en-US" sz="1400" dirty="0">
                <a:hlinkClick r:id="rId2"/>
              </a:rPr>
              <a:t>https://people.duke.edu/~tkb13/courses/ece590-sec-2019fa/slides/02-overview.pdf</a:t>
            </a:r>
            <a:endParaRPr lang="en-US" sz="1400" dirty="0"/>
          </a:p>
        </p:txBody>
      </p:sp>
      <p:sp>
        <p:nvSpPr>
          <p:cNvPr id="3" name="Slide Number Placeholder 2">
            <a:extLst>
              <a:ext uri="{FF2B5EF4-FFF2-40B4-BE49-F238E27FC236}">
                <a16:creationId xmlns:a16="http://schemas.microsoft.com/office/drawing/2014/main" id="{69F13101-49DF-455C-C628-B90F1BEC710E}"/>
              </a:ext>
            </a:extLst>
          </p:cNvPr>
          <p:cNvSpPr>
            <a:spLocks noGrp="1"/>
          </p:cNvSpPr>
          <p:nvPr>
            <p:ph type="sldNum" sz="quarter" idx="12"/>
          </p:nvPr>
        </p:nvSpPr>
        <p:spPr/>
        <p:txBody>
          <a:bodyPr/>
          <a:lstStyle/>
          <a:p>
            <a:fld id="{5F36C9FC-DA22-1F47-8722-58727A1D436E}" type="slidenum">
              <a:rPr lang="en-US" smtClean="0"/>
              <a:pPr/>
              <a:t>44</a:t>
            </a:fld>
            <a:endParaRPr lang="en-US" dirty="0"/>
          </a:p>
        </p:txBody>
      </p:sp>
    </p:spTree>
    <p:extLst>
      <p:ext uri="{BB962C8B-B14F-4D97-AF65-F5344CB8AC3E}">
        <p14:creationId xmlns:p14="http://schemas.microsoft.com/office/powerpoint/2010/main" val="16409999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B5CC0A-09AB-6554-B823-BF5F16A7B44B}"/>
              </a:ext>
            </a:extLst>
          </p:cNvPr>
          <p:cNvSpPr>
            <a:spLocks noGrp="1"/>
          </p:cNvSpPr>
          <p:nvPr>
            <p:ph type="title"/>
          </p:nvPr>
        </p:nvSpPr>
        <p:spPr>
          <a:xfrm>
            <a:off x="438538" y="160927"/>
            <a:ext cx="8262550" cy="590349"/>
          </a:xfrm>
        </p:spPr>
        <p:txBody>
          <a:bodyPr wrap="square" lIns="0" tIns="18000" rIns="0" bIns="18000" anchor="ctr" anchorCtr="0">
            <a:spAutoFit/>
          </a:bodyPr>
          <a:lstStyle/>
          <a:p>
            <a:r>
              <a:rPr lang="en-US" dirty="0"/>
              <a:t>Standards </a:t>
            </a:r>
            <a:r>
              <a:rPr lang="en-US" sz="2800" dirty="0"/>
              <a:t>(1 of 2)</a:t>
            </a:r>
            <a:endParaRPr lang="en-US" sz="4400" dirty="0"/>
          </a:p>
        </p:txBody>
      </p:sp>
      <p:sp>
        <p:nvSpPr>
          <p:cNvPr id="5" name="Content Placeholder 4">
            <a:extLst>
              <a:ext uri="{FF2B5EF4-FFF2-40B4-BE49-F238E27FC236}">
                <a16:creationId xmlns:a16="http://schemas.microsoft.com/office/drawing/2014/main" id="{C908D160-6E9C-1973-CD1D-E5BE85825442}"/>
              </a:ext>
            </a:extLst>
          </p:cNvPr>
          <p:cNvSpPr>
            <a:spLocks noGrp="1"/>
          </p:cNvSpPr>
          <p:nvPr>
            <p:ph sz="quarter" idx="13"/>
          </p:nvPr>
        </p:nvSpPr>
        <p:spPr>
          <a:xfrm>
            <a:off x="438538" y="830080"/>
            <a:ext cx="8262550" cy="4806888"/>
          </a:xfrm>
        </p:spPr>
        <p:txBody>
          <a:bodyPr wrap="square" lIns="0" tIns="18000" rIns="0" bIns="18000" anchor="ctr" anchorCtr="0">
            <a:spAutoFit/>
          </a:bodyPr>
          <a:lstStyle/>
          <a:p>
            <a:pPr marL="342900" indent="-342900">
              <a:spcBef>
                <a:spcPts val="600"/>
              </a:spcBef>
            </a:pPr>
            <a:r>
              <a:rPr lang="en-US" sz="2000" dirty="0">
                <a:latin typeface="Arial" panose="020B0604020202020204" pitchFamily="34" charset="0"/>
                <a:cs typeface="Arial" panose="020B0604020202020204" pitchFamily="34" charset="0"/>
              </a:rPr>
              <a:t>Standards have been developed to cover management practices and the overall architecture of security mechanisms and services</a:t>
            </a:r>
          </a:p>
          <a:p>
            <a:pPr marL="342900" indent="-342900">
              <a:spcBef>
                <a:spcPts val="600"/>
              </a:spcBef>
            </a:pPr>
            <a:r>
              <a:rPr lang="en-US" sz="2000" dirty="0">
                <a:latin typeface="Arial" panose="020B0604020202020204" pitchFamily="34" charset="0"/>
                <a:cs typeface="Arial" panose="020B0604020202020204" pitchFamily="34" charset="0"/>
              </a:rPr>
              <a:t>The most important of these organizations are:</a:t>
            </a:r>
          </a:p>
          <a:p>
            <a:pPr marL="829818" lvl="1" indent="-342900"/>
            <a:r>
              <a:rPr lang="en-US" sz="2000" dirty="0">
                <a:latin typeface="Arial" panose="020B0604020202020204" pitchFamily="34" charset="0"/>
                <a:cs typeface="Arial" panose="020B0604020202020204" pitchFamily="34" charset="0"/>
              </a:rPr>
              <a:t>National Institute of Standards and Technology (</a:t>
            </a:r>
            <a:r>
              <a:rPr lang="en-US" sz="2000" spc="-250" dirty="0">
                <a:latin typeface="Arial" panose="020B0604020202020204" pitchFamily="34" charset="0"/>
                <a:cs typeface="Arial" panose="020B0604020202020204" pitchFamily="34" charset="0"/>
              </a:rPr>
              <a:t>N I S </a:t>
            </a:r>
            <a:r>
              <a:rPr lang="en-US" sz="2000" dirty="0">
                <a:latin typeface="Arial" panose="020B0604020202020204" pitchFamily="34" charset="0"/>
                <a:cs typeface="Arial" panose="020B0604020202020204" pitchFamily="34" charset="0"/>
              </a:rPr>
              <a:t>T)</a:t>
            </a:r>
          </a:p>
          <a:p>
            <a:pPr marL="1229868" lvl="2" indent="-342900"/>
            <a:r>
              <a:rPr lang="en-US" sz="2000" spc="-250" dirty="0">
                <a:latin typeface="Arial" panose="020B0604020202020204" pitchFamily="34" charset="0"/>
                <a:cs typeface="Arial" panose="020B0604020202020204" pitchFamily="34" charset="0"/>
              </a:rPr>
              <a:t>N I S </a:t>
            </a:r>
            <a:r>
              <a:rPr lang="en-US" sz="2000" dirty="0">
                <a:latin typeface="Arial" panose="020B0604020202020204" pitchFamily="34" charset="0"/>
                <a:cs typeface="Arial" panose="020B0604020202020204" pitchFamily="34" charset="0"/>
              </a:rPr>
              <a:t>T is a U.S. federal agency that deals with measurement science, standards, and technology related to U.S. government use and to the promotion of U.S. private sector innovation</a:t>
            </a:r>
          </a:p>
          <a:p>
            <a:pPr marL="1687068" lvl="3" indent="-342900"/>
            <a:r>
              <a:rPr lang="en-US" sz="2000" dirty="0">
                <a:latin typeface="Arial" panose="020B0604020202020204" pitchFamily="34" charset="0"/>
                <a:cs typeface="Arial" panose="020B0604020202020204" pitchFamily="34" charset="0"/>
              </a:rPr>
              <a:t>Its pubs are highly regarded</a:t>
            </a:r>
          </a:p>
          <a:p>
            <a:pPr marL="829818" lvl="1" indent="-342900"/>
            <a:r>
              <a:rPr lang="en-US" sz="2000" dirty="0">
                <a:latin typeface="Arial" panose="020B0604020202020204" pitchFamily="34" charset="0"/>
                <a:cs typeface="Arial" panose="020B0604020202020204" pitchFamily="34" charset="0"/>
              </a:rPr>
              <a:t>Internet Society (</a:t>
            </a:r>
            <a:r>
              <a:rPr lang="en-US" sz="2000" spc="-250" dirty="0">
                <a:latin typeface="Arial" panose="020B0604020202020204" pitchFamily="34" charset="0"/>
                <a:cs typeface="Arial" panose="020B0604020202020204" pitchFamily="34" charset="0"/>
              </a:rPr>
              <a:t>I S O </a:t>
            </a:r>
            <a:r>
              <a:rPr lang="en-US" sz="2000" dirty="0">
                <a:latin typeface="Arial" panose="020B0604020202020204" pitchFamily="34" charset="0"/>
                <a:cs typeface="Arial" panose="020B0604020202020204" pitchFamily="34" charset="0"/>
              </a:rPr>
              <a:t>C)</a:t>
            </a:r>
          </a:p>
          <a:p>
            <a:pPr marL="1229868" lvl="2" indent="-342900"/>
            <a:r>
              <a:rPr lang="en-US" sz="2000" spc="-250" dirty="0">
                <a:latin typeface="Arial" panose="020B0604020202020204" pitchFamily="34" charset="0"/>
                <a:cs typeface="Arial" panose="020B0604020202020204" pitchFamily="34" charset="0"/>
              </a:rPr>
              <a:t>I S O </a:t>
            </a:r>
            <a:r>
              <a:rPr lang="en-US" sz="2000" dirty="0">
                <a:latin typeface="Arial" panose="020B0604020202020204" pitchFamily="34" charset="0"/>
                <a:cs typeface="Arial" panose="020B0604020202020204" pitchFamily="34" charset="0"/>
              </a:rPr>
              <a:t>C is a professional membership society that provides leadership in addressing issues that confront the future of the Internet and is the organization home for the groups responsible for Internet infrastructure standards</a:t>
            </a:r>
          </a:p>
        </p:txBody>
      </p:sp>
      <p:sp>
        <p:nvSpPr>
          <p:cNvPr id="2" name="Slide Number Placeholder 1">
            <a:extLst>
              <a:ext uri="{FF2B5EF4-FFF2-40B4-BE49-F238E27FC236}">
                <a16:creationId xmlns:a16="http://schemas.microsoft.com/office/drawing/2014/main" id="{6FC0F7FF-F215-E757-B2CC-D6BE221B8A42}"/>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45</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948193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B5CC0A-09AB-6554-B823-BF5F16A7B44B}"/>
              </a:ext>
            </a:extLst>
          </p:cNvPr>
          <p:cNvSpPr>
            <a:spLocks noGrp="1"/>
          </p:cNvSpPr>
          <p:nvPr>
            <p:ph type="title"/>
          </p:nvPr>
        </p:nvSpPr>
        <p:spPr>
          <a:xfrm>
            <a:off x="438538" y="160927"/>
            <a:ext cx="8262550" cy="590349"/>
          </a:xfrm>
        </p:spPr>
        <p:txBody>
          <a:bodyPr wrap="square" lIns="0" tIns="18000" rIns="0" bIns="18000" anchor="ctr" anchorCtr="0">
            <a:spAutoFit/>
          </a:bodyPr>
          <a:lstStyle/>
          <a:p>
            <a:r>
              <a:rPr lang="en-US" dirty="0"/>
              <a:t>Standards </a:t>
            </a:r>
            <a:r>
              <a:rPr lang="en-US" sz="2800" dirty="0"/>
              <a:t>(2 of 2)</a:t>
            </a:r>
            <a:endParaRPr lang="en-US" sz="4400" dirty="0"/>
          </a:p>
        </p:txBody>
      </p:sp>
      <p:sp>
        <p:nvSpPr>
          <p:cNvPr id="5" name="Content Placeholder 4">
            <a:extLst>
              <a:ext uri="{FF2B5EF4-FFF2-40B4-BE49-F238E27FC236}">
                <a16:creationId xmlns:a16="http://schemas.microsoft.com/office/drawing/2014/main" id="{C908D160-6E9C-1973-CD1D-E5BE85825442}"/>
              </a:ext>
            </a:extLst>
          </p:cNvPr>
          <p:cNvSpPr>
            <a:spLocks noGrp="1"/>
          </p:cNvSpPr>
          <p:nvPr>
            <p:ph sz="quarter" idx="13"/>
          </p:nvPr>
        </p:nvSpPr>
        <p:spPr>
          <a:xfrm>
            <a:off x="438538" y="978792"/>
            <a:ext cx="8262550" cy="3221839"/>
          </a:xfrm>
        </p:spPr>
        <p:txBody>
          <a:bodyPr wrap="square" lIns="0" tIns="18000" rIns="0" bIns="18000" anchor="ctr" anchorCtr="0">
            <a:spAutoFit/>
          </a:bodyPr>
          <a:lstStyle/>
          <a:p>
            <a:pPr marL="829818" lvl="1" indent="-342900"/>
            <a:r>
              <a:rPr lang="en-US" dirty="0">
                <a:latin typeface="Arial" panose="020B0604020202020204" pitchFamily="34" charset="0"/>
                <a:cs typeface="Arial" panose="020B0604020202020204" pitchFamily="34" charset="0"/>
              </a:rPr>
              <a:t>International Telecommunication Union (</a:t>
            </a:r>
            <a:r>
              <a:rPr lang="en-US" spc="-300" dirty="0">
                <a:latin typeface="Arial" panose="020B0604020202020204" pitchFamily="34" charset="0"/>
                <a:cs typeface="Arial" panose="020B0604020202020204" pitchFamily="34" charset="0"/>
              </a:rPr>
              <a:t>I T </a:t>
            </a:r>
            <a:r>
              <a:rPr lang="en-US" dirty="0">
                <a:latin typeface="Arial" panose="020B0604020202020204" pitchFamily="34" charset="0"/>
                <a:cs typeface="Arial" panose="020B0604020202020204" pitchFamily="34" charset="0"/>
              </a:rPr>
              <a:t>U-T)</a:t>
            </a:r>
          </a:p>
          <a:p>
            <a:pPr marL="1229868" lvl="2" indent="-342900"/>
            <a:r>
              <a:rPr lang="en-US" spc="-300" dirty="0">
                <a:latin typeface="Arial" panose="020B0604020202020204" pitchFamily="34" charset="0"/>
                <a:cs typeface="Arial" panose="020B0604020202020204" pitchFamily="34" charset="0"/>
              </a:rPr>
              <a:t>I T </a:t>
            </a:r>
            <a:r>
              <a:rPr lang="en-US" dirty="0">
                <a:latin typeface="Arial" panose="020B0604020202020204" pitchFamily="34" charset="0"/>
                <a:cs typeface="Arial" panose="020B0604020202020204" pitchFamily="34" charset="0"/>
              </a:rPr>
              <a:t>U is a United Nations agency in which governments and the private sector coordinate global telecom networks and services</a:t>
            </a:r>
          </a:p>
          <a:p>
            <a:pPr marL="829818" lvl="1" indent="-342900"/>
            <a:r>
              <a:rPr lang="en-US" dirty="0">
                <a:latin typeface="Arial" panose="020B0604020202020204" pitchFamily="34" charset="0"/>
                <a:cs typeface="Arial" panose="020B0604020202020204" pitchFamily="34" charset="0"/>
              </a:rPr>
              <a:t>International Organization for Standardization (</a:t>
            </a:r>
            <a:r>
              <a:rPr lang="en-US" spc="-300" dirty="0">
                <a:latin typeface="Arial" panose="020B0604020202020204" pitchFamily="34" charset="0"/>
                <a:cs typeface="Arial" panose="020B0604020202020204" pitchFamily="34" charset="0"/>
              </a:rPr>
              <a:t>I S </a:t>
            </a:r>
            <a:r>
              <a:rPr lang="en-US" dirty="0">
                <a:latin typeface="Arial" panose="020B0604020202020204" pitchFamily="34" charset="0"/>
                <a:cs typeface="Arial" panose="020B0604020202020204" pitchFamily="34" charset="0"/>
              </a:rPr>
              <a:t>O)</a:t>
            </a:r>
          </a:p>
          <a:p>
            <a:pPr marL="1229868" lvl="2" indent="-342900"/>
            <a:r>
              <a:rPr lang="en-US" spc="-300" dirty="0">
                <a:latin typeface="Arial" panose="020B0604020202020204" pitchFamily="34" charset="0"/>
                <a:cs typeface="Arial" panose="020B0604020202020204" pitchFamily="34" charset="0"/>
              </a:rPr>
              <a:t>I S </a:t>
            </a:r>
            <a:r>
              <a:rPr lang="en-US" dirty="0">
                <a:latin typeface="Arial" panose="020B0604020202020204" pitchFamily="34" charset="0"/>
                <a:cs typeface="Arial" panose="020B0604020202020204" pitchFamily="34" charset="0"/>
              </a:rPr>
              <a:t>O is a nongovernmental organization whose work results in international agreements that are published as International Standards</a:t>
            </a:r>
          </a:p>
        </p:txBody>
      </p:sp>
      <p:sp>
        <p:nvSpPr>
          <p:cNvPr id="2" name="Slide Number Placeholder 1">
            <a:extLst>
              <a:ext uri="{FF2B5EF4-FFF2-40B4-BE49-F238E27FC236}">
                <a16:creationId xmlns:a16="http://schemas.microsoft.com/office/drawing/2014/main" id="{DE3F540A-2B1C-EC54-5EBB-5A15D3C0EB6F}"/>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46</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189752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CB30C-48C1-8A26-CEF7-CB06A6C7BE37}"/>
              </a:ext>
            </a:extLst>
          </p:cNvPr>
          <p:cNvSpPr>
            <a:spLocks noGrp="1"/>
          </p:cNvSpPr>
          <p:nvPr>
            <p:ph type="title"/>
          </p:nvPr>
        </p:nvSpPr>
        <p:spPr>
          <a:xfrm>
            <a:off x="438538" y="160924"/>
            <a:ext cx="8262550" cy="590349"/>
          </a:xfrm>
        </p:spPr>
        <p:txBody>
          <a:bodyPr wrap="square" lIns="0" tIns="18000" rIns="0" bIns="18000" anchor="ctr" anchorCtr="0">
            <a:spAutoFit/>
          </a:bodyPr>
          <a:lstStyle/>
          <a:p>
            <a:r>
              <a:rPr lang="en-US" dirty="0"/>
              <a:t>Summary</a:t>
            </a:r>
          </a:p>
        </p:txBody>
      </p:sp>
      <p:sp>
        <p:nvSpPr>
          <p:cNvPr id="3" name="Content Placeholder 2">
            <a:extLst>
              <a:ext uri="{FF2B5EF4-FFF2-40B4-BE49-F238E27FC236}">
                <a16:creationId xmlns:a16="http://schemas.microsoft.com/office/drawing/2014/main" id="{CC952125-B564-180A-23F6-6619E4D56154}"/>
              </a:ext>
            </a:extLst>
          </p:cNvPr>
          <p:cNvSpPr>
            <a:spLocks noGrp="1"/>
          </p:cNvSpPr>
          <p:nvPr>
            <p:ph sz="quarter" idx="13"/>
          </p:nvPr>
        </p:nvSpPr>
        <p:spPr>
          <a:xfrm>
            <a:off x="438538" y="1000196"/>
            <a:ext cx="4133462" cy="4037447"/>
          </a:xfrm>
        </p:spPr>
        <p:txBody>
          <a:bodyPr wrap="square" lIns="0" tIns="18000" rIns="0" bIns="18000" anchor="ctr" anchorCtr="0">
            <a:spAutoFit/>
          </a:bodyPr>
          <a:lstStyle/>
          <a:p>
            <a:pPr marL="342900" indent="-342900">
              <a:spcBef>
                <a:spcPts val="600"/>
              </a:spcBef>
            </a:pPr>
            <a:r>
              <a:rPr lang="en-US" sz="2200" dirty="0">
                <a:latin typeface="Arial" panose="020B0604020202020204" pitchFamily="34" charset="0"/>
                <a:cs typeface="Arial" panose="020B0604020202020204" pitchFamily="34" charset="0"/>
              </a:rPr>
              <a:t>Computer security concepts</a:t>
            </a:r>
          </a:p>
          <a:p>
            <a:pPr marL="829818" lvl="1" indent="-342900"/>
            <a:r>
              <a:rPr lang="en-US" sz="2200" dirty="0">
                <a:latin typeface="Arial" panose="020B0604020202020204" pitchFamily="34" charset="0"/>
                <a:cs typeface="Arial" panose="020B0604020202020204" pitchFamily="34" charset="0"/>
              </a:rPr>
              <a:t>Definition</a:t>
            </a:r>
          </a:p>
          <a:p>
            <a:pPr marL="829818" lvl="1" indent="-342900"/>
            <a:r>
              <a:rPr lang="en-US" sz="2200" dirty="0">
                <a:latin typeface="Arial" panose="020B0604020202020204" pitchFamily="34" charset="0"/>
                <a:cs typeface="Arial" panose="020B0604020202020204" pitchFamily="34" charset="0"/>
              </a:rPr>
              <a:t>Challenges</a:t>
            </a:r>
          </a:p>
          <a:p>
            <a:pPr marL="829818" lvl="1" indent="-342900"/>
            <a:r>
              <a:rPr lang="en-US" sz="2200" dirty="0">
                <a:latin typeface="Arial" panose="020B0604020202020204" pitchFamily="34" charset="0"/>
                <a:cs typeface="Arial" panose="020B0604020202020204" pitchFamily="34" charset="0"/>
              </a:rPr>
              <a:t>Model</a:t>
            </a:r>
          </a:p>
          <a:p>
            <a:pPr marL="342900" indent="-342900">
              <a:spcBef>
                <a:spcPts val="600"/>
              </a:spcBef>
            </a:pPr>
            <a:r>
              <a:rPr lang="en-US" sz="2200" dirty="0">
                <a:latin typeface="Arial" panose="020B0604020202020204" pitchFamily="34" charset="0"/>
                <a:cs typeface="Arial" panose="020B0604020202020204" pitchFamily="34" charset="0"/>
              </a:rPr>
              <a:t>Threats, attacks, and assets</a:t>
            </a:r>
          </a:p>
          <a:p>
            <a:pPr marL="829818" lvl="1" indent="-342900"/>
            <a:r>
              <a:rPr lang="en-US" sz="2200" dirty="0">
                <a:latin typeface="Arial" panose="020B0604020202020204" pitchFamily="34" charset="0"/>
                <a:cs typeface="Arial" panose="020B0604020202020204" pitchFamily="34" charset="0"/>
              </a:rPr>
              <a:t>Threats and attacks</a:t>
            </a:r>
          </a:p>
          <a:p>
            <a:pPr marL="829818" lvl="1" indent="-342900"/>
            <a:r>
              <a:rPr lang="en-US" sz="2200" dirty="0">
                <a:latin typeface="Arial" panose="020B0604020202020204" pitchFamily="34" charset="0"/>
                <a:cs typeface="Arial" panose="020B0604020202020204" pitchFamily="34" charset="0"/>
              </a:rPr>
              <a:t>Threats and assets</a:t>
            </a:r>
          </a:p>
          <a:p>
            <a:pPr marL="342900" indent="-342900">
              <a:spcBef>
                <a:spcPts val="600"/>
              </a:spcBef>
            </a:pPr>
            <a:r>
              <a:rPr lang="en-US" sz="2200" dirty="0">
                <a:latin typeface="Arial" panose="020B0604020202020204" pitchFamily="34" charset="0"/>
                <a:cs typeface="Arial" panose="020B0604020202020204" pitchFamily="34" charset="0"/>
              </a:rPr>
              <a:t>Security functional requirements</a:t>
            </a:r>
          </a:p>
          <a:p>
            <a:pPr marL="342900" indent="-342900">
              <a:spcBef>
                <a:spcPts val="600"/>
              </a:spcBef>
            </a:pPr>
            <a:r>
              <a:rPr lang="en-US" sz="2200" dirty="0">
                <a:latin typeface="Arial" panose="020B0604020202020204" pitchFamily="34" charset="0"/>
                <a:cs typeface="Arial" panose="020B0604020202020204" pitchFamily="34" charset="0"/>
              </a:rPr>
              <a:t>Standards</a:t>
            </a:r>
            <a:endParaRPr lang="en-US" sz="2200" b="1"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8F58B946-C72B-DA95-AB85-5F15FEA4C10E}"/>
              </a:ext>
            </a:extLst>
          </p:cNvPr>
          <p:cNvSpPr>
            <a:spLocks noGrp="1"/>
          </p:cNvSpPr>
          <p:nvPr>
            <p:ph sz="quarter" idx="14"/>
          </p:nvPr>
        </p:nvSpPr>
        <p:spPr>
          <a:xfrm>
            <a:off x="4665304" y="993083"/>
            <a:ext cx="3914484" cy="4299057"/>
          </a:xfrm>
        </p:spPr>
        <p:txBody>
          <a:bodyPr wrap="square" lIns="0" tIns="18000" rIns="0" bIns="18000" anchor="ctr" anchorCtr="0">
            <a:spAutoFit/>
          </a:bodyPr>
          <a:lstStyle/>
          <a:p>
            <a:pPr marL="342900" indent="-342900">
              <a:spcBef>
                <a:spcPts val="600"/>
              </a:spcBef>
            </a:pPr>
            <a:r>
              <a:rPr lang="en-US" sz="2200" dirty="0">
                <a:latin typeface="Arial" panose="020B0604020202020204" pitchFamily="34" charset="0"/>
                <a:cs typeface="Arial" panose="020B0604020202020204" pitchFamily="34" charset="0"/>
              </a:rPr>
              <a:t>Fundamental security design principles</a:t>
            </a:r>
          </a:p>
          <a:p>
            <a:pPr marL="342900" indent="-342900">
              <a:spcBef>
                <a:spcPts val="600"/>
              </a:spcBef>
            </a:pPr>
            <a:r>
              <a:rPr lang="en-US" sz="2200" dirty="0">
                <a:latin typeface="Arial" panose="020B0604020202020204" pitchFamily="34" charset="0"/>
                <a:cs typeface="Arial" panose="020B0604020202020204" pitchFamily="34" charset="0"/>
              </a:rPr>
              <a:t>Attack surfaces and attack trees</a:t>
            </a:r>
          </a:p>
          <a:p>
            <a:pPr marL="829818" lvl="1" indent="-342900"/>
            <a:r>
              <a:rPr lang="en-US" sz="2200" dirty="0">
                <a:latin typeface="Arial" panose="020B0604020202020204" pitchFamily="34" charset="0"/>
                <a:cs typeface="Arial" panose="020B0604020202020204" pitchFamily="34" charset="0"/>
              </a:rPr>
              <a:t>Attack surfaces</a:t>
            </a:r>
          </a:p>
          <a:p>
            <a:pPr marL="829818" lvl="1" indent="-342900"/>
            <a:r>
              <a:rPr lang="en-US" sz="2200" dirty="0">
                <a:latin typeface="Arial" panose="020B0604020202020204" pitchFamily="34" charset="0"/>
                <a:cs typeface="Arial" panose="020B0604020202020204" pitchFamily="34" charset="0"/>
              </a:rPr>
              <a:t>Attack trees</a:t>
            </a:r>
          </a:p>
          <a:p>
            <a:pPr marL="342900" indent="-342900">
              <a:spcBef>
                <a:spcPts val="600"/>
              </a:spcBef>
            </a:pPr>
            <a:r>
              <a:rPr lang="en-US" sz="2200" dirty="0">
                <a:latin typeface="Arial" panose="020B0604020202020204" pitchFamily="34" charset="0"/>
                <a:cs typeface="Arial" panose="020B0604020202020204" pitchFamily="34" charset="0"/>
              </a:rPr>
              <a:t>Computer security strategy</a:t>
            </a:r>
          </a:p>
          <a:p>
            <a:pPr marL="829818" lvl="1" indent="-342900"/>
            <a:r>
              <a:rPr lang="en-US" sz="2200" dirty="0">
                <a:latin typeface="Arial" panose="020B0604020202020204" pitchFamily="34" charset="0"/>
                <a:cs typeface="Arial" panose="020B0604020202020204" pitchFamily="34" charset="0"/>
              </a:rPr>
              <a:t>Security policy</a:t>
            </a:r>
          </a:p>
          <a:p>
            <a:pPr marL="829818" lvl="1" indent="-342900"/>
            <a:r>
              <a:rPr lang="en-US" sz="2200" dirty="0">
                <a:latin typeface="Arial" panose="020B0604020202020204" pitchFamily="34" charset="0"/>
                <a:cs typeface="Arial" panose="020B0604020202020204" pitchFamily="34" charset="0"/>
              </a:rPr>
              <a:t>Security implementation</a:t>
            </a:r>
          </a:p>
          <a:p>
            <a:pPr marL="829818" lvl="1" indent="-342900"/>
            <a:r>
              <a:rPr lang="en-US" sz="2200" dirty="0">
                <a:latin typeface="Arial" panose="020B0604020202020204" pitchFamily="34" charset="0"/>
                <a:cs typeface="Arial" panose="020B0604020202020204" pitchFamily="34" charset="0"/>
              </a:rPr>
              <a:t>Assurance and evaluation</a:t>
            </a:r>
          </a:p>
        </p:txBody>
      </p:sp>
      <p:sp>
        <p:nvSpPr>
          <p:cNvPr id="5" name="Slide Number Placeholder 4">
            <a:extLst>
              <a:ext uri="{FF2B5EF4-FFF2-40B4-BE49-F238E27FC236}">
                <a16:creationId xmlns:a16="http://schemas.microsoft.com/office/drawing/2014/main" id="{540ED70A-77C3-A69B-747E-7F89EAA2C22B}"/>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47</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010798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a:xfrm>
            <a:off x="457200" y="130306"/>
            <a:ext cx="8229600" cy="632934"/>
          </a:xfrm>
        </p:spPr>
        <p:txBody>
          <a:bodyPr lIns="0" tIns="18000" rIns="0" bIns="18000" anchor="ctr">
            <a:spAutoFit/>
          </a:bodyPr>
          <a:lstStyle/>
          <a:p>
            <a:r>
              <a:rPr lang="en-US" noProof="0"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2129"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802006"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spAutoFit/>
          </a:bodyPr>
          <a:lstStyle/>
          <a:p>
            <a:pPr marL="101600" indent="0">
              <a:buNone/>
            </a:pPr>
            <a:r>
              <a:rPr lang="en-US" b="1" noProof="0" dirty="0"/>
              <a:t>This work is protected by United States copyright laws and is</a:t>
            </a:r>
            <a:r>
              <a:rPr lang="en-US" b="1" baseline="0" noProof="0" dirty="0"/>
              <a:t> </a:t>
            </a:r>
            <a:r>
              <a:rPr lang="en-US" b="1" noProof="0"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
        <p:nvSpPr>
          <p:cNvPr id="3" name="Slide Number Placeholder 2">
            <a:extLst>
              <a:ext uri="{FF2B5EF4-FFF2-40B4-BE49-F238E27FC236}">
                <a16:creationId xmlns:a16="http://schemas.microsoft.com/office/drawing/2014/main" id="{F516834A-BDC4-4580-7E0B-9E0377BC4137}"/>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48</a:t>
            </a:fld>
            <a:endParaRPr lang="en-US" sz="900" b="0" i="0" u="none" strike="noStrike" cap="none" dirty="0">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6D90B95B22DD945BDFF45EB84A5E21C" ma:contentTypeVersion="12" ma:contentTypeDescription="Create a new document." ma:contentTypeScope="" ma:versionID="9ee3781bcb6633d132c89161492bb118">
  <xsd:schema xmlns:xsd="http://www.w3.org/2001/XMLSchema" xmlns:xs="http://www.w3.org/2001/XMLSchema" xmlns:p="http://schemas.microsoft.com/office/2006/metadata/properties" xmlns:ns2="7c1bd8dc-4e40-424f-a15f-9ffcd522197f" xmlns:ns3="6125ffc9-2c56-435e-8267-1393444907b2" targetNamespace="http://schemas.microsoft.com/office/2006/metadata/properties" ma:root="true" ma:fieldsID="d3e430f46b92204fb5a3381a429c4dbe" ns2:_="" ns3:_="">
    <xsd:import namespace="7c1bd8dc-4e40-424f-a15f-9ffcd522197f"/>
    <xsd:import namespace="6125ffc9-2c56-435e-8267-1393444907b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1bd8dc-4e40-424f-a15f-9ffcd522197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25ffc9-2c56-435e-8267-1393444907b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7c1bd8dc-4e40-424f-a15f-9ffcd522197f">
      <UserInfo>
        <DisplayName/>
        <AccountId xsi:nil="true"/>
        <AccountType/>
      </UserInfo>
    </SharedWithUsers>
    <MediaLengthInSeconds xmlns="6125ffc9-2c56-435e-8267-1393444907b2" xsi:nil="true"/>
  </documentManagement>
</p:properties>
</file>

<file path=customXml/itemProps1.xml><?xml version="1.0" encoding="utf-8"?>
<ds:datastoreItem xmlns:ds="http://schemas.openxmlformats.org/officeDocument/2006/customXml" ds:itemID="{B2B68DBA-AD15-465F-97F9-0DAB4F26CD5D}">
  <ds:schemaRefs>
    <ds:schemaRef ds:uri="http://schemas.microsoft.com/sharepoint/v3/contenttype/forms"/>
  </ds:schemaRefs>
</ds:datastoreItem>
</file>

<file path=customXml/itemProps2.xml><?xml version="1.0" encoding="utf-8"?>
<ds:datastoreItem xmlns:ds="http://schemas.openxmlformats.org/officeDocument/2006/customXml" ds:itemID="{A32BB901-D564-442B-9E99-4208A30F6C78}">
  <ds:schemaRefs>
    <ds:schemaRef ds:uri="http://schemas.microsoft.com/office/2006/metadata/contentType"/>
    <ds:schemaRef ds:uri="http://schemas.microsoft.com/office/2006/metadata/properties/metaAttributes"/>
    <ds:schemaRef ds:uri="http://www.w3.org/2000/xmlns/"/>
    <ds:schemaRef ds:uri="http://www.w3.org/2001/XMLSchema"/>
    <ds:schemaRef ds:uri="7c1bd8dc-4e40-424f-a15f-9ffcd522197f"/>
    <ds:schemaRef ds:uri="6125ffc9-2c56-435e-8267-1393444907b2"/>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C44B5A9-0FFA-411C-A08B-8877D6610490}">
  <ds:schemaRefs>
    <ds:schemaRef ds:uri="6125ffc9-2c56-435e-8267-1393444907b2"/>
    <ds:schemaRef ds:uri="http://schemas.microsoft.com/office/2006/metadata/properties"/>
    <ds:schemaRef ds:uri="http://purl.org/dc/elements/1.1/"/>
    <ds:schemaRef ds:uri="http://schemas.microsoft.com/office/infopath/2007/PartnerControls"/>
    <ds:schemaRef ds:uri="http://purl.org/dc/terms/"/>
    <ds:schemaRef ds:uri="http://www.w3.org/XML/1998/namespace"/>
    <ds:schemaRef ds:uri="http://schemas.microsoft.com/office/2006/documentManagement/types"/>
    <ds:schemaRef ds:uri="http://purl.org/dc/dcmitype/"/>
    <ds:schemaRef ds:uri="http://schemas.openxmlformats.org/package/2006/metadata/core-properties"/>
    <ds:schemaRef ds:uri="7c1bd8dc-4e40-424f-a15f-9ffcd522197f"/>
  </ds:schemaRefs>
</ds:datastoreItem>
</file>

<file path=docProps/app.xml><?xml version="1.0" encoding="utf-8"?>
<Properties xmlns="http://schemas.openxmlformats.org/officeDocument/2006/extended-properties" xmlns:vt="http://schemas.openxmlformats.org/officeDocument/2006/docPropsVTypes">
  <TotalTime>153704</TotalTime>
  <Words>14947</Words>
  <Application>Microsoft Office PowerPoint</Application>
  <PresentationFormat>On-screen Show (4:3)</PresentationFormat>
  <Paragraphs>896</Paragraphs>
  <Slides>48</Slides>
  <Notes>38</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48</vt:i4>
      </vt:variant>
    </vt:vector>
  </HeadingPairs>
  <TitlesOfParts>
    <vt:vector size="57" baseType="lpstr">
      <vt:lpstr>Arial</vt:lpstr>
      <vt:lpstr>Noto Sans Symbols</vt:lpstr>
      <vt:lpstr>Open Sans</vt:lpstr>
      <vt:lpstr>Source Sans Pro Web</vt:lpstr>
      <vt:lpstr>Times New Roman</vt:lpstr>
      <vt:lpstr>Verdana</vt:lpstr>
      <vt:lpstr>Wingdings</vt:lpstr>
      <vt:lpstr>USHE</vt:lpstr>
      <vt:lpstr>USHE_slide options</vt:lpstr>
      <vt:lpstr>Computer Security: Principles and Practice</vt:lpstr>
      <vt:lpstr>Focus</vt:lpstr>
      <vt:lpstr>Learning Objectives</vt:lpstr>
      <vt:lpstr>The N I S T Internal/Interagency Report N I S T I R 7298 (Glossary of Key Information Security Terms, July 2019) Defines the Term Computer Security as Follows:</vt:lpstr>
      <vt:lpstr>Figure 1.1</vt:lpstr>
      <vt:lpstr>Key Security Concepts</vt:lpstr>
      <vt:lpstr>Levels of Impact</vt:lpstr>
      <vt:lpstr>Computer Security Challenges (1 of 2)</vt:lpstr>
      <vt:lpstr>Computer Security Challenges (2 of 2)</vt:lpstr>
      <vt:lpstr>Computer Security Challenges</vt:lpstr>
      <vt:lpstr>Table 1.1 (1 of 3)</vt:lpstr>
      <vt:lpstr>Table 1.1 (2 of 3)</vt:lpstr>
      <vt:lpstr>Table 1.1 (3 of 3)</vt:lpstr>
      <vt:lpstr>Figure 1.2</vt:lpstr>
      <vt:lpstr>Assets of a Computer System</vt:lpstr>
      <vt:lpstr>Vulnerabilities, Threats and Attacks</vt:lpstr>
      <vt:lpstr>Countermeasures</vt:lpstr>
      <vt:lpstr>Key Framework Attributes</vt:lpstr>
      <vt:lpstr>Cybersecurity Framework</vt:lpstr>
      <vt:lpstr>Systems Development Life Cycle (SDLC) </vt:lpstr>
      <vt:lpstr>Table 1.2 (1 of 2)</vt:lpstr>
      <vt:lpstr>Table 1.2 (2 of 2)</vt:lpstr>
      <vt:lpstr>Figure 1.3</vt:lpstr>
      <vt:lpstr>Table 1.3</vt:lpstr>
      <vt:lpstr>Passive and Active Attacks</vt:lpstr>
      <vt:lpstr>Table 1.4 (1 of 7)</vt:lpstr>
      <vt:lpstr>Table 1.4 (2 of 7)</vt:lpstr>
      <vt:lpstr>Table 1.4 (3 of 7)</vt:lpstr>
      <vt:lpstr>Table 1.4 (4 of 7)</vt:lpstr>
      <vt:lpstr>Table 1.4 (5 of 7)</vt:lpstr>
      <vt:lpstr>Table 1.4 (6 of 7)</vt:lpstr>
      <vt:lpstr>Table 1.4 (7 of 7)</vt:lpstr>
      <vt:lpstr>PowerPoint Presentation</vt:lpstr>
      <vt:lpstr>Fundamental Security Design Principles</vt:lpstr>
      <vt:lpstr>Attack Surfaces</vt:lpstr>
      <vt:lpstr>Attack Surface Categories</vt:lpstr>
      <vt:lpstr>Figure 1.4</vt:lpstr>
      <vt:lpstr>Figure 1.5</vt:lpstr>
      <vt:lpstr>Computer Security Strategy (1 of 2)</vt:lpstr>
      <vt:lpstr>Computer Security Strategy (2 of 2)</vt:lpstr>
      <vt:lpstr>Threat Models</vt:lpstr>
      <vt:lpstr>Threat Modeling Example: HTTPS</vt:lpstr>
      <vt:lpstr>Threat Modeling Example: HTTPS</vt:lpstr>
      <vt:lpstr>Why Threat Models?</vt:lpstr>
      <vt:lpstr>Standards (1 of 2)</vt:lpstr>
      <vt:lpstr>Standards (2 of 2)</vt:lpstr>
      <vt:lpstr>Summary</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Security: Principles and Practice, Fifth Edition, Chapter 1</dc:title>
  <dc:subject>Engineering and Computer Science</dc:subject>
  <dc:creator>Stallings and Brown</dc:creator>
  <cp:keywords>Computer Security</cp:keywords>
  <dc:description>Additional information may be found in the Notes Pane of each slide by pressing F6.</dc:description>
  <cp:lastModifiedBy>Stan Wine</cp:lastModifiedBy>
  <cp:revision>1136</cp:revision>
  <dcterms:modified xsi:type="dcterms:W3CDTF">2026-02-03T00:54:14Z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0x01010086D90B95B22DD945BDFF45EB84A5E21C</vt:lpwstr>
  </property>
  <property fmtid="{D5CDD505-2E9C-101B-9397-08002B2CF9AE}" pid="3" name="Order">
    <vt:r8>6373000</vt:r8>
  </property>
  <property fmtid="{D5CDD505-2E9C-101B-9397-08002B2CF9AE}" pid="4" name="_ExtendedDescription">
    <vt:lpwstr/>
  </property>
  <property fmtid="{D5CDD505-2E9C-101B-9397-08002B2CF9AE}" pid="5" name="TriggerFlowInfo">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ies>
</file>